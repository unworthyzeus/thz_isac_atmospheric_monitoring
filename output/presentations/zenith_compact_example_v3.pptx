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d374df441574016" /><Relationship Type="http://schemas.openxmlformats.org/officeDocument/2006/relationships/extended-properties" Target="/docProps/app.xml" Id="Re3e47b26af834a19" /><Relationship Type="http://schemas.openxmlformats.org/officeDocument/2006/relationships/officeDocument" Target="/ppt/presentation.xml" Id="Rab6df6690ba34be0" /></Relationships>
</file>

<file path=ppt/presentation.xml><?xml version="1.0" encoding="utf-8"?>
<p:presentation xmlns:p="http://schemas.openxmlformats.org/presentationml/2006/main">
  <p:sldMasterIdLst>
    <p:sldMasterId xmlns:r="http://schemas.openxmlformats.org/officeDocument/2006/relationships" id="2147483648" r:id="Re4956de142ab4899"/>
  </p:sldMasterIdLst>
  <p:notesMasterIdLst>
    <p:notesMasterId xmlns:r="http://schemas.openxmlformats.org/officeDocument/2006/relationships" r:id="R49a7ae1555104010"/>
  </p:notesMasterIdLst>
  <p:sldIdLst>
    <p:sldId xmlns:r="http://schemas.openxmlformats.org/officeDocument/2006/relationships" id="256" r:id="R9a4187ddbc634161"/>
    <p:sldId xmlns:r="http://schemas.openxmlformats.org/officeDocument/2006/relationships" id="257" r:id="R731aefa03dc04ec1"/>
    <p:sldId xmlns:r="http://schemas.openxmlformats.org/officeDocument/2006/relationships" id="258" r:id="R33436d6c0b554b15"/>
    <p:sldId xmlns:r="http://schemas.openxmlformats.org/officeDocument/2006/relationships" id="259" r:id="R62f3039de96b4042"/>
    <p:sldId xmlns:r="http://schemas.openxmlformats.org/officeDocument/2006/relationships" id="260" r:id="Rb413eaf7155d41bb"/>
    <p:sldId xmlns:r="http://schemas.openxmlformats.org/officeDocument/2006/relationships" id="261" r:id="Rb2d89de0e1314aa3"/>
    <p:sldId xmlns:r="http://schemas.openxmlformats.org/officeDocument/2006/relationships" id="262" r:id="R9336c0910af04b76"/>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eb92dc5d8654d06" /><Relationship Type="http://schemas.openxmlformats.org/officeDocument/2006/relationships/slideMaster" Target="/ppt/slideMasters/slideMaster1.xml" Id="Re4956de142ab4899" /><Relationship Type="http://schemas.openxmlformats.org/officeDocument/2006/relationships/notesMaster" Target="/ppt/notesMasters/notesMaster1.xml" Id="R49a7ae1555104010" /><Relationship Type="http://schemas.openxmlformats.org/officeDocument/2006/relationships/presProps" Target="/ppt/presProps.xml" Id="R893587a799b94b0f" /><Relationship Type="http://schemas.openxmlformats.org/officeDocument/2006/relationships/tableStyles" Target="/ppt/tableStyles.xml" Id="R018ac760b962424d" /><Relationship Type="http://schemas.openxmlformats.org/officeDocument/2006/relationships/slide" Target="/ppt/slides/slide1.xml" Id="R9a4187ddbc634161" /><Relationship Type="http://schemas.openxmlformats.org/officeDocument/2006/relationships/slide" Target="/ppt/slides/slide2.xml" Id="R731aefa03dc04ec1" /><Relationship Type="http://schemas.openxmlformats.org/officeDocument/2006/relationships/slide" Target="/ppt/slides/slide3.xml" Id="R33436d6c0b554b15" /><Relationship Type="http://schemas.openxmlformats.org/officeDocument/2006/relationships/slide" Target="/ppt/slides/slide4.xml" Id="R62f3039de96b4042" /><Relationship Type="http://schemas.openxmlformats.org/officeDocument/2006/relationships/slide" Target="/ppt/slides/slide5.xml" Id="Rb413eaf7155d41bb" /><Relationship Type="http://schemas.openxmlformats.org/officeDocument/2006/relationships/slide" Target="/ppt/slides/slide6.xml" Id="Rb2d89de0e1314aa3" /><Relationship Type="http://schemas.openxmlformats.org/officeDocument/2006/relationships/slide" Target="/ppt/slides/slide7.xml" Id="R9336c0910af04b7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8dc97204e114c4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5f17ffc849a4fcc" /><Relationship Type="http://schemas.openxmlformats.org/officeDocument/2006/relationships/notesMaster" Target="/ppt/notesMasters/notesMaster1.xml" Id="Re4092a19530148cd" /></Relationships>
</file>

<file path=ppt/notesSlides/_rels/notesSlide2.xml.rels>&#65279;<?xml version="1.0" encoding="utf-8"?><Relationships xmlns="http://schemas.openxmlformats.org/package/2006/relationships"><Relationship Type="http://schemas.openxmlformats.org/officeDocument/2006/relationships/slide" Target="/ppt/slides/slide2.xml" Id="R3d82b44a628f41fc" /><Relationship Type="http://schemas.openxmlformats.org/officeDocument/2006/relationships/notesMaster" Target="/ppt/notesMasters/notesMaster1.xml" Id="Rbc45dcd8f5c24ecc" /></Relationships>
</file>

<file path=ppt/notesSlides/_rels/notesSlide3.xml.rels>&#65279;<?xml version="1.0" encoding="utf-8"?><Relationships xmlns="http://schemas.openxmlformats.org/package/2006/relationships"><Relationship Type="http://schemas.openxmlformats.org/officeDocument/2006/relationships/slide" Target="/ppt/slides/slide3.xml" Id="R904584733d63447b" /><Relationship Type="http://schemas.openxmlformats.org/officeDocument/2006/relationships/notesMaster" Target="/ppt/notesMasters/notesMaster1.xml" Id="R92c1d10027d447c1" /></Relationships>
</file>

<file path=ppt/notesSlides/_rels/notesSlide4.xml.rels>&#65279;<?xml version="1.0" encoding="utf-8"?><Relationships xmlns="http://schemas.openxmlformats.org/package/2006/relationships"><Relationship Type="http://schemas.openxmlformats.org/officeDocument/2006/relationships/slide" Target="/ppt/slides/slide4.xml" Id="Ree7fac30fd13426b" /><Relationship Type="http://schemas.openxmlformats.org/officeDocument/2006/relationships/notesMaster" Target="/ppt/notesMasters/notesMaster1.xml" Id="R4dea1b991c61493a" /></Relationships>
</file>

<file path=ppt/notesSlides/_rels/notesSlide5.xml.rels>&#65279;<?xml version="1.0" encoding="utf-8"?><Relationships xmlns="http://schemas.openxmlformats.org/package/2006/relationships"><Relationship Type="http://schemas.openxmlformats.org/officeDocument/2006/relationships/slide" Target="/ppt/slides/slide5.xml" Id="R15a78f86f8a64d22" /><Relationship Type="http://schemas.openxmlformats.org/officeDocument/2006/relationships/notesMaster" Target="/ppt/notesMasters/notesMaster1.xml" Id="Rea5df16222474cfa" /></Relationships>
</file>

<file path=ppt/notesSlides/_rels/notesSlide6.xml.rels>&#65279;<?xml version="1.0" encoding="utf-8"?><Relationships xmlns="http://schemas.openxmlformats.org/package/2006/relationships"><Relationship Type="http://schemas.openxmlformats.org/officeDocument/2006/relationships/slide" Target="/ppt/slides/slide6.xml" Id="R76eb6875c13d4482" /><Relationship Type="http://schemas.openxmlformats.org/officeDocument/2006/relationships/notesMaster" Target="/ppt/notesMasters/notesMaster1.xml" Id="Rbef2e09edc484c88" /></Relationships>
</file>

<file path=ppt/notesSlides/_rels/notesSlide7.xml.rels>&#65279;<?xml version="1.0" encoding="utf-8"?><Relationships xmlns="http://schemas.openxmlformats.org/package/2006/relationships"><Relationship Type="http://schemas.openxmlformats.org/officeDocument/2006/relationships/slide" Target="/ppt/slides/slide7.xml" Id="Rd5913a11e01b4239" /><Relationship Type="http://schemas.openxmlformats.org/officeDocument/2006/relationships/notesMaster" Target="/ppt/notesMasters/notesMaster1.xml" Id="R5f6442df80004d4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550 km LEO satellite directly overhead illuminates one atmospheric column. We look for extra acetonitrile (CH₃CN).</a:t>
            </a:r>
          </a:p>
          <a:p xmlns:a="http://schemas.openxmlformats.org/drawingml/2006/main">
            <a:r>
              <a:t/>
            </a:r>
          </a:p>
          <a:p xmlns:a="http://schemas.openxmlformats.org/drawingml/2006/main">
            <a:r>
              <a:t>What the receiver is looking for</a:t>
            </a:r>
          </a:p>
          <a:p xmlns:a="http://schemas.openxmlformats.org/drawingml/2006/main">
            <a:r>
              <a:t/>
            </a:r>
          </a:p>
          <a:p xmlns:a="http://schemas.openxmlformats.org/drawingml/2006/main">
            <a:r>
              <a:t>Gas molecules remove different amounts of power at different frequencies. We estimate how much the known CH₃CN absorption pattern has increased between two acquisitions.</a:t>
            </a:r>
          </a:p>
          <a:p xmlns:a="http://schemas.openxmlformats.org/drawingml/2006/main">
            <a:r>
              <a:t/>
            </a:r>
          </a:p>
          <a:p xmlns:a="http://schemas.openxmlformats.org/drawingml/2006/main">
            <a:r>
              <a:t>The reference is the baseline channel. The sample is the channel with an added gas column. Other atmospheric changes are assumed corrected or absent.</a:t>
            </a:r>
          </a:p>
          <a:p xmlns:a="http://schemas.openxmlformats.org/drawingml/2006/main">
            <a:r>
              <a:t/>
            </a:r>
          </a:p>
          <a:p xmlns:a="http://schemas.openxmlformats.org/drawingml/2006/main">
            <a:r>
              <a:t>\Delta c(z)=q\,e^{-z/(1500\,\mathrm m)}</a:t>
            </a:r>
          </a:p>
          <a:p xmlns:a="http://schemas.openxmlformats.org/drawingml/2006/main">
            <a:r>
              <a:t/>
            </a:r>
          </a:p>
          <a:p xmlns:a="http://schemas.openxmlformats.org/drawingml/2006/main">
            <a:r>
              <a:t>q is the surface equivalent increase in mass concentration (µg/m³). Fixing the 1,500 m profile shape lets one scalar describe the column. One ray cannot recover a concentration at every height.</a:t>
            </a:r>
          </a:p>
          <a:p xmlns:a="http://schemas.openxmlformats.org/drawingml/2006/main">
            <a:r>
              <a:t/>
            </a:r>
          </a:p>
          <a:p xmlns:a="http://schemas.openxmlformats.org/drawingml/2006/main">
            <a:r>
              <a:t>Worked input: q = 50.5814 µg/m³. At 1,500 m the enhancement is 18.6079 µg/m³. The receiver must estimate q without knowing that input.</a:t>
            </a:r>
          </a:p>
          <a:p xmlns:a="http://schemas.openxmlformats.org/drawingml/2006/main">
            <a:r>
              <a:t/>
            </a:r>
          </a:p>
          <a:p xmlns:a="http://schemas.openxmlformats.org/drawingml/2006/main">
            <a:r>
              <a:t>The specified link</a:t>
            </a:r>
          </a:p>
          <a:p xmlns:a="http://schemas.openxmlformats.org/drawingml/2006/main">
            <a:r>
              <a:t/>
            </a:r>
          </a:p>
          <a:p xmlns:a="http://schemas.openxmlformats.org/drawingml/2006/main">
            <a:r>
              <a:t>Setting | Value and meaning</a:t>
            </a:r>
          </a:p>
          <a:p xmlns:a="http://schemas.openxmlformats.org/drawingml/2006/main">
            <a:r>
              <a:t>Elevation | 90° at the receiver, shortest geometric path</a:t>
            </a:r>
          </a:p>
          <a:p xmlns:a="http://schemas.openxmlformats.org/drawingml/2006/main">
            <a:r>
              <a:t>Band and tones | 230–240 GHz across 1,024 tones</a:t>
            </a:r>
          </a:p>
          <a:p xmlns:a="http://schemas.openxmlformats.org/drawingml/2006/main">
            <a:r>
              <a:t>RF power | 25 dBm total average power across the band</a:t>
            </a:r>
          </a:p>
          <a:p xmlns:a="http://schemas.openxmlformats.org/drawingml/2006/main">
            <a:r>
              <a:t>Apertures | 0.10 m transmit / 1.0 m receive, efficiency 0.65</a:t>
            </a:r>
          </a:p>
          <a:p xmlns:a="http://schemas.openxmlformats.org/drawingml/2006/main">
            <a:r>
              <a:t>Receiver | 7 dB noise figure, 5 dB implementation loss</a:t>
            </a:r>
          </a:p>
          <a:p xmlns:a="http://schemas.openxmlformats.org/drawingml/2006/main">
            <a:r>
              <a:t>Acquisition | 10 s reference + 10 s sample</a:t>
            </a:r>
          </a:p>
          <a:p xmlns:a="http://schemas.openxmlformats.org/drawingml/2006/main">
            <a:r>
              <a:t/>
            </a:r>
          </a:p>
          <a:p xmlns:a="http://schemas.openxmlformats.org/drawingml/2006/main">
            <a:r>
              <a:t>LEO is a useful example for the full method. This is a single compound absorption test along one ray. Multiple rays and additional assumptions would be needed for a 3D image.</a:t>
            </a:r>
          </a:p>
          <a:p xmlns:a="http://schemas.openxmlformats.org/drawingml/2006/main">
            <a:r>
              <a:t/>
            </a:r>
          </a:p>
          <a:p xmlns:a="http://schemas.openxmlformats.org/drawingml/2006/main">
            <a:r>
              <a:t>LEO links are a useful example across the whole sensing chain. The same framework can use other link geometries. The hardware audit distinguishes a published LEO design precedent from terrestrial hardware and CW component demonstrations. None validates this combined orbital configuration. The gas enhancement is relative to a matched reference. Baseline CH3CN loss is negligible in the saved link budget. The selected input q comes from the conditional sensitivity calculation on page 6, rather than an ambient concentration measurement.</a:t>
            </a:r>
          </a:p>
          <a:p xmlns:a="http://schemas.openxmlformats.org/drawingml/2006/main">
            <a:r>
              <a:t/>
            </a:r>
          </a:p>
          <a:p xmlns:a="http://schemas.openxmlformats.org/drawingml/2006/main">
            <a:r>
              <a:t>Actual HITRAN data and ITU atmosphere models support the calculation. The gas profile, hardware and receiver observations are modeled.</a:t>
            </a:r>
          </a:p>
          <a:p xmlns:a="http://schemas.openxmlformats.org/drawingml/2006/main">
            <a:r>
              <a:t/>
            </a:r>
          </a:p>
          <a:p xmlns:a="http://schemas.openxmlformats.org/drawingml/2006/main">
            <a:r>
              <a:t>Sources</a:t>
            </a:r>
          </a:p>
          <a:p xmlns:a="http://schemas.openxmlformats.org/drawingml/2006/main">
            <a:r>
              <a:t>Hardware audit: https://github.com/unworthyzeus/THz_ISAC_atmospheric_monitoring/blob/d4a25c4/docs/54_supervisor_revision_2026_10_05.md</a:t>
            </a:r>
          </a:p>
          <a:p xmlns:a="http://schemas.openxmlformats.org/drawingml/2006/main">
            <a:r>
              <a:t>P.835: https://www.itu.int/rec/R-REC-P.835-7-202408-I/en</a:t>
            </a:r>
          </a:p>
          <a:p xmlns:a="http://schemas.openxmlformats.org/drawingml/2006/main">
            <a:r>
              <a:t>P.676: https://www.itu.int/rec/R-REC-P.676-13-202208-I</a:t>
            </a:r>
          </a:p>
          <a:p xmlns:a="http://schemas.openxmlformats.org/drawingml/2006/main">
            <a:r>
              <a:t>Numerical steps: https://github.com/unworthyzeus/THz_ISAC_atmospheric_monitoring/blob/d4a25c4/results/zenith_worked_steps/worked_steps.json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forward model adds the absorption of each altitude layer. Its inputs are a concentration profile and spectral line parameters.</a:t>
            </a:r>
          </a:p>
          <a:p xmlns:a="http://schemas.openxmlformats.org/drawingml/2006/main">
            <a:r>
              <a:t/>
            </a:r>
          </a:p>
          <a:p xmlns:a="http://schemas.openxmlformats.org/drawingml/2006/main">
            <a:r>
              <a:t>What each quantity means</a:t>
            </a:r>
          </a:p>
          <a:p xmlns:a="http://schemas.openxmlformats.org/drawingml/2006/main">
            <a:r>
              <a:t/>
            </a:r>
          </a:p>
          <a:p xmlns:a="http://schemas.openxmlformats.org/drawingml/2006/main">
            <a:r>
              <a:t>n(z) counts absorbing molecules per volume. For 1 µg/m³, n(0) = (10⁻⁶ / 41.053) Nₐ = 1.46692 × 10¹⁶ m⁻³, with Nₐ = 6.02214 × 10²³ mol⁻¹. The profile decreases with height.</a:t>
            </a:r>
          </a:p>
          <a:p xmlns:a="http://schemas.openxmlformats.org/drawingml/2006/main">
            <a:r>
              <a:t/>
            </a:r>
          </a:p>
          <a:p xmlns:a="http://schemas.openxmlformats.org/drawingml/2006/main">
            <a:r>
              <a:t>σ(f,z) is effective absorption area per molecule. Each line contributes S × V: S is its integrated strength and V its shape across frequency. Temperature changes S and V. Pressure broadens and shifts V.</a:t>
            </a:r>
          </a:p>
          <a:p xmlns:a="http://schemas.openxmlformats.org/drawingml/2006/main">
            <a:r>
              <a:t/>
            </a:r>
          </a:p>
          <a:p xmlns:a="http://schemas.openxmlformats.org/drawingml/2006/main">
            <a:r>
              <a:t>\textstyle\alpha(f,z)=n(z)\sigma(f,z),\quad\tau(f)=\int_{z_g}^{z_s}\alpha(f,z)\,\mathrm dz</a:t>
            </a:r>
          </a:p>
          <a:p xmlns:a="http://schemas.openxmlformats.org/drawingml/2006/main">
            <a:r>
              <a:t/>
            </a:r>
          </a:p>
          <a:p xmlns:a="http://schemas.openxmlformats.org/drawingml/2006/main">
            <a:r>
              <a:t>α is absorption per unit distance. Optical depth τ adds it along the ray and has no units. Power transmission is exp(−τ). At τ = 1, 36.8% survives. Height enters through n, temperature, pressure and the endpoints.</a:t>
            </a:r>
          </a:p>
          <a:p xmlns:a="http://schemas.openxmlformats.org/drawingml/2006/main">
            <a:r>
              <a:t/>
            </a:r>
          </a:p>
          <a:p xmlns:a="http://schemas.openxmlformats.org/drawingml/2006/main">
            <a:r>
              <a:t>Actual calculation at the first tone</a:t>
            </a:r>
          </a:p>
          <a:p xmlns:a="http://schemas.openxmlformats.org/drawingml/2006/main">
            <a:r>
              <a:t/>
            </a:r>
          </a:p>
          <a:p xmlns:a="http://schemas.openxmlformats.org/drawingml/2006/main">
            <a:r>
              <a:t>f₀ = 230.004883 GHz. At z = 16.8826 m, T = 288.0403 K and p = 101,122.35 Pa:</a:t>
            </a:r>
          </a:p>
          <a:p xmlns:a="http://schemas.openxmlformats.org/drawingml/2006/main">
            <a:r>
              <a:t/>
            </a:r>
          </a:p>
          <a:p xmlns:a="http://schemas.openxmlformats.org/drawingml/2006/main">
            <a:r>
              <a:t>Calculation | Numerical value</a:t>
            </a:r>
          </a:p>
          <a:p xmlns:a="http://schemas.openxmlformats.org/drawingml/2006/main">
            <a:r>
              <a:t>One transition: σ = S(T) × V | (2.845759 × 10⁻²¹) × 0.4334214 = 1.233413 × 10⁻²¹ cm²</a:t>
            </a:r>
          </a:p>
          <a:p xmlns:a="http://schemas.openxmlformats.org/drawingml/2006/main">
            <a:r>
              <a:t>All retained transitions | σ₀ = 2.642246 × 10⁻²⁰ cm²/molecule</a:t>
            </a:r>
          </a:p>
          <a:p xmlns:a="http://schemas.openxmlformats.org/drawingml/2006/main">
            <a:r>
              <a:t>Density for 1 µg/m³ | n₁(z) = 1.450501 × 10¹⁰ molecules/cm³</a:t>
            </a:r>
          </a:p>
          <a:p xmlns:a="http://schemas.openxmlformats.org/drawingml/2006/main">
            <a:r>
              <a:t>Integration weight | w = 4,283.1123 cm</a:t>
            </a:r>
          </a:p>
          <a:p xmlns:a="http://schemas.openxmlformats.org/drawingml/2006/main">
            <a:r>
              <a:t>This node: δτ = σ₀ n₁ w | δτ = 1.641537 × 10⁻⁶</a:t>
            </a:r>
          </a:p>
          <a:p xmlns:a="http://schemas.openxmlformats.org/drawingml/2006/main">
            <a:r>
              <a:t>Sum all 114 altitude nodes | τ₀,₁ = 5.545084 × 10⁻⁵ for 1 µg/m³</a:t>
            </a:r>
          </a:p>
          <a:p xmlns:a="http://schemas.openxmlformats.org/drawingml/2006/main">
            <a:r>
              <a:t/>
            </a:r>
          </a:p>
          <a:p xmlns:a="http://schemas.openxmlformats.org/drawingml/2006/main">
            <a:r>
              <a:t>97.17% of τ comes from below 5 km. Extra satellite height mainly adds free space loss.</a:t>
            </a:r>
          </a:p>
          <a:p xmlns:a="http://schemas.openxmlformats.org/drawingml/2006/main">
            <a:r>
              <a:t/>
            </a:r>
          </a:p>
          <a:p xmlns:a="http://schemas.openxmlformats.org/drawingml/2006/main">
            <a:r>
              <a:t>Cross section is an effective absorption area per molecule at one frequency, rather than its geometric size. The code converts mass concentration to molecular density using 41.053 g/mol. HITRAN line strength describes integrated absorption and the Voigt profile distributes it in wavenumber; pressure collisions and thermal motion broaden the line. Natural abundance is already included in HITRAN intensity. A real retained transition centered at 239.1379167 GHz contributes at the first tone through its broadened wing. The first quadrature node is 16.882621449 m with T=288.040263 K and p=101122.3515 Pa. The model sums 17,880 retained transitions and 114 altitude nodes to 100 km. Remaining CH3CN absorption to the satellite is negligible for the assumed exponential enhancement. The quadrature weight is an integration weight, not a measured physical slab.</a:t>
            </a:r>
          </a:p>
          <a:p xmlns:a="http://schemas.openxmlformats.org/drawingml/2006/main">
            <a:r>
              <a:t/>
            </a:r>
          </a:p>
          <a:p xmlns:a="http://schemas.openxmlformats.org/drawingml/2006/main">
            <a:r>
              <a:t>The height fractions and cross sections depend on the assumed profile, frequency and atmosphere. They are calculated values.</a:t>
            </a:r>
          </a:p>
          <a:p xmlns:a="http://schemas.openxmlformats.org/drawingml/2006/main">
            <a:r>
              <a:t/>
            </a:r>
          </a:p>
          <a:p xmlns:a="http://schemas.openxmlformats.org/drawingml/2006/main">
            <a:r>
              <a:t>Sources</a:t>
            </a:r>
          </a:p>
          <a:p xmlns:a="http://schemas.openxmlformats.org/drawingml/2006/main">
            <a:r>
              <a:t>HITRAN: https://hitran.org/docs/definitions-and-units/</a:t>
            </a:r>
          </a:p>
          <a:p xmlns:a="http://schemas.openxmlformats.org/drawingml/2006/main">
            <a:r>
              <a:t>HAPI: https://hitran.org/hapi/</a:t>
            </a:r>
          </a:p>
          <a:p xmlns:a="http://schemas.openxmlformats.org/drawingml/2006/main">
            <a:r>
              <a:t>P.835: https://www.itu.int/rec/R-REC-P.835-7-202408-I/en</a:t>
            </a:r>
          </a:p>
          <a:p xmlns:a="http://schemas.openxmlformats.org/drawingml/2006/main">
            <a:r>
              <a:t>Height contributions: https://github.com/unworthyzeus/THz_ISAC_atmospheric_monitoring/blob/d4a25c4/results/zenith_worked_steps/altitude_contributions.csv</a:t>
            </a:r>
          </a:p>
          <a:p xmlns:a="http://schemas.openxmlformats.org/drawingml/2006/main">
            <a:r>
              <a:t>Numerical steps: https://github.com/unworthyzeus/THz_ISAC_atmospheric_monitoring/blob/d4a25c4/results/zenith_worked_steps/worked_steps.json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With the profile fixed, q scales the extra optical depth. The predicted channel change follows from that accumulated absorption.</a:t>
            </a:r>
          </a:p>
          <a:p xmlns:a="http://schemas.openxmlformats.org/drawingml/2006/main">
            <a:r>
              <a:t/>
            </a:r>
          </a:p>
          <a:p xmlns:a="http://schemas.openxmlformats.org/drawingml/2006/main">
            <a:r>
              <a:t>Numerical chain at 230.004883 GHz</a:t>
            </a:r>
          </a:p>
          <a:p xmlns:a="http://schemas.openxmlformats.org/drawingml/2006/main">
            <a:r>
              <a:t/>
            </a:r>
          </a:p>
          <a:p xmlns:a="http://schemas.openxmlformats.org/drawingml/2006/main">
            <a:r>
              <a:t>Quantity | Calculation and result</a:t>
            </a:r>
          </a:p>
          <a:p xmlns:a="http://schemas.openxmlformats.org/drawingml/2006/main">
            <a:r>
              <a:t>Chosen gas enhancement | q = 50.5813966 µg/m³</a:t>
            </a:r>
          </a:p>
          <a:p xmlns:a="http://schemas.openxmlformats.org/drawingml/2006/main">
            <a:r>
              <a:t>Extra optical depth | τ₀ = q × 5.5450845 × 10⁻⁵ = 0.0028047812</a:t>
            </a:r>
          </a:p>
          <a:p xmlns:a="http://schemas.openxmlformats.org/drawingml/2006/main">
            <a:r>
              <a:t>Extra molecular loss | ΔA₀ = (10 / ln 10) τ₀ = 0.0121810098 dB</a:t>
            </a:r>
          </a:p>
          <a:p xmlns:a="http://schemas.openxmlformats.org/drawingml/2006/main">
            <a:r>
              <a:t>Sample/reference amplitude | exp(−τ₀/2) = 0.9985985923</a:t>
            </a:r>
          </a:p>
          <a:p xmlns:a="http://schemas.openxmlformats.org/drawingml/2006/main">
            <a:r>
              <a:t>Amplitude reduction | 100 × (1 − 0.9985985923) = 0.1401408%</a:t>
            </a:r>
          </a:p>
          <a:p xmlns:a="http://schemas.openxmlformats.org/drawingml/2006/main">
            <a:r>
              <a:t/>
            </a:r>
          </a:p>
          <a:p xmlns:a="http://schemas.openxmlformats.org/drawingml/2006/main">
            <a:r>
              <a:t>\Delta A_k=a_kq,\quad a_0=0.0002408199585\ \mathrm{dB}/(\mathrm{\mu g/m^3})</a:t>
            </a:r>
          </a:p>
          <a:p xmlns:a="http://schemas.openxmlformats.org/drawingml/2006/main">
            <a:r>
              <a:t/>
            </a:r>
          </a:p>
          <a:p xmlns:a="http://schemas.openxmlformats.org/drawingml/2006/main">
            <a:r>
              <a:t>aₖ means the extra loss produced by 1 µg/m³ with this profile. It varies with frequency because each tone samples a different part of the gas spectrum.</a:t>
            </a:r>
          </a:p>
          <a:p xmlns:a="http://schemas.openxmlformats.org/drawingml/2006/main">
            <a:r>
              <a:t/>
            </a:r>
          </a:p>
          <a:p xmlns:a="http://schemas.openxmlformats.org/drawingml/2006/main">
            <a:r>
              <a:t>The detector uses a pattern across frequency</a:t>
            </a:r>
          </a:p>
          <a:p xmlns:a="http://schemas.openxmlformats.org/drawingml/2006/main">
            <a:r>
              <a:t/>
            </a:r>
          </a:p>
          <a:p xmlns:a="http://schemas.openxmlformats.org/drawingml/2006/main">
            <a:r>
              <a:t>Predicted spectrum from saved data</a:t>
            </a:r>
          </a:p>
          <a:p xmlns:a="http://schemas.openxmlformats.org/drawingml/2006/main">
            <a:r>
              <a:t/>
            </a:r>
          </a:p>
          <a:p xmlns:a="http://schemas.openxmlformats.org/drawingml/2006/main">
            <a:r>
              <a:t>The power transmission is exp(−τ₀) = 0.99719915: the added gas removes 0.2801% of the power. The amplitude change is smaller because power is proportional to magnitude squared.</a:t>
            </a:r>
          </a:p>
          <a:p xmlns:a="http://schemas.openxmlformats.org/drawingml/2006/main">
            <a:r>
              <a:t/>
            </a:r>
          </a:p>
          <a:p xmlns:a="http://schemas.openxmlformats.org/drawingml/2006/main">
            <a:r>
              <a:t>Baseline oxygen/water loss at tone 0: 4.5477 dB.</a:t>
            </a:r>
          </a:p>
          <a:p xmlns:a="http://schemas.openxmlformats.org/drawingml/2006/main">
            <a:r>
              <a:t/>
            </a:r>
          </a:p>
          <a:p xmlns:a="http://schemas.openxmlformats.org/drawingml/2006/main">
            <a:r>
              <a:t>The a coefficient is computed separately for each tone by the physical forward integral. It is a response per unit concentration, not a fitted gain. The trace gas approximation holds the line shape fixed while q changes. The 4.5477 dB background attenuation at the first tone includes oxygen and water and belongs to the baseline budget. The four familiar values refer to the first tone only. The chart displays the predicted extra loss across every saved tone. Both receiver acquisitions must be corrected for known geometric and instrument differences before using their ratio.</a:t>
            </a:r>
          </a:p>
          <a:p xmlns:a="http://schemas.openxmlformats.org/drawingml/2006/main">
            <a:r>
              <a:t/>
            </a:r>
          </a:p>
          <a:p xmlns:a="http://schemas.openxmlformats.org/drawingml/2006/main">
            <a:r>
              <a:t>These are noiseless predictions for a chosen enhancement. The next page adds the modeled receiver errors.</a:t>
            </a:r>
          </a:p>
          <a:p xmlns:a="http://schemas.openxmlformats.org/drawingml/2006/main">
            <a:r>
              <a:t/>
            </a:r>
          </a:p>
          <a:p xmlns:a="http://schemas.openxmlformats.org/drawingml/2006/main">
            <a:r>
              <a:t>Sources</a:t>
            </a:r>
          </a:p>
          <a:p xmlns:a="http://schemas.openxmlformats.org/drawingml/2006/main">
            <a:r>
              <a:t>Numerical steps: https://github.com/unworthyzeus/THz_ISAC_atmospheric_monitoring/blob/d4a25c4/results/zenith_worked_steps/worked_steps.json</a:t>
            </a:r>
          </a:p>
          <a:p xmlns:a="http://schemas.openxmlformats.org/drawingml/2006/main">
            <a:r>
              <a:t>HITRAN: https://hitran.org/docs/definitions-and-units/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pilot is a transmitted complex symbol whose value the receiver already knows. It provides a reference for estimating channel gain.</a:t>
            </a:r>
          </a:p>
          <a:p xmlns:a="http://schemas.openxmlformats.org/drawingml/2006/main">
            <a:r>
              <a:t/>
            </a:r>
          </a:p>
          <a:p xmlns:a="http://schemas.openxmlformats.org/drawingml/2006/main">
            <a:r>
              <a:t>How one known symbol becomes a measurement</a:t>
            </a:r>
          </a:p>
          <a:p xmlns:a="http://schemas.openxmlformats.org/drawingml/2006/main">
            <a:r>
              <a:t/>
            </a:r>
          </a:p>
          <a:p xmlns:a="http://schemas.openxmlformats.org/drawingml/2006/main">
            <a:r>
              <a:t>X is a known unit magnitude pilot, R the received symbol, h the channel and W thermal noise. k labels the tone and m the repetition. Divide out X before averaging:</a:t>
            </a:r>
          </a:p>
          <a:p xmlns:a="http://schemas.openxmlformats.org/drawingml/2006/main">
            <a:r>
              <a:t/>
            </a:r>
          </a:p>
          <a:p xmlns:a="http://schemas.openxmlformats.org/drawingml/2006/main">
            <a:r>
              <a:t>\begin{aligned}R_{k,m}&amp;=h_kX_{k,m}+W_{k,m}\\\widehat h_k&amp;=(1/M)\textstyle\sum_{m=1}^{M}R_{k,m}/X_{k,m}\end{aligned}</a:t>
            </a:r>
          </a:p>
          <a:p xmlns:a="http://schemas.openxmlformats.org/drawingml/2006/main">
            <a:r>
              <a:t/>
            </a:r>
          </a:p>
          <a:p xmlns:a="http://schemas.openxmlformats.org/drawingml/2006/main">
            <a:r>
              <a:t>Noiseless illustration with h = 0.9985986:</a:t>
            </a:r>
          </a:p>
          <a:p xmlns:a="http://schemas.openxmlformats.org/drawingml/2006/main">
            <a:r>
              <a:t/>
            </a:r>
          </a:p>
          <a:p xmlns:a="http://schemas.openxmlformats.org/drawingml/2006/main">
            <a:r>
              <a:t>Known X | Received R | R / X</a:t>
            </a:r>
          </a:p>
          <a:p xmlns:a="http://schemas.openxmlformats.org/drawingml/2006/main">
            <a:r>
              <a:t>1 | 0.9985986 | 0.9985986</a:t>
            </a:r>
          </a:p>
          <a:p xmlns:a="http://schemas.openxmlformats.org/drawingml/2006/main">
            <a:r>
              <a:t>j | 0.9985986 j | 0.9985986</a:t>
            </a:r>
          </a:p>
          <a:p xmlns:a="http://schemas.openxmlformats.org/drawingml/2006/main">
            <a:r>
              <a:t/>
            </a:r>
          </a:p>
          <a:p xmlns:a="http://schemas.openxmlformats.org/drawingml/2006/main">
            <a:r>
              <a:t>The second pilot rotates by 90°. Dividing by j removes that known rotation. Both pilots reveal the same channel, so their corrected estimates can be averaged.</a:t>
            </a:r>
          </a:p>
          <a:p xmlns:a="http://schemas.openxmlformats.org/drawingml/2006/main">
            <a:r>
              <a:t/>
            </a:r>
          </a:p>
          <a:p xmlns:a="http://schemas.openxmlformats.org/drawingml/2006/main">
            <a:r>
              <a:t>Independent noise falls as 1/√M in standard deviation. Persistent gain drift survives averaging.</a:t>
            </a:r>
          </a:p>
          <a:p xmlns:a="http://schemas.openxmlformats.org/drawingml/2006/main">
            <a:r>
              <a:t/>
            </a:r>
          </a:p>
          <a:p xmlns:a="http://schemas.openxmlformats.org/drawingml/2006/main">
            <a:r>
              <a:t>The actual allocation and simulated observation</a:t>
            </a:r>
          </a:p>
          <a:p xmlns:a="http://schemas.openxmlformats.org/drawingml/2006/main">
            <a:r>
              <a:t/>
            </a:r>
          </a:p>
          <a:p xmlns:a="http://schemas.openxmlformats.org/drawingml/2006/main">
            <a:r>
              <a:t>Resource | Value in this example</a:t>
            </a:r>
          </a:p>
          <a:p xmlns:a="http://schemas.openxmlformats.org/drawingml/2006/main">
            <a:r>
              <a:t>One OFDM symbol | 102.4 ns useful + 10 ns CP = 112.4 ns</a:t>
            </a:r>
          </a:p>
          <a:p xmlns:a="http://schemas.openxmlformats.org/drawingml/2006/main">
            <a:r>
              <a:t>Pilot allocation | 30 full pilot symbols per 10,000 symbols (0.3%)</a:t>
            </a:r>
          </a:p>
          <a:p xmlns:a="http://schemas.openxmlformats.org/drawingml/2006/main">
            <a:r>
              <a:t>Every tone, each 10 s | 8,896 frames × 30 = M = 266,880 pilots</a:t>
            </a:r>
          </a:p>
          <a:p xmlns:a="http://schemas.openxmlformats.org/drawingml/2006/main">
            <a:r>
              <a:t>Thermal variance of ĥ₀ | 1 / (Mρ₀) = 3.89892 × 10⁻⁶</a:t>
            </a:r>
          </a:p>
          <a:p xmlns:a="http://schemas.openxmlformats.org/drawingml/2006/main">
            <a:r>
              <a:t>Pilot SNR ρ₀ = 0.961036</a:t>
            </a:r>
          </a:p>
          <a:p xmlns:a="http://schemas.openxmlformats.org/drawingml/2006/main">
            <a:r>
              <a:t/>
            </a:r>
          </a:p>
          <a:p xmlns:a="http://schemas.openxmlformats.org/drawingml/2006/main">
            <a:r>
              <a:t>After tracking and normalization, tone 0 gives reference ĥ₀ and sample ĥ₁:</a:t>
            </a:r>
          </a:p>
          <a:p xmlns:a="http://schemas.openxmlformats.org/drawingml/2006/main">
            <a:r>
              <a:t/>
            </a:r>
          </a:p>
          <a:p xmlns:a="http://schemas.openxmlformats.org/drawingml/2006/main">
            <a:r>
              <a:t>\begin{aligned}\widehat h_{0,0}&amp;=1.0009162403+j\,0.0004400251\\\widehat h_{1,0}&amp;=1.0007326946-j\,0.0009412581\end{aligned}</a:t>
            </a:r>
          </a:p>
          <a:p xmlns:a="http://schemas.openxmlformats.org/drawingml/2006/main">
            <a:r>
              <a:t/>
            </a:r>
          </a:p>
          <a:p xmlns:a="http://schemas.openxmlformats.org/drawingml/2006/main">
            <a:r>
              <a:t>-20\log_{10}(|\widehat h_{1,0}|/|\widehat h_{0,0}|)=0.0015899416\ \mathrm{dB}</a:t>
            </a:r>
          </a:p>
          <a:p xmlns:a="http://schemas.openxmlformats.org/drawingml/2006/main">
            <a:r>
              <a:t/>
            </a:r>
          </a:p>
          <a:p xmlns:a="http://schemas.openxmlformats.org/drawingml/2006/main">
            <a:r>
              <a:t>At tone k and repetition m, R_km = h_k X_km + W_km after timing, frequency and phase correction. X is a known unit magnitude pilot, R is the received complex symbol, h is the complex channel response and W is thermal noise. For equal energy pilots and independent noise, dividing by X and averaging is the least squares estimate of h. These are symbols deliberately known to the receiver, rather than decoded unknown payload. They sample the combined propagation and instrument response. They do not by themselves identify which part of a gain change came from the atmosphere. The two demonstration rows use the predicted normalized h = 0.9985985923 and no noise. They are an arithmetic illustration, not retained raw receiver samples. Multiplication by j rotates a pilot by 90 degrees. Dividing by its known j removes that rotation, leaving the same h. Averaging the raw R values without accounting for X would instead mix their phases. Timing, frequency and phase correction must also align the repetitions. With time varying LEO geometry, the saved model assumes ideal tracking and correction before the mean. This is a conditional equivalent complex noise simulation, not a measured or raw coded OFDM experiment.</a:t>
            </a:r>
          </a:p>
          <a:p xmlns:a="http://schemas.openxmlformats.org/drawingml/2006/main">
            <a:r>
              <a:t/>
            </a:r>
          </a:p>
          <a:p xmlns:a="http://schemas.openxmlformats.org/drawingml/2006/main">
            <a:r>
              <a:t>The 9.765625 MHz tone spacing gives 102.4 ns useful duration. An assumed 10 ns cyclic prefix gives 112.4 ns total. Each 10 s acquisition contains floor[10/(10000 × 112.4e−9)] = 8,896 complete frames, with 30 full pilot symbols per frame, so M = 266,880 per tone per acquisition. Each full pilot symbol supplies a known symbol on every one of the 1,024 tones. M is not divided by 1,024. The pilot overhead is 30/10000 = 0.3%. In this model the remaining symbols do not contribute to the sensing estimate. With fixed M and independent thermal noise, the variance falls as 1/M and the standard deviation as 1/sqrt(M). Doubling M reduces thermal standard deviation by sqrt(2), not by two.</a:t>
            </a:r>
          </a:p>
          <a:p xmlns:a="http://schemas.openxmlformats.org/drawingml/2006/main">
            <a:r>
              <a:t/>
            </a:r>
          </a:p>
          <a:p xmlns:a="http://schemas.openxmlformats.org/drawingml/2006/main">
            <a:r>
              <a:t>Reference per tone power is −97.59959675 dBm, noise is −97.42699177 dBm, giving rho0 = 0.9610356584. The physical noise model includes sky emission and receiver equivalent noise temperature. Noise figure is counted once. Normalized complex mean variance is 1/(M rho0) = 3.89892130e−6, with standard deviation 0.0013962309 per real or imaginary component. The two means shown are from saved seed 20261005. Their magnitudes are 1.0009163371 and 1.0007331373. Taking their ratio produces a loss of 0.0015899416 dB before the simulated calibration residual. A noisy estimate may lie above one even if the physical channel attenuates.</a:t>
            </a:r>
          </a:p>
          <a:p xmlns:a="http://schemas.openxmlformats.org/drawingml/2006/main">
            <a:r>
              <a:t/>
            </a:r>
          </a:p>
          <a:p xmlns:a="http://schemas.openxmlformats.org/drawingml/2006/main">
            <a:r>
              <a:t>Conditional example: ideal tracking, matched background, 20 s total and an assumed, unmeasured 0.001 dB calibration residual.</a:t>
            </a:r>
          </a:p>
          <a:p xmlns:a="http://schemas.openxmlformats.org/drawingml/2006/main">
            <a:r>
              <a:t/>
            </a:r>
          </a:p>
          <a:p xmlns:a="http://schemas.openxmlformats.org/drawingml/2006/main">
            <a:r>
              <a:t>Sources</a:t>
            </a:r>
          </a:p>
          <a:p xmlns:a="http://schemas.openxmlformats.org/drawingml/2006/main">
            <a:r>
              <a:t>Observations: https://github.com/unworthyzeus/THz_ISAC_atmospheric_monitoring/blob/d4a25c4/results/zenith_worked_steps/complex_receiver_steps.csv</a:t>
            </a:r>
          </a:p>
          <a:p xmlns:a="http://schemas.openxmlformats.org/drawingml/2006/main">
            <a:r>
              <a:t>Numerical steps: https://github.com/unworthyzeus/THz_ISAC_atmospheric_monitoring/blob/d4a25c4/results/zenith_worked_steps/worked_steps.json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Calibration estimates and corrects the instrument response. The error is the response change left in the reference/sample comparison.</a:t>
            </a:r>
          </a:p>
          <a:p xmlns:a="http://schemas.openxmlformats.org/drawingml/2006/main">
            <a:r>
              <a:t/>
            </a:r>
          </a:p>
          <a:p xmlns:a="http://schemas.openxmlformats.org/drawingml/2006/main">
            <a:r>
              <a:t>Two concrete examples</a:t>
            </a:r>
          </a:p>
          <a:p xmlns:a="http://schemas.openxmlformats.org/drawingml/2006/main">
            <a:r>
              <a:t/>
            </a:r>
          </a:p>
          <a:p xmlns:a="http://schemas.openxmlformats.org/drawingml/2006/main">
            <a:r>
              <a:t>1. Receiver gain drops by 0.001 dB between acquisitions. With unchanged gas, the amplitude ratio becomes 0.9998848774 and the apparent loss is +0.001 dB.</a:t>
            </a:r>
          </a:p>
          <a:p xmlns:a="http://schemas.openxmlformats.org/drawingml/2006/main">
            <a:r>
              <a:t/>
            </a:r>
          </a:p>
          <a:p xmlns:a="http://schemas.openxmlformats.org/drawingml/2006/main">
            <a:r>
              <a:t>At tone 0 alone, this would imply 0.001 / a₀ = 4.15248 µg/m³. If the error is constant across the band, our fit assigns it to gain offset b₀ instead of gas.</a:t>
            </a:r>
          </a:p>
          <a:p xmlns:a="http://schemas.openxmlformats.org/drawingml/2006/main">
            <a:r>
              <a:t/>
            </a:r>
          </a:p>
          <a:p xmlns:a="http://schemas.openxmlformats.org/drawingml/2006/main">
            <a:r>
              <a:t>2. An error eₖ = aₖ × 1 µg/m³ has exactly the gas pattern. It imitates that concentration even across all tones. Independent calibration must constrain this ambiguity.</a:t>
            </a:r>
          </a:p>
          <a:p xmlns:a="http://schemas.openxmlformats.org/drawingml/2006/main">
            <a:r>
              <a:t/>
            </a:r>
          </a:p>
          <a:p xmlns:a="http://schemas.openxmlformats.org/drawingml/2006/main">
            <a:r>
              <a:t>The residual in the saved simulation</a:t>
            </a:r>
          </a:p>
          <a:p xmlns:a="http://schemas.openxmlformats.org/drawingml/2006/main">
            <a:r>
              <a:t/>
            </a:r>
          </a:p>
          <a:p xmlns:a="http://schemas.openxmlformats.org/drawingml/2006/main">
            <a:r>
              <a:t>Random thermal noise already affects the two pilot means. A separate persistent calibration draw contributes e₀ = −0.0020537566 dB:</a:t>
            </a:r>
          </a:p>
          <a:p xmlns:a="http://schemas.openxmlformats.org/drawingml/2006/main">
            <a:r>
              <a:t/>
            </a:r>
          </a:p>
          <a:p xmlns:a="http://schemas.openxmlformats.org/drawingml/2006/main">
            <a:r>
              <a:t>y_0=0.0015899416-0.0020537566=-0.0004638149\ \mathrm{dB}</a:t>
            </a:r>
          </a:p>
          <a:p xmlns:a="http://schemas.openxmlformats.org/drawingml/2006/main">
            <a:r>
              <a:t/>
            </a:r>
          </a:p>
          <a:p xmlns:a="http://schemas.openxmlformats.org/drawingml/2006/main">
            <a:r>
              <a:t>In measured data, calibration error is already present.</a:t>
            </a:r>
          </a:p>
          <a:p xmlns:a="http://schemas.openxmlformats.org/drawingml/2006/main">
            <a:r>
              <a:t/>
            </a:r>
          </a:p>
          <a:p xmlns:a="http://schemas.openxmlformats.org/drawingml/2006/main">
            <a:r>
              <a:t>The fit allows simple gain changes</a:t>
            </a:r>
          </a:p>
          <a:p xmlns:a="http://schemas.openxmlformats.org/drawingml/2006/main">
            <a:r>
              <a:t/>
            </a:r>
          </a:p>
          <a:p xmlns:a="http://schemas.openxmlformats.org/drawingml/2006/main">
            <a:r>
              <a:t>y_k=a_kq+b_0+b_1u_k+\varepsilon_k,\quad A_{k,:}=[a_k\ 1\ u_k]</a:t>
            </a:r>
          </a:p>
          <a:p xmlns:a="http://schemas.openxmlformats.org/drawingml/2006/main">
            <a:r>
              <a:t/>
            </a:r>
          </a:p>
          <a:p xmlns:a="http://schemas.openxmlformats.org/drawingml/2006/main">
            <a:r>
              <a:t>Tone k | aₖ × 10⁴ | Offset | Slope uₖ</a:t>
            </a:r>
          </a:p>
          <a:p xmlns:a="http://schemas.openxmlformats.org/drawingml/2006/main">
            <a:r>
              <a:t>0 | 2.408200 | 1 | -0.500000</a:t>
            </a:r>
          </a:p>
          <a:p xmlns:a="http://schemas.openxmlformats.org/drawingml/2006/main">
            <a:r>
              <a:t>511 | 4.032712 | 1 | -0.000489</a:t>
            </a:r>
          </a:p>
          <a:p xmlns:a="http://schemas.openxmlformats.org/drawingml/2006/main">
            <a:r>
              <a:t>1023 | 7.500802 | 1 | 0.500000</a:t>
            </a:r>
          </a:p>
          <a:p xmlns:a="http://schemas.openxmlformats.org/drawingml/2006/main">
            <a:r>
              <a:t/>
            </a:r>
          </a:p>
          <a:p xmlns:a="http://schemas.openxmlformats.org/drawingml/2006/main">
            <a:r>
              <a:t>A is 1,024 × 3. aₖ is in dB/(µg/m³). uₖ spans −0.5 to +0.5. b₀ is a common shift, b₁ a spectral tilt. ε contains the remaining thermal and calibration errors.</a:t>
            </a:r>
          </a:p>
          <a:p xmlns:a="http://schemas.openxmlformats.org/drawingml/2006/main">
            <a:r>
              <a:t/>
            </a:r>
          </a:p>
          <a:p xmlns:a="http://schemas.openxmlformats.org/drawingml/2006/main">
            <a:r>
              <a:t>C_{ij}(0)=\delta_{ij}v_i(0)+(0.001)^2 e^{-|f_i-f_j|/(10\,\mathrm{GHz})}</a:t>
            </a:r>
          </a:p>
          <a:p xmlns:a="http://schemas.openxmlformats.org/drawingml/2006/main">
            <a:r>
              <a:t/>
            </a:r>
          </a:p>
          <a:p xmlns:a="http://schemas.openxmlformats.org/drawingml/2006/main">
            <a:r>
              <a:t>vᵢ(0) = (20 / ln 10)² / (Mρ₀ᵢ) includes both acquisitions. C is 1,024 × 1,024 in dB². δᵢⱼ selects the diagonal. The second term models calibration errors shared across frequency.</a:t>
            </a:r>
          </a:p>
          <a:p xmlns:a="http://schemas.openxmlformats.org/drawingml/2006/main">
            <a:r>
              <a:t/>
            </a:r>
          </a:p>
          <a:p xmlns:a="http://schemas.openxmlformats.org/drawingml/2006/main">
            <a:r>
              <a:t>A simple channel representation is h_meas,0(f) = g0(f) h_atm,0(f) and h_meas,1(f) = g1(f) h_atm,1(f). In a noise free comparison, measured loss = atmospheric loss − 20 log10|g1/g0|. Calibration estimates that instrumental ratio and removes it. Error is what remains after this correction, including transmitter power changes, receiver gain changes or antenna pointing changes. A known pilot reveals the combined channel and cannot separately tell whether weaker reception came from gas or hardware. In a physical measurement, this residual is already in the received data. We add e once to the simulated thermal loss to represent it, not as an extra processing step to be added to experimental data.</a:t>
            </a:r>
          </a:p>
          <a:p xmlns:a="http://schemas.openxmlformats.org/drawingml/2006/main">
            <a:r>
              <a:t/>
            </a:r>
          </a:p>
          <a:p xmlns:a="http://schemas.openxmlformats.org/drawingml/2006/main">
            <a:r>
              <a:t>Example 1: an uncorrected 0.001 dB gain drop means sample/reference amplitude = 10^(−0.001/20) = 0.9998848774. It adds +0.001 dB measured loss even with unchanged gas. Naively using only tone zero would infer 0.001/a0 = 4.1524797 micrograms/m3. An exactly constant error across all tones lies in the offset column and is removed by the joint fit, so this is not a false detection prediction for the full algorithm. Example 2: an error e_k = a_k times 1 microgram/m3 has exactly the same frequency dependence as that amount of CH3CN. Spectral information alone cannot distinguish it. This is a deliberately constructed identifiability example, not a measured or claimed typical drift. Independent calibration is needed to bound such errors. The residual Gaussian model with standard deviation 0.001 dB can produce draws exceeding 0.001 dB. The saved first tone draw is −0.0020537566 dB, about −2.05 standard deviations.</a:t>
            </a:r>
          </a:p>
          <a:p xmlns:a="http://schemas.openxmlformats.org/drawingml/2006/main">
            <a:r>
              <a:t/>
            </a:r>
          </a:p>
          <a:p xmlns:a="http://schemas.openxmlformats.org/drawingml/2006/main">
            <a:r>
              <a:t>A has 1,024 rows and three columns. Column a is the modeled gas pattern per concentration unit. The other columns represent a constant shift b0 and linear frequency trend b1, both in dB. They are nuisance parameters because they must be fitted to protect the gas estimate, although they are not the scientific quantity of interest. Only three rows are printed, but the calculation uses all tones. The gas pattern has components aligned with these simple gain changes, so fitting them also removes useful gas information. C(0) is the null covariance. The diagonal is each tone's variance, and the off diagonal entries describe shared error between frequencies. Independent thermal error appears only on the diagonal. The assumed calibration term has a 10 GHz correlation scale. C00 = 2.951528651e−4 dB2, so the first tone loss standard deviation is 0.0171800 dB. C0,1023 = 3.682388752e−7 dB2. The calibration term is not divided by M. The generalized least squares fit accounts for these correlations rather than counting every tone as independent.</a:t>
            </a:r>
          </a:p>
          <a:p xmlns:a="http://schemas.openxmlformats.org/drawingml/2006/main">
            <a:r>
              <a:t/>
            </a:r>
          </a:p>
          <a:p xmlns:a="http://schemas.openxmlformats.org/drawingml/2006/main">
            <a:r>
              <a:t>The 0.001 dB residual is an assumed standard deviation, not a measured accuracy or a maximum error. It does not shrink with pilot count.</a:t>
            </a:r>
          </a:p>
          <a:p xmlns:a="http://schemas.openxmlformats.org/drawingml/2006/main">
            <a:r>
              <a:t/>
            </a:r>
          </a:p>
          <a:p xmlns:a="http://schemas.openxmlformats.org/drawingml/2006/main">
            <a:r>
              <a:t>Sources</a:t>
            </a:r>
          </a:p>
          <a:p xmlns:a="http://schemas.openxmlformats.org/drawingml/2006/main">
            <a:r>
              <a:t>Observations: https://github.com/unworthyzeus/THz_ISAC_atmospheric_monitoring/blob/d4a25c4/results/zenith_worked_steps/complex_receiver_steps.csv</a:t>
            </a:r>
          </a:p>
          <a:p xmlns:a="http://schemas.openxmlformats.org/drawingml/2006/main">
            <a:r>
              <a:t>Matrices: https://github.com/unworthyzeus/THz_ISAC_atmospheric_monitoring/blob/d4a25c4/results/zenith_single_compound/matrices.npz</a:t>
            </a:r>
          </a:p>
          <a:p xmlns:a="http://schemas.openxmlformats.org/drawingml/2006/main">
            <a:r>
              <a:t>Numerical steps: https://github.com/unworthyzeus/THz_ISAC_atmospheric_monitoring/blob/d4a25c4/results/zenith_worked_steps/worked_steps.json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full 1,024 tone data produce the system below. The concentration estimate and its uncertainty determine the detection decision.</a:t>
            </a:r>
          </a:p>
          <a:p xmlns:a="http://schemas.openxmlformats.org/drawingml/2006/main">
            <a:r>
              <a:t/>
            </a:r>
          </a:p>
          <a:p xmlns:a="http://schemas.openxmlformats.org/drawingml/2006/main">
            <a:r>
              <a:t>Equation | Coefficient of q | Coefficient of b₀ | Coefficient of b₁ | Right side g</a:t>
            </a:r>
          </a:p>
          <a:p xmlns:a="http://schemas.openxmlformats.org/drawingml/2006/main">
            <a:r>
              <a:t>1 | 0.301344020 | 458.463514 | 127.082723 | 15.066265191</a:t>
            </a:r>
          </a:p>
          <a:p xmlns:a="http://schemas.openxmlformats.org/drawingml/2006/main">
            <a:r>
              <a:t>2 | 458.463513671 | 983654.579709 | -223.779287 | 22141.401031152</a:t>
            </a:r>
          </a:p>
          <a:p xmlns:a="http://schemas.openxmlformats.org/drawingml/2006/main">
            <a:r>
              <a:t>3 | 127.082722926 | -223.779287 | 198502.414349 | 7023.360955313</a:t>
            </a:r>
          </a:p>
          <a:p xmlns:a="http://schemas.openxmlformats.org/drawingml/2006/main">
            <a:r>
              <a:t/>
            </a:r>
          </a:p>
          <a:p xmlns:a="http://schemas.openxmlformats.org/drawingml/2006/main">
            <a:r>
              <a:t>Columns correspond to q in µg/m³ and b₀, b₁ in dB. The displayed coefficients are rounded.</a:t>
            </a:r>
          </a:p>
          <a:p xmlns:a="http://schemas.openxmlformats.org/drawingml/2006/main">
            <a:r>
              <a:t/>
            </a:r>
          </a:p>
          <a:p xmlns:a="http://schemas.openxmlformats.org/drawingml/2006/main">
            <a:r>
              <a:t>The estimate after fitting gain</a:t>
            </a:r>
          </a:p>
          <a:p xmlns:a="http://schemas.openxmlformats.org/drawingml/2006/main">
            <a:r>
              <a:t/>
            </a:r>
          </a:p>
          <a:p xmlns:a="http://schemas.openxmlformats.org/drawingml/2006/main">
            <a:r>
              <a:t>Eliminating b₀ and b₁ leaves information Iq = 0.006169586 and weighted evidence tq = 0.243233919 for the gas. Their ratio gives:</a:t>
            </a:r>
          </a:p>
          <a:p xmlns:a="http://schemas.openxmlformats.org/drawingml/2006/main">
            <a:r>
              <a:t/>
            </a:r>
          </a:p>
          <a:p xmlns:a="http://schemas.openxmlformats.org/drawingml/2006/main">
            <a:r>
              <a:t>\widehat q=t_q/I_q=39.4247\ \mathrm{\mu g/m^3}</a:t>
            </a:r>
          </a:p>
          <a:p xmlns:a="http://schemas.openxmlformats.org/drawingml/2006/main">
            <a:r>
              <a:t/>
            </a:r>
          </a:p>
          <a:p xmlns:a="http://schemas.openxmlformats.org/drawingml/2006/main">
            <a:r>
              <a:t>The same solve gives b̂₀ = 0.00413651 dB and b̂₁ = 0.01014643 dB. The true input was 50.5814 µg/m³. Observation errors explain the difference.</a:t>
            </a:r>
          </a:p>
          <a:p xmlns:a="http://schemas.openxmlformats.org/drawingml/2006/main">
            <a:r>
              <a:t/>
            </a:r>
          </a:p>
          <a:p xmlns:a="http://schemas.openxmlformats.org/drawingml/2006/main">
            <a:r>
              <a:t>The threshold and its meaning</a:t>
            </a:r>
          </a:p>
          <a:p xmlns:a="http://schemas.openxmlformats.org/drawingml/2006/main">
            <a:r>
              <a:t/>
            </a:r>
          </a:p>
          <a:p xmlns:a="http://schemas.openxmlformats.org/drawingml/2006/main">
            <a:r>
              <a:t>\begin{aligned}s_0&amp;=I_q^{-1/2}=12.73128\ \mathrm{\mu g/m^3}\\q_{\rm th}&amp;=2.32635\,s_0=29.61738\ \mathrm{\mu g/m^3}\end{aligned}</a:t>
            </a:r>
          </a:p>
          <a:p xmlns:a="http://schemas.openxmlformats.org/drawingml/2006/main">
            <a:r>
              <a:t/>
            </a:r>
          </a:p>
          <a:p xmlns:a="http://schemas.openxmlformats.org/drawingml/2006/main">
            <a:r>
              <a:t>39.4247 &gt; 29.6174: this simulated draw detects an enhancement at the chosen 1% false alarm rate. That is evidence within the stated error model.</a:t>
            </a:r>
          </a:p>
          <a:p xmlns:a="http://schemas.openxmlformats.org/drawingml/2006/main">
            <a:r>
              <a:t/>
            </a:r>
          </a:p>
          <a:p xmlns:a="http://schemas.openxmlformats.org/drawingml/2006/main">
            <a:r>
              <a:t>q = 29.6174 + 1.64485 × 12.7452 = 50.5814 gives 95% predicted response (SD at that q: 12.7452). Simulated: 94.75% there, but 1.31% at 1 µg/m³.</a:t>
            </a:r>
          </a:p>
          <a:p xmlns:a="http://schemas.openxmlformats.org/drawingml/2006/main">
            <a:r>
              <a:t/>
            </a:r>
          </a:p>
          <a:p xmlns:a="http://schemas.openxmlformats.org/drawingml/2006/main">
            <a:r>
              <a:t>The entries displayed in G and g are rounded, so calculations use the saved full precision arrays. Solving gives qhat=39.4246755529, b0=0.0041365093 dB and b1=0.0101464333 dB. To see where the q uncertainty comes from, partition the two gain parameters as b. The Schur complement is Iq=Gqq−Gqb Gbb^−1 Gbq=0.301344020469−0.295174434664=0.006169585805. The remaining score is tq=gq−Gqb Gbb^−1 gb=15.066265190809−14.823031272136=0.243233918673, so qhat=tq/Iq. Iq has units (µg/m³)^−2 and tq has units (µg/m³)^−1. The standard deviation under the null is 1/sqrt(Iq). A 1% one sided false alarm rate for this prespecified compound uses the standard normal 99th percentile 2.326347874. The input q95 solves q95=qth+1.644853627 s1(q95), using s1=12.7452164389 and the alternative covariance under the same fixed estimator. In 10,000 simulated pairs, response is 94.75% at this input and only 1.31% at 1 µg/m³. Both remain conditional on the unmeasured calibration residual, matched atmosphere and ideal tracking. The next physical step is to measure blank stability and test independently measured concentrations. A detection here means a statistically significant enhancement of the prespecified template within the model, not exact concentration or unique identification in a changing gas mixture.</a:t>
            </a:r>
          </a:p>
          <a:p xmlns:a="http://schemas.openxmlformats.org/drawingml/2006/main">
            <a:r>
              <a:t/>
            </a:r>
          </a:p>
          <a:p xmlns:a="http://schemas.openxmlformats.org/drawingml/2006/main">
            <a:r>
              <a:t>Conditional example: ideal tracking, matched background, 20 s total and an assumed, unmeasured 0.001 dB calibration residual.</a:t>
            </a:r>
          </a:p>
          <a:p xmlns:a="http://schemas.openxmlformats.org/drawingml/2006/main">
            <a:r>
              <a:t>No atmospheric detection measurement or 3D reconstruction is established by this example.</a:t>
            </a:r>
          </a:p>
          <a:p xmlns:a="http://schemas.openxmlformats.org/drawingml/2006/main">
            <a:r>
              <a:t/>
            </a:r>
          </a:p>
          <a:p xmlns:a="http://schemas.openxmlformats.org/drawingml/2006/main">
            <a:r>
              <a:t>Sources</a:t>
            </a:r>
          </a:p>
          <a:p xmlns:a="http://schemas.openxmlformats.org/drawingml/2006/main">
            <a:r>
              <a:t>Numerical steps: https://github.com/unworthyzeus/THz_ISAC_atmospheric_monitoring/blob/d4a25c4/results/zenith_worked_steps/worked_steps.json</a:t>
            </a:r>
          </a:p>
          <a:p xmlns:a="http://schemas.openxmlformats.org/drawingml/2006/main">
            <a:r>
              <a:t>Repeated trials: https://github.com/unworthyzeus/THz_ISAC_atmospheric_monitoring/blob/d4a25c4/results/zenith_single_compound/receiver_control.csv</a:t>
            </a:r>
          </a:p>
          <a:p xmlns:a="http://schemas.openxmlformats.org/drawingml/2006/main">
            <a:r>
              <a:t>Hardware audit: https://github.com/unworthyzeus/THz_ISAC_atmospheric_monitoring/blob/d4a25c4/docs/54_supervisor_revision_2026_10_05.md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Inputs: atmospheric model, pilot observations and assumed error covariance. The arithmetic uses the full precision arrays.</a:t>
            </a:r>
          </a:p>
          <a:p xmlns:a="http://schemas.openxmlformats.org/drawingml/2006/main">
            <a:r>
              <a:t/>
            </a:r>
          </a:p>
          <a:p xmlns:a="http://schemas.openxmlformats.org/drawingml/2006/main">
            <a:r>
              <a:t>1. Build the gas template from the layers</a:t>
            </a:r>
          </a:p>
          <a:p xmlns:a="http://schemas.openxmlformats.org/drawingml/2006/main">
            <a:r>
              <a:t/>
            </a:r>
          </a:p>
          <a:p xmlns:a="http://schemas.openxmlformats.org/drawingml/2006/main">
            <a:r>
              <a:t>n₁(z) is the molecular density for q = 1 µg/m³. Sum absorption at every altitude node ℓ:</a:t>
            </a:r>
          </a:p>
          <a:p xmlns:a="http://schemas.openxmlformats.org/drawingml/2006/main">
            <a:r>
              <a:t/>
            </a:r>
          </a:p>
          <a:p xmlns:a="http://schemas.openxmlformats.org/drawingml/2006/main">
            <a:r>
              <a:t>\textstyle a_k=(10/\ln10)\sum_\ell\sigma(f_k,z_\ell)n_1(z_\ell)w_\ell</a:t>
            </a:r>
          </a:p>
          <a:p xmlns:a="http://schemas.openxmlformats.org/drawingml/2006/main">
            <a:r>
              <a:t/>
            </a:r>
          </a:p>
          <a:p xmlns:a="http://schemas.openxmlformats.org/drawingml/2006/main">
            <a:r>
              <a:t>a₀ = 0.0002408199585 dB/(µg/m³).</a:t>
            </a:r>
          </a:p>
          <a:p xmlns:a="http://schemas.openxmlformats.org/drawingml/2006/main">
            <a:r>
              <a:t/>
            </a:r>
          </a:p>
          <a:p xmlns:a="http://schemas.openxmlformats.org/drawingml/2006/main">
            <a:r>
              <a:t>2. Form the observed loss on each tone</a:t>
            </a:r>
          </a:p>
          <a:p xmlns:a="http://schemas.openxmlformats.org/drawingml/2006/main">
            <a:r>
              <a:t/>
            </a:r>
          </a:p>
          <a:p xmlns:a="http://schemas.openxmlformats.org/drawingml/2006/main">
            <a:r>
              <a:t>\begin{aligned}\widehat h_{r,k}&amp;=(1/M)\textstyle\sum_m R_{r,k,m}/X_{k,m},\quad r\in\{0,1\}\\y_k&amp;=-20\log_{10}(|\widehat h_{1,k}|/|\widehat h_{0,k}|)+e_k\end{aligned}</a:t>
            </a:r>
          </a:p>
          <a:p xmlns:a="http://schemas.openxmlformats.org/drawingml/2006/main">
            <a:r>
              <a:t/>
            </a:r>
          </a:p>
          <a:p xmlns:a="http://schemas.openxmlformats.org/drawingml/2006/main">
            <a:r>
              <a:t>r = 0 reference, r = 1 sample. Add e only when simulating it. Here y₀ = −0.0004638149 dB.</a:t>
            </a:r>
          </a:p>
          <a:p xmlns:a="http://schemas.openxmlformats.org/drawingml/2006/main">
            <a:r>
              <a:t/>
            </a:r>
          </a:p>
          <a:p xmlns:a="http://schemas.openxmlformats.org/drawingml/2006/main">
            <a:r>
              <a:t>3. Compress 1,024 observations into G and g</a:t>
            </a:r>
          </a:p>
          <a:p xmlns:a="http://schemas.openxmlformats.org/drawingml/2006/main">
            <a:r>
              <a:t/>
            </a:r>
          </a:p>
          <a:p xmlns:a="http://schemas.openxmlformats.org/drawingml/2006/main">
            <a:r>
              <a:t>\begin{aligned}A&amp;=[\mathbf a\ \mathbf1\ \mathbf u],\quad C=C(0)\ \text{on page 5}\\G&amp;=A^TC^{-1}A,\qquad g=A^TC^{-1}\mathbf y\end{aligned}</a:t>
            </a:r>
          </a:p>
          <a:p xmlns:a="http://schemas.openxmlformats.org/drawingml/2006/main">
            <a:r>
              <a:t/>
            </a:r>
          </a:p>
          <a:p xmlns:a="http://schemas.openxmlformats.org/drawingml/2006/main">
            <a:r>
              <a:t>uₖ = (fₖ − mean f)/(max f − min f). G is 3 × 3.</a:t>
            </a:r>
          </a:p>
          <a:p xmlns:a="http://schemas.openxmlformats.org/drawingml/2006/main">
            <a:r>
              <a:t/>
            </a:r>
          </a:p>
          <a:p xmlns:a="http://schemas.openxmlformats.org/drawingml/2006/main">
            <a:r>
              <a:t>4. Eliminate the two gain parameters</a:t>
            </a:r>
          </a:p>
          <a:p xmlns:a="http://schemas.openxmlformats.org/drawingml/2006/main">
            <a:r>
              <a:t/>
            </a:r>
          </a:p>
          <a:p xmlns:a="http://schemas.openxmlformats.org/drawingml/2006/main">
            <a:r>
              <a:t>Partition G and g into q and b = [b₀, b₁]ᵀ:</a:t>
            </a:r>
          </a:p>
          <a:p xmlns:a="http://schemas.openxmlformats.org/drawingml/2006/main">
            <a:r>
              <a:t/>
            </a:r>
          </a:p>
          <a:p xmlns:a="http://schemas.openxmlformats.org/drawingml/2006/main">
            <a:r>
              <a:t>\begin{aligned}I_q&amp;=G_{qq}-G_{qb}G_{bb}^{-1}G_{bq}\\t_q&amp;=g_q-G_{qb}G_{bb}^{-1}g_b\end{aligned}</a:t>
            </a:r>
          </a:p>
          <a:p xmlns:a="http://schemas.openxmlformats.org/drawingml/2006/main">
            <a:r>
              <a:t/>
            </a:r>
          </a:p>
          <a:p xmlns:a="http://schemas.openxmlformats.org/drawingml/2006/main">
            <a:r>
              <a:t>Iq = 0.3013440205 − 0.2951744347 = 0.0061695858</a:t>
            </a:r>
          </a:p>
          <a:p xmlns:a="http://schemas.openxmlformats.org/drawingml/2006/main">
            <a:r>
              <a:t>tq = 15.0662651908 − 14.8230312721 = 0.2432339187</a:t>
            </a:r>
          </a:p>
          <a:p xmlns:a="http://schemas.openxmlformats.org/drawingml/2006/main">
            <a:r>
              <a:t/>
            </a:r>
          </a:p>
          <a:p xmlns:a="http://schemas.openxmlformats.org/drawingml/2006/main">
            <a:r>
              <a:t>5. Compute concentration and uncertainty</a:t>
            </a:r>
          </a:p>
          <a:p xmlns:a="http://schemas.openxmlformats.org/drawingml/2006/main">
            <a:r>
              <a:t/>
            </a:r>
          </a:p>
          <a:p xmlns:a="http://schemas.openxmlformats.org/drawingml/2006/main">
            <a:r>
              <a:t>\begin{aligned}\widehat q&amp;=t_q/I_q=39.42467555\ \mathrm{\mu g/m^3}\\s_0&amp;=I_q^{-1/2}=12.73127783\ \mathrm{\mu g/m^3}\end{aligned}</a:t>
            </a:r>
          </a:p>
          <a:p xmlns:a="http://schemas.openxmlformats.org/drawingml/2006/main">
            <a:r>
              <a:t/>
            </a:r>
          </a:p>
          <a:p xmlns:a="http://schemas.openxmlformats.org/drawingml/2006/main">
            <a:r>
              <a:t>s₀ is the standard deviation when q = 0.</a:t>
            </a:r>
          </a:p>
          <a:p xmlns:a="http://schemas.openxmlformats.org/drawingml/2006/main">
            <a:r>
              <a:t/>
            </a:r>
          </a:p>
          <a:p xmlns:a="http://schemas.openxmlformats.org/drawingml/2006/main">
            <a:r>
              <a:t>6. Compare with the detection threshold</a:t>
            </a:r>
          </a:p>
          <a:p xmlns:a="http://schemas.openxmlformats.org/drawingml/2006/main">
            <a:r>
              <a:t/>
            </a:r>
          </a:p>
          <a:p xmlns:a="http://schemas.openxmlformats.org/drawingml/2006/main">
            <a:r>
              <a:t>\begin{aligned}q_{\rm th}&amp;=\Phi^{-1}(0.99)s_0=29.61738111\ \mathrm{\mu g/m^3}\\\widehat q&amp;=39.4247&gt;q_{\rm th}\quad\Rightarrow\quad\text{detection}\end{aligned}</a:t>
            </a:r>
          </a:p>
          <a:p xmlns:a="http://schemas.openxmlformats.org/drawingml/2006/main">
            <a:r>
              <a:t/>
            </a:r>
          </a:p>
          <a:p xmlns:a="http://schemas.openxmlformats.org/drawingml/2006/main">
            <a:r>
              <a:t>Φ is the standard normal cumulative distribution.</a:t>
            </a:r>
          </a:p>
          <a:p xmlns:a="http://schemas.openxmlformats.org/drawingml/2006/main">
            <a:r>
              <a:t/>
            </a:r>
          </a:p>
          <a:p xmlns:a="http://schemas.openxmlformats.org/drawingml/2006/main">
            <a:r>
              <a:t>This slide is an execution recipe connecting the physical forward model to the saved detection result. Step 1 computes a loss template per 1 microgram/m3 of surface equivalent enhancement. n1 is the height dependent density for that unit enhancement. The quadrature uses consistent centimetre units for sigma, density and weights. Step 2 divides each unit magnitude pilot out of the received complex observation and averages corrected values for reference and sample separately. The e term is included only to simulate calibration residuals. In measured channel estimates the residual is already embedded. Step 3 uses u_k=(f_k−mean f)/(max f−min f). A is 1024 by 3, y is 1024 by 1, C=C(0) is 1024 by 1024, G is 3 by 3 and g is 3 by 1. The null covariance on page 5 uses v_k(0)=(20/ln10)^2/(M rho0k), including both acquisitions. The weighted least squares objective is (y−A theta)^T C^−1 (y−A theta). Its derivative gives G theta = g. Numerically, solve with Cholesky factors rather than explicitly inverting C.</a:t>
            </a:r>
          </a:p>
          <a:p xmlns:a="http://schemas.openxmlformats.org/drawingml/2006/main">
            <a:r>
              <a:t/>
            </a:r>
          </a:p>
          <a:p xmlns:a="http://schemas.openxmlformats.org/drawingml/2006/main">
            <a:r>
              <a:t>Step 4 partitions G and g into concentration q and gain parameters b=(b0,b1). Gqq is a scalar, Gqb is 1 by 2, Gbb is 2 by 2 and gb is 2 by 1. Eliminating b gives the scalar Schur complement Iq=Gqq−Gqb Gbb^−1 Gbq. This measures information left about concentration after the same data also estimate gain. It is small because much of the smooth gas pattern overlaps the gain offset and slope. Eliminating the same fitted gain from the right side gives tq=gq−Gqb Gbb^−1 gb. From full precision arrays, Iq=0.3013440204690398−0.29517443466363735=0.006169585805402444, tq=15.066265190809268−14.823031272135776=0.24323391867349287. Their units are (micrograms/m3)^−2 and (micrograms/m3)^−1.</a:t>
            </a:r>
          </a:p>
          <a:p xmlns:a="http://schemas.openxmlformats.org/drawingml/2006/main">
            <a:r>
              <a:t/>
            </a:r>
          </a:p>
          <a:p xmlns:a="http://schemas.openxmlformats.org/drawingml/2006/main">
            <a:r>
              <a:t>Step 5 yields qhat=tq/Iq=39.4246755529 micrograms/m3 and null standard deviation s0=1/sqrt(Iq)=12.7312778289 micrograms/m3. Equivalently, solve the three by three system on page 6 directly. Then b_hat=Gbb^−1(gb−Gbq qhat). Step 6 tests qhat against Phi^−1(0.99)s0=2.3263478740×12.7312778289=29.6173811110 micrograms/m3 for a one sided 1% false alarm criterion. Phi is the standard normal cumulative distribution function. Since 39.4247 exceeds 29.6174, this draw declares an enhancement. The concentration estimate remains uncertain and differs from the chosen true input 50.5814. The sensitivity target used to choose that input is a separate calculation on page 6.</a:t>
            </a:r>
          </a:p>
          <a:p xmlns:a="http://schemas.openxmlformats.org/drawingml/2006/main">
            <a:r>
              <a:t/>
            </a:r>
          </a:p>
          <a:p xmlns:a="http://schemas.openxmlformats.org/drawingml/2006/main">
            <a:r>
              <a:t>Conditional example: ideal tracking, matched background, 20 s total and an assumed, unmeasured 0.001 dB calibration residual.</a:t>
            </a:r>
          </a:p>
          <a:p xmlns:a="http://schemas.openxmlformats.org/drawingml/2006/main">
            <a:r>
              <a:t>The 1% threshold applies to this prespecified compound and the stated error model.</a:t>
            </a:r>
          </a:p>
          <a:p xmlns:a="http://schemas.openxmlformats.org/drawingml/2006/main">
            <a:r>
              <a:t/>
            </a:r>
          </a:p>
          <a:p xmlns:a="http://schemas.openxmlformats.org/drawingml/2006/main">
            <a:r>
              <a:t>Sources</a:t>
            </a:r>
          </a:p>
          <a:p xmlns:a="http://schemas.openxmlformats.org/drawingml/2006/main">
            <a:r>
              <a:t>Numerical steps: https://github.com/unworthyzeus/THz_ISAC_atmospheric_monitoring/blob/d4a25c4/results/zenith_worked_steps/worked_steps.json</a:t>
            </a:r>
          </a:p>
          <a:p xmlns:a="http://schemas.openxmlformats.org/drawingml/2006/main">
            <a:r>
              <a:t>Observations: https://github.com/unworthyzeus/THz_ISAC_atmospheric_monitoring/blob/d4a25c4/results/zenith_worked_steps/complex_receiver_steps.csv</a:t>
            </a:r>
          </a:p>
          <a:p xmlns:a="http://schemas.openxmlformats.org/drawingml/2006/main">
            <a:r>
              <a:t>Matrices: https://github.com/unworthyzeus/THz_ISAC_atmospheric_monitoring/blob/d4a25c4/results/zenith_single_compound/matrices.npz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c4975206c4f4e5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4c318d8267b415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8fa33e98ffb49e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b70aab3c07f4b4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9ae2b7caed943b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d3d571aee2e479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1AA7B8D-95D1-423E-A2C2-2F62F2412A6B}"/>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CDAD634-862B-4CF7-AA3A-FEF696D27D45}"/>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013C4C3-D997-4253-B52A-EE0E1D301DD2}"/>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6D9F11A-3E67-4BD8-A6C6-09891C4363BE}"/>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192BCD3-BD25-4331-8010-31BB8FEFA67A}"/>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73B91AA-0381-4E38-BE51-9623167A2576}"/>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BCD5BB2-3E35-42B8-88D6-70E5B667AB95}"/>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A256203-8669-4D88-B48F-7868CA8EC4F1}"/>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FB4F76B-E414-4E68-B52C-DA3529C77815}"/>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D195A63-F41C-4E44-988D-7DB66190BDF9}"/>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23daf0df1e0418f" /><Relationship Type="http://schemas.openxmlformats.org/officeDocument/2006/relationships/slideLayout" Target="/ppt/slideLayouts/slideLayout1.xml" Id="R2d9d8c056c11417b" /><Relationship Type="http://schemas.openxmlformats.org/officeDocument/2006/relationships/slideLayout" Target="/ppt/slideLayouts/slideLayout2.xml" Id="R32216619410d4c6d" /><Relationship Type="http://schemas.openxmlformats.org/officeDocument/2006/relationships/slideLayout" Target="/ppt/slideLayouts/slideLayout3.xml" Id="Ra738c9058e6e4761" /><Relationship Type="http://schemas.openxmlformats.org/officeDocument/2006/relationships/slideLayout" Target="/ppt/slideLayouts/slideLayout4.xml" Id="R1b8041ebf41a4bf1" /><Relationship Type="http://schemas.openxmlformats.org/officeDocument/2006/relationships/slideLayout" Target="/ppt/slideLayouts/slideLayout5.xml" Id="Ra6813be34c7f4293" /><Relationship Type="http://schemas.openxmlformats.org/officeDocument/2006/relationships/slideLayout" Target="/ppt/slideLayouts/slideLayout6.xml" Id="Re024db0544d040e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d9d8c056c11417b"/>
    <p:sldLayoutId xmlns:r="http://schemas.openxmlformats.org/officeDocument/2006/relationships" id="2147483650" r:id="R32216619410d4c6d"/>
    <p:sldLayoutId xmlns:r="http://schemas.openxmlformats.org/officeDocument/2006/relationships" id="2147483651" r:id="Ra738c9058e6e4761"/>
    <p:sldLayoutId xmlns:r="http://schemas.openxmlformats.org/officeDocument/2006/relationships" id="2147483652" r:id="R1b8041ebf41a4bf1"/>
    <p:sldLayoutId xmlns:r="http://schemas.openxmlformats.org/officeDocument/2006/relationships" id="2147483653" r:id="Ra6813be34c7f4293"/>
    <p:sldLayoutId xmlns:r="http://schemas.openxmlformats.org/officeDocument/2006/relationships" id="2147483654" r:id="Re024db0544d040e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6097ae541934eb6" /><Relationship Type="http://schemas.openxmlformats.org/officeDocument/2006/relationships/image" Target="/ppt/media/image.png" Id="Ra2d527478a514727" /><Relationship Type="http://schemas.openxmlformats.org/officeDocument/2006/relationships/image" Target="/ppt/media/image.svg" Id="R9d409ca18b284409" /><Relationship Type="http://schemas.openxmlformats.org/officeDocument/2006/relationships/notesSlide" Target="/ppt/notesSlides/notesSlide1.xml" Id="R009cbd05858d4e4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eff89c40cef4614" /><Relationship Type="http://schemas.openxmlformats.org/officeDocument/2006/relationships/image" Target="/ppt/media/image2.png" Id="Rdccb7abf8ff64dfb" /><Relationship Type="http://schemas.openxmlformats.org/officeDocument/2006/relationships/image" Target="/ppt/media/image2.svg" Id="R2f27e003862d4b9c" /><Relationship Type="http://schemas.openxmlformats.org/officeDocument/2006/relationships/notesSlide" Target="/ppt/notesSlides/notesSlide2.xml" Id="Rd82aeb97babf4f3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6b9593d280941b3" /><Relationship Type="http://schemas.openxmlformats.org/officeDocument/2006/relationships/image" Target="/ppt/media/image3.png" Id="R8b42a2abf5aa4093" /><Relationship Type="http://schemas.openxmlformats.org/officeDocument/2006/relationships/image" Target="/ppt/media/image3.svg" Id="R6e26625aab834263" /><Relationship Type="http://schemas.openxmlformats.org/officeDocument/2006/relationships/chart" Target="/ppt/slides/charts/chart1.xml" Id="Ra898b3ceb5584548" /><Relationship Type="http://schemas.openxmlformats.org/officeDocument/2006/relationships/notesSlide" Target="/ppt/notesSlides/notesSlide3.xml" Id="Ra28fd4f9720d495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9568cd204ff486b" /><Relationship Type="http://schemas.openxmlformats.org/officeDocument/2006/relationships/image" Target="/ppt/media/image4.png" Id="Rd7f9e2fb212140ab" /><Relationship Type="http://schemas.openxmlformats.org/officeDocument/2006/relationships/image" Target="/ppt/media/image4.svg" Id="Rd94d2f04f89442ec" /><Relationship Type="http://schemas.openxmlformats.org/officeDocument/2006/relationships/image" Target="/ppt/media/image5.png" Id="Rc1dbcd1726f342eb" /><Relationship Type="http://schemas.openxmlformats.org/officeDocument/2006/relationships/image" Target="/ppt/media/image5.svg" Id="R80cf343ef1c64244" /><Relationship Type="http://schemas.openxmlformats.org/officeDocument/2006/relationships/image" Target="/ppt/media/image6.png" Id="R3837ae15e2a042d9" /><Relationship Type="http://schemas.openxmlformats.org/officeDocument/2006/relationships/image" Target="/ppt/media/image6.svg" Id="R5889c38f708a4bb5" /><Relationship Type="http://schemas.openxmlformats.org/officeDocument/2006/relationships/notesSlide" Target="/ppt/notesSlides/notesSlide4.xml" Id="R862c28faa75d465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7fd9a8166764a44" /><Relationship Type="http://schemas.openxmlformats.org/officeDocument/2006/relationships/image" Target="/ppt/media/image7.png" Id="Rfd13c3a60ecb4c94" /><Relationship Type="http://schemas.openxmlformats.org/officeDocument/2006/relationships/image" Target="/ppt/media/image7.svg" Id="R5e2bc4050c474eb9" /><Relationship Type="http://schemas.openxmlformats.org/officeDocument/2006/relationships/image" Target="/ppt/media/image8.png" Id="R33c79c260b84451c" /><Relationship Type="http://schemas.openxmlformats.org/officeDocument/2006/relationships/image" Target="/ppt/media/image8.svg" Id="Rd795cd8c97334090" /><Relationship Type="http://schemas.openxmlformats.org/officeDocument/2006/relationships/image" Target="/ppt/media/image9.png" Id="R597078098a1f4858" /><Relationship Type="http://schemas.openxmlformats.org/officeDocument/2006/relationships/image" Target="/ppt/media/image9.svg" Id="R45748c22b87544dc" /><Relationship Type="http://schemas.openxmlformats.org/officeDocument/2006/relationships/notesSlide" Target="/ppt/notesSlides/notesSlide5.xml" Id="Rd83f6233c328477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1ad79c2c23c4159" /><Relationship Type="http://schemas.openxmlformats.org/officeDocument/2006/relationships/image" Target="/ppt/media/image10.png" Id="R4bb75e7fa7074d5a" /><Relationship Type="http://schemas.openxmlformats.org/officeDocument/2006/relationships/image" Target="/ppt/media/image10.svg" Id="R3c947015fe524675" /><Relationship Type="http://schemas.openxmlformats.org/officeDocument/2006/relationships/image" Target="/ppt/media/image11.png" Id="R90d1f429c3864b11" /><Relationship Type="http://schemas.openxmlformats.org/officeDocument/2006/relationships/image" Target="/ppt/media/image11.svg" Id="Ree3337983a0e4aa8" /><Relationship Type="http://schemas.openxmlformats.org/officeDocument/2006/relationships/notesSlide" Target="/ppt/notesSlides/notesSlide6.xml" Id="R779ee17e84fa46d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2ab4c85d81b4bfb" /><Relationship Type="http://schemas.openxmlformats.org/officeDocument/2006/relationships/image" Target="/ppt/media/image12.png" Id="Rdaa4b520ee084f6b" /><Relationship Type="http://schemas.openxmlformats.org/officeDocument/2006/relationships/image" Target="/ppt/media/image12.svg" Id="Rc92e4fafa5a04d9c" /><Relationship Type="http://schemas.openxmlformats.org/officeDocument/2006/relationships/image" Target="/ppt/media/image13.png" Id="R88f8d8b6eab24e00" /><Relationship Type="http://schemas.openxmlformats.org/officeDocument/2006/relationships/image" Target="/ppt/media/image13.svg" Id="R595ca0ca69e943da" /><Relationship Type="http://schemas.openxmlformats.org/officeDocument/2006/relationships/image" Target="/ppt/media/image14.png" Id="R0d76a68f46684f05" /><Relationship Type="http://schemas.openxmlformats.org/officeDocument/2006/relationships/image" Target="/ppt/media/image14.svg" Id="Rea664ee3c3bf446f" /><Relationship Type="http://schemas.openxmlformats.org/officeDocument/2006/relationships/image" Target="/ppt/media/image15.png" Id="R4125cc62ef7f4ed5" /><Relationship Type="http://schemas.openxmlformats.org/officeDocument/2006/relationships/image" Target="/ppt/media/image15.svg" Id="R6568b30338a94019" /><Relationship Type="http://schemas.openxmlformats.org/officeDocument/2006/relationships/image" Target="/ppt/media/image16.png" Id="R3cf11674bd0b4ac8" /><Relationship Type="http://schemas.openxmlformats.org/officeDocument/2006/relationships/image" Target="/ppt/media/image16.svg" Id="R2b2a93c6e3e74753" /><Relationship Type="http://schemas.openxmlformats.org/officeDocument/2006/relationships/image" Target="/ppt/media/image17.png" Id="Rfb3bad5be2b74b64" /><Relationship Type="http://schemas.openxmlformats.org/officeDocument/2006/relationships/image" Target="/ppt/media/image17.svg" Id="R3843a3b016624cac" /><Relationship Type="http://schemas.openxmlformats.org/officeDocument/2006/relationships/notesSlide" Target="/ppt/notesSlides/notesSlide7.xml" Id="R7db7743c4fc1412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varyColors val="0"/>
        <c:ser>
          <c:idx val="0"/>
          <c:order val="0"/>
          <c:tx>
            <c:v>Predicted extra CH₃CN loss</c:v>
          </c:tx>
          <c:spPr>
            <a:ln xmlns:a="http://schemas.openxmlformats.org/drawingml/2006/main" w="28575">
              <a:solidFill>
                <a:srgbClr val="126B76"/>
              </a:solidFill>
            </a:ln>
          </c:spPr>
          <c:marker>
            <c:symbol val="none"/>
          </c:marker>
          <c:xVal>
            <c:numRef>
              <c:f>'Chart Data'!$A$2:$A$1025</c:f>
              <c:numCache>
                <c:formatCode>General</c:formatCode>
                <c:ptCount val="1024"/>
                <c:pt idx="0">
                  <c:v>230.0048828125</c:v>
                </c:pt>
                <c:pt idx="1">
                  <c:v>230.0146484375</c:v>
                </c:pt>
                <c:pt idx="2">
                  <c:v>230.0244140625</c:v>
                </c:pt>
                <c:pt idx="3">
                  <c:v>230.0341796875</c:v>
                </c:pt>
                <c:pt idx="4">
                  <c:v>230.0439453125</c:v>
                </c:pt>
                <c:pt idx="5">
                  <c:v>230.0537109375</c:v>
                </c:pt>
                <c:pt idx="6">
                  <c:v>230.0634765625</c:v>
                </c:pt>
                <c:pt idx="7">
                  <c:v>230.0732421875</c:v>
                </c:pt>
                <c:pt idx="8">
                  <c:v>230.0830078125</c:v>
                </c:pt>
                <c:pt idx="9">
                  <c:v>230.0927734375</c:v>
                </c:pt>
                <c:pt idx="10">
                  <c:v>230.1025390625</c:v>
                </c:pt>
                <c:pt idx="11">
                  <c:v>230.1123046875</c:v>
                </c:pt>
                <c:pt idx="12">
                  <c:v>230.1220703125</c:v>
                </c:pt>
                <c:pt idx="13">
                  <c:v>230.1318359375</c:v>
                </c:pt>
                <c:pt idx="14">
                  <c:v>230.1416015625</c:v>
                </c:pt>
                <c:pt idx="15">
                  <c:v>230.1513671875</c:v>
                </c:pt>
                <c:pt idx="16">
                  <c:v>230.1611328125</c:v>
                </c:pt>
                <c:pt idx="17">
                  <c:v>230.1708984375</c:v>
                </c:pt>
                <c:pt idx="18">
                  <c:v>230.1806640625</c:v>
                </c:pt>
                <c:pt idx="19">
                  <c:v>230.1904296875</c:v>
                </c:pt>
                <c:pt idx="20">
                  <c:v>230.2001953125</c:v>
                </c:pt>
                <c:pt idx="21">
                  <c:v>230.2099609375</c:v>
                </c:pt>
                <c:pt idx="22">
                  <c:v>230.2197265625</c:v>
                </c:pt>
                <c:pt idx="23">
                  <c:v>230.2294921875</c:v>
                </c:pt>
                <c:pt idx="24">
                  <c:v>230.2392578125</c:v>
                </c:pt>
                <c:pt idx="25">
                  <c:v>230.2490234375</c:v>
                </c:pt>
                <c:pt idx="26">
                  <c:v>230.2587890625</c:v>
                </c:pt>
                <c:pt idx="27">
                  <c:v>230.2685546875</c:v>
                </c:pt>
                <c:pt idx="28">
                  <c:v>230.2783203125</c:v>
                </c:pt>
                <c:pt idx="29">
                  <c:v>230.2880859375</c:v>
                </c:pt>
                <c:pt idx="30">
                  <c:v>230.2978515625</c:v>
                </c:pt>
                <c:pt idx="31">
                  <c:v>230.3076171875</c:v>
                </c:pt>
                <c:pt idx="32">
                  <c:v>230.3173828125</c:v>
                </c:pt>
                <c:pt idx="33">
                  <c:v>230.3271484375</c:v>
                </c:pt>
                <c:pt idx="34">
                  <c:v>230.3369140625</c:v>
                </c:pt>
                <c:pt idx="35">
                  <c:v>230.3466796875</c:v>
                </c:pt>
                <c:pt idx="36">
                  <c:v>230.3564453125</c:v>
                </c:pt>
                <c:pt idx="37">
                  <c:v>230.3662109375</c:v>
                </c:pt>
                <c:pt idx="38">
                  <c:v>230.3759765625</c:v>
                </c:pt>
                <c:pt idx="39">
                  <c:v>230.3857421875</c:v>
                </c:pt>
                <c:pt idx="40">
                  <c:v>230.3955078125</c:v>
                </c:pt>
                <c:pt idx="41">
                  <c:v>230.4052734375</c:v>
                </c:pt>
                <c:pt idx="42">
                  <c:v>230.4150390625</c:v>
                </c:pt>
                <c:pt idx="43">
                  <c:v>230.4248046875</c:v>
                </c:pt>
                <c:pt idx="44">
                  <c:v>230.4345703125</c:v>
                </c:pt>
                <c:pt idx="45">
                  <c:v>230.4443359375</c:v>
                </c:pt>
                <c:pt idx="46">
                  <c:v>230.4541015625</c:v>
                </c:pt>
                <c:pt idx="47">
                  <c:v>230.4638671875</c:v>
                </c:pt>
                <c:pt idx="48">
                  <c:v>230.4736328125</c:v>
                </c:pt>
                <c:pt idx="49">
                  <c:v>230.4833984375</c:v>
                </c:pt>
                <c:pt idx="50">
                  <c:v>230.4931640625</c:v>
                </c:pt>
                <c:pt idx="51">
                  <c:v>230.5029296875</c:v>
                </c:pt>
                <c:pt idx="52">
                  <c:v>230.5126953125</c:v>
                </c:pt>
                <c:pt idx="53">
                  <c:v>230.5224609375</c:v>
                </c:pt>
                <c:pt idx="54">
                  <c:v>230.5322265625</c:v>
                </c:pt>
                <c:pt idx="55">
                  <c:v>230.5419921875</c:v>
                </c:pt>
                <c:pt idx="56">
                  <c:v>230.5517578125</c:v>
                </c:pt>
                <c:pt idx="57">
                  <c:v>230.5615234375</c:v>
                </c:pt>
                <c:pt idx="58">
                  <c:v>230.5712890625</c:v>
                </c:pt>
                <c:pt idx="59">
                  <c:v>230.5810546875</c:v>
                </c:pt>
                <c:pt idx="60">
                  <c:v>230.5908203125</c:v>
                </c:pt>
                <c:pt idx="61">
                  <c:v>230.6005859375</c:v>
                </c:pt>
                <c:pt idx="62">
                  <c:v>230.6103515625</c:v>
                </c:pt>
                <c:pt idx="63">
                  <c:v>230.6201171875</c:v>
                </c:pt>
                <c:pt idx="64">
                  <c:v>230.6298828125</c:v>
                </c:pt>
                <c:pt idx="65">
                  <c:v>230.6396484375</c:v>
                </c:pt>
                <c:pt idx="66">
                  <c:v>230.6494140625</c:v>
                </c:pt>
                <c:pt idx="67">
                  <c:v>230.6591796875</c:v>
                </c:pt>
                <c:pt idx="68">
                  <c:v>230.6689453125</c:v>
                </c:pt>
                <c:pt idx="69">
                  <c:v>230.6787109375</c:v>
                </c:pt>
                <c:pt idx="70">
                  <c:v>230.6884765625</c:v>
                </c:pt>
                <c:pt idx="71">
                  <c:v>230.6982421875</c:v>
                </c:pt>
                <c:pt idx="72">
                  <c:v>230.7080078125</c:v>
                </c:pt>
                <c:pt idx="73">
                  <c:v>230.7177734375</c:v>
                </c:pt>
                <c:pt idx="74">
                  <c:v>230.7275390625</c:v>
                </c:pt>
                <c:pt idx="75">
                  <c:v>230.7373046875</c:v>
                </c:pt>
                <c:pt idx="76">
                  <c:v>230.7470703125</c:v>
                </c:pt>
                <c:pt idx="77">
                  <c:v>230.7568359375</c:v>
                </c:pt>
                <c:pt idx="78">
                  <c:v>230.7666015625</c:v>
                </c:pt>
                <c:pt idx="79">
                  <c:v>230.7763671875</c:v>
                </c:pt>
                <c:pt idx="80">
                  <c:v>230.7861328125</c:v>
                </c:pt>
                <c:pt idx="81">
                  <c:v>230.7958984375</c:v>
                </c:pt>
                <c:pt idx="82">
                  <c:v>230.8056640625</c:v>
                </c:pt>
                <c:pt idx="83">
                  <c:v>230.8154296875</c:v>
                </c:pt>
                <c:pt idx="84">
                  <c:v>230.8251953125</c:v>
                </c:pt>
                <c:pt idx="85">
                  <c:v>230.8349609375</c:v>
                </c:pt>
                <c:pt idx="86">
                  <c:v>230.8447265625</c:v>
                </c:pt>
                <c:pt idx="87">
                  <c:v>230.8544921875</c:v>
                </c:pt>
                <c:pt idx="88">
                  <c:v>230.8642578125</c:v>
                </c:pt>
                <c:pt idx="89">
                  <c:v>230.8740234375</c:v>
                </c:pt>
                <c:pt idx="90">
                  <c:v>230.8837890625</c:v>
                </c:pt>
                <c:pt idx="91">
                  <c:v>230.8935546875</c:v>
                </c:pt>
                <c:pt idx="92">
                  <c:v>230.9033203125</c:v>
                </c:pt>
                <c:pt idx="93">
                  <c:v>230.9130859375</c:v>
                </c:pt>
                <c:pt idx="94">
                  <c:v>230.9228515625</c:v>
                </c:pt>
                <c:pt idx="95">
                  <c:v>230.9326171875</c:v>
                </c:pt>
                <c:pt idx="96">
                  <c:v>230.9423828125</c:v>
                </c:pt>
                <c:pt idx="97">
                  <c:v>230.9521484375</c:v>
                </c:pt>
                <c:pt idx="98">
                  <c:v>230.9619140625</c:v>
                </c:pt>
                <c:pt idx="99">
                  <c:v>230.9716796875</c:v>
                </c:pt>
                <c:pt idx="100">
                  <c:v>230.9814453125</c:v>
                </c:pt>
                <c:pt idx="101">
                  <c:v>230.9912109375</c:v>
                </c:pt>
                <c:pt idx="102">
                  <c:v>231.0009765625</c:v>
                </c:pt>
                <c:pt idx="103">
                  <c:v>231.0107421875</c:v>
                </c:pt>
                <c:pt idx="104">
                  <c:v>231.0205078125</c:v>
                </c:pt>
                <c:pt idx="105">
                  <c:v>231.0302734375</c:v>
                </c:pt>
                <c:pt idx="106">
                  <c:v>231.0400390625</c:v>
                </c:pt>
                <c:pt idx="107">
                  <c:v>231.0498046875</c:v>
                </c:pt>
                <c:pt idx="108">
                  <c:v>231.0595703125</c:v>
                </c:pt>
                <c:pt idx="109">
                  <c:v>231.0693359375</c:v>
                </c:pt>
                <c:pt idx="110">
                  <c:v>231.0791015625</c:v>
                </c:pt>
                <c:pt idx="111">
                  <c:v>231.0888671875</c:v>
                </c:pt>
                <c:pt idx="112">
                  <c:v>231.0986328125</c:v>
                </c:pt>
                <c:pt idx="113">
                  <c:v>231.1083984375</c:v>
                </c:pt>
                <c:pt idx="114">
                  <c:v>231.1181640625</c:v>
                </c:pt>
                <c:pt idx="115">
                  <c:v>231.1279296875</c:v>
                </c:pt>
                <c:pt idx="116">
                  <c:v>231.1376953125</c:v>
                </c:pt>
                <c:pt idx="117">
                  <c:v>231.1474609375</c:v>
                </c:pt>
                <c:pt idx="118">
                  <c:v>231.1572265625</c:v>
                </c:pt>
                <c:pt idx="119">
                  <c:v>231.1669921875</c:v>
                </c:pt>
                <c:pt idx="120">
                  <c:v>231.1767578125</c:v>
                </c:pt>
                <c:pt idx="121">
                  <c:v>231.1865234375</c:v>
                </c:pt>
                <c:pt idx="122">
                  <c:v>231.1962890625</c:v>
                </c:pt>
                <c:pt idx="123">
                  <c:v>231.2060546875</c:v>
                </c:pt>
                <c:pt idx="124">
                  <c:v>231.2158203125</c:v>
                </c:pt>
                <c:pt idx="125">
                  <c:v>231.2255859375</c:v>
                </c:pt>
                <c:pt idx="126">
                  <c:v>231.2353515625</c:v>
                </c:pt>
                <c:pt idx="127">
                  <c:v>231.2451171875</c:v>
                </c:pt>
                <c:pt idx="128">
                  <c:v>231.2548828125</c:v>
                </c:pt>
                <c:pt idx="129">
                  <c:v>231.2646484375</c:v>
                </c:pt>
                <c:pt idx="130">
                  <c:v>231.2744140625</c:v>
                </c:pt>
                <c:pt idx="131">
                  <c:v>231.2841796875</c:v>
                </c:pt>
                <c:pt idx="132">
                  <c:v>231.2939453125</c:v>
                </c:pt>
                <c:pt idx="133">
                  <c:v>231.3037109375</c:v>
                </c:pt>
                <c:pt idx="134">
                  <c:v>231.3134765625</c:v>
                </c:pt>
                <c:pt idx="135">
                  <c:v>231.3232421875</c:v>
                </c:pt>
                <c:pt idx="136">
                  <c:v>231.3330078125</c:v>
                </c:pt>
                <c:pt idx="137">
                  <c:v>231.3427734375</c:v>
                </c:pt>
                <c:pt idx="138">
                  <c:v>231.3525390625</c:v>
                </c:pt>
                <c:pt idx="139">
                  <c:v>231.3623046875</c:v>
                </c:pt>
                <c:pt idx="140">
                  <c:v>231.3720703125</c:v>
                </c:pt>
                <c:pt idx="141">
                  <c:v>231.3818359375</c:v>
                </c:pt>
                <c:pt idx="142">
                  <c:v>231.3916015625</c:v>
                </c:pt>
                <c:pt idx="143">
                  <c:v>231.4013671875</c:v>
                </c:pt>
                <c:pt idx="144">
                  <c:v>231.4111328125</c:v>
                </c:pt>
                <c:pt idx="145">
                  <c:v>231.4208984375</c:v>
                </c:pt>
                <c:pt idx="146">
                  <c:v>231.4306640625</c:v>
                </c:pt>
                <c:pt idx="147">
                  <c:v>231.4404296875</c:v>
                </c:pt>
                <c:pt idx="148">
                  <c:v>231.4501953125</c:v>
                </c:pt>
                <c:pt idx="149">
                  <c:v>231.4599609375</c:v>
                </c:pt>
                <c:pt idx="150">
                  <c:v>231.4697265625</c:v>
                </c:pt>
                <c:pt idx="151">
                  <c:v>231.4794921875</c:v>
                </c:pt>
                <c:pt idx="152">
                  <c:v>231.4892578125</c:v>
                </c:pt>
                <c:pt idx="153">
                  <c:v>231.4990234375</c:v>
                </c:pt>
                <c:pt idx="154">
                  <c:v>231.5087890625</c:v>
                </c:pt>
                <c:pt idx="155">
                  <c:v>231.5185546875</c:v>
                </c:pt>
                <c:pt idx="156">
                  <c:v>231.5283203125</c:v>
                </c:pt>
                <c:pt idx="157">
                  <c:v>231.5380859375</c:v>
                </c:pt>
                <c:pt idx="158">
                  <c:v>231.5478515625</c:v>
                </c:pt>
                <c:pt idx="159">
                  <c:v>231.5576171875</c:v>
                </c:pt>
                <c:pt idx="160">
                  <c:v>231.5673828125</c:v>
                </c:pt>
                <c:pt idx="161">
                  <c:v>231.5771484375</c:v>
                </c:pt>
                <c:pt idx="162">
                  <c:v>231.5869140625</c:v>
                </c:pt>
                <c:pt idx="163">
                  <c:v>231.5966796875</c:v>
                </c:pt>
                <c:pt idx="164">
                  <c:v>231.6064453125</c:v>
                </c:pt>
                <c:pt idx="165">
                  <c:v>231.6162109375</c:v>
                </c:pt>
                <c:pt idx="166">
                  <c:v>231.6259765625</c:v>
                </c:pt>
                <c:pt idx="167">
                  <c:v>231.6357421875</c:v>
                </c:pt>
                <c:pt idx="168">
                  <c:v>231.6455078125</c:v>
                </c:pt>
                <c:pt idx="169">
                  <c:v>231.6552734375</c:v>
                </c:pt>
                <c:pt idx="170">
                  <c:v>231.6650390625</c:v>
                </c:pt>
                <c:pt idx="171">
                  <c:v>231.6748046875</c:v>
                </c:pt>
                <c:pt idx="172">
                  <c:v>231.6845703125</c:v>
                </c:pt>
                <c:pt idx="173">
                  <c:v>231.6943359375</c:v>
                </c:pt>
                <c:pt idx="174">
                  <c:v>231.7041015625</c:v>
                </c:pt>
                <c:pt idx="175">
                  <c:v>231.7138671875</c:v>
                </c:pt>
                <c:pt idx="176">
                  <c:v>231.7236328125</c:v>
                </c:pt>
                <c:pt idx="177">
                  <c:v>231.7333984375</c:v>
                </c:pt>
                <c:pt idx="178">
                  <c:v>231.7431640625</c:v>
                </c:pt>
                <c:pt idx="179">
                  <c:v>231.7529296875</c:v>
                </c:pt>
                <c:pt idx="180">
                  <c:v>231.7626953125</c:v>
                </c:pt>
                <c:pt idx="181">
                  <c:v>231.7724609375</c:v>
                </c:pt>
                <c:pt idx="182">
                  <c:v>231.7822265625</c:v>
                </c:pt>
                <c:pt idx="183">
                  <c:v>231.7919921875</c:v>
                </c:pt>
                <c:pt idx="184">
                  <c:v>231.8017578125</c:v>
                </c:pt>
                <c:pt idx="185">
                  <c:v>231.8115234375</c:v>
                </c:pt>
                <c:pt idx="186">
                  <c:v>231.8212890625</c:v>
                </c:pt>
                <c:pt idx="187">
                  <c:v>231.8310546875</c:v>
                </c:pt>
                <c:pt idx="188">
                  <c:v>231.8408203125</c:v>
                </c:pt>
                <c:pt idx="189">
                  <c:v>231.8505859375</c:v>
                </c:pt>
                <c:pt idx="190">
                  <c:v>231.8603515625</c:v>
                </c:pt>
                <c:pt idx="191">
                  <c:v>231.8701171875</c:v>
                </c:pt>
                <c:pt idx="192">
                  <c:v>231.8798828125</c:v>
                </c:pt>
                <c:pt idx="193">
                  <c:v>231.8896484375</c:v>
                </c:pt>
                <c:pt idx="194">
                  <c:v>231.8994140625</c:v>
                </c:pt>
                <c:pt idx="195">
                  <c:v>231.9091796875</c:v>
                </c:pt>
                <c:pt idx="196">
                  <c:v>231.9189453125</c:v>
                </c:pt>
                <c:pt idx="197">
                  <c:v>231.9287109375</c:v>
                </c:pt>
                <c:pt idx="198">
                  <c:v>231.9384765625</c:v>
                </c:pt>
                <c:pt idx="199">
                  <c:v>231.9482421875</c:v>
                </c:pt>
                <c:pt idx="200">
                  <c:v>231.9580078125</c:v>
                </c:pt>
                <c:pt idx="201">
                  <c:v>231.9677734375</c:v>
                </c:pt>
                <c:pt idx="202">
                  <c:v>231.9775390625</c:v>
                </c:pt>
                <c:pt idx="203">
                  <c:v>231.9873046875</c:v>
                </c:pt>
                <c:pt idx="204">
                  <c:v>231.9970703125</c:v>
                </c:pt>
                <c:pt idx="205">
                  <c:v>232.0068359375</c:v>
                </c:pt>
                <c:pt idx="206">
                  <c:v>232.0166015625</c:v>
                </c:pt>
                <c:pt idx="207">
                  <c:v>232.0263671875</c:v>
                </c:pt>
                <c:pt idx="208">
                  <c:v>232.0361328125</c:v>
                </c:pt>
                <c:pt idx="209">
                  <c:v>232.0458984375</c:v>
                </c:pt>
                <c:pt idx="210">
                  <c:v>232.0556640625</c:v>
                </c:pt>
                <c:pt idx="211">
                  <c:v>232.0654296875</c:v>
                </c:pt>
                <c:pt idx="212">
                  <c:v>232.0751953125</c:v>
                </c:pt>
                <c:pt idx="213">
                  <c:v>232.0849609375</c:v>
                </c:pt>
                <c:pt idx="214">
                  <c:v>232.0947265625</c:v>
                </c:pt>
                <c:pt idx="215">
                  <c:v>232.1044921875</c:v>
                </c:pt>
                <c:pt idx="216">
                  <c:v>232.1142578125</c:v>
                </c:pt>
                <c:pt idx="217">
                  <c:v>232.1240234375</c:v>
                </c:pt>
                <c:pt idx="218">
                  <c:v>232.1337890625</c:v>
                </c:pt>
                <c:pt idx="219">
                  <c:v>232.1435546875</c:v>
                </c:pt>
                <c:pt idx="220">
                  <c:v>232.1533203125</c:v>
                </c:pt>
                <c:pt idx="221">
                  <c:v>232.1630859375</c:v>
                </c:pt>
                <c:pt idx="222">
                  <c:v>232.1728515625</c:v>
                </c:pt>
                <c:pt idx="223">
                  <c:v>232.1826171875</c:v>
                </c:pt>
                <c:pt idx="224">
                  <c:v>232.1923828125</c:v>
                </c:pt>
                <c:pt idx="225">
                  <c:v>232.2021484375</c:v>
                </c:pt>
                <c:pt idx="226">
                  <c:v>232.2119140625</c:v>
                </c:pt>
                <c:pt idx="227">
                  <c:v>232.2216796875</c:v>
                </c:pt>
                <c:pt idx="228">
                  <c:v>232.2314453125</c:v>
                </c:pt>
                <c:pt idx="229">
                  <c:v>232.2412109375</c:v>
                </c:pt>
                <c:pt idx="230">
                  <c:v>232.2509765625</c:v>
                </c:pt>
                <c:pt idx="231">
                  <c:v>232.2607421875</c:v>
                </c:pt>
                <c:pt idx="232">
                  <c:v>232.2705078125</c:v>
                </c:pt>
                <c:pt idx="233">
                  <c:v>232.2802734375</c:v>
                </c:pt>
                <c:pt idx="234">
                  <c:v>232.2900390625</c:v>
                </c:pt>
                <c:pt idx="235">
                  <c:v>232.2998046875</c:v>
                </c:pt>
                <c:pt idx="236">
                  <c:v>232.3095703125</c:v>
                </c:pt>
                <c:pt idx="237">
                  <c:v>232.3193359375</c:v>
                </c:pt>
                <c:pt idx="238">
                  <c:v>232.3291015625</c:v>
                </c:pt>
                <c:pt idx="239">
                  <c:v>232.3388671875</c:v>
                </c:pt>
                <c:pt idx="240">
                  <c:v>232.3486328125</c:v>
                </c:pt>
                <c:pt idx="241">
                  <c:v>232.3583984375</c:v>
                </c:pt>
                <c:pt idx="242">
                  <c:v>232.3681640625</c:v>
                </c:pt>
                <c:pt idx="243">
                  <c:v>232.3779296875</c:v>
                </c:pt>
                <c:pt idx="244">
                  <c:v>232.3876953125</c:v>
                </c:pt>
                <c:pt idx="245">
                  <c:v>232.3974609375</c:v>
                </c:pt>
                <c:pt idx="246">
                  <c:v>232.4072265625</c:v>
                </c:pt>
                <c:pt idx="247">
                  <c:v>232.4169921875</c:v>
                </c:pt>
                <c:pt idx="248">
                  <c:v>232.4267578125</c:v>
                </c:pt>
                <c:pt idx="249">
                  <c:v>232.4365234375</c:v>
                </c:pt>
                <c:pt idx="250">
                  <c:v>232.4462890625</c:v>
                </c:pt>
                <c:pt idx="251">
                  <c:v>232.4560546875</c:v>
                </c:pt>
                <c:pt idx="252">
                  <c:v>232.4658203125</c:v>
                </c:pt>
                <c:pt idx="253">
                  <c:v>232.4755859375</c:v>
                </c:pt>
                <c:pt idx="254">
                  <c:v>232.4853515625</c:v>
                </c:pt>
                <c:pt idx="255">
                  <c:v>232.4951171875</c:v>
                </c:pt>
                <c:pt idx="256">
                  <c:v>232.5048828125</c:v>
                </c:pt>
                <c:pt idx="257">
                  <c:v>232.5146484375</c:v>
                </c:pt>
                <c:pt idx="258">
                  <c:v>232.5244140625</c:v>
                </c:pt>
                <c:pt idx="259">
                  <c:v>232.5341796875</c:v>
                </c:pt>
                <c:pt idx="260">
                  <c:v>232.5439453125</c:v>
                </c:pt>
                <c:pt idx="261">
                  <c:v>232.5537109375</c:v>
                </c:pt>
                <c:pt idx="262">
                  <c:v>232.5634765625</c:v>
                </c:pt>
                <c:pt idx="263">
                  <c:v>232.5732421875</c:v>
                </c:pt>
                <c:pt idx="264">
                  <c:v>232.5830078125</c:v>
                </c:pt>
                <c:pt idx="265">
                  <c:v>232.5927734375</c:v>
                </c:pt>
                <c:pt idx="266">
                  <c:v>232.6025390625</c:v>
                </c:pt>
                <c:pt idx="267">
                  <c:v>232.6123046875</c:v>
                </c:pt>
                <c:pt idx="268">
                  <c:v>232.6220703125</c:v>
                </c:pt>
                <c:pt idx="269">
                  <c:v>232.6318359375</c:v>
                </c:pt>
                <c:pt idx="270">
                  <c:v>232.6416015625</c:v>
                </c:pt>
                <c:pt idx="271">
                  <c:v>232.6513671875</c:v>
                </c:pt>
                <c:pt idx="272">
                  <c:v>232.6611328125</c:v>
                </c:pt>
                <c:pt idx="273">
                  <c:v>232.6708984375</c:v>
                </c:pt>
                <c:pt idx="274">
                  <c:v>232.6806640625</c:v>
                </c:pt>
                <c:pt idx="275">
                  <c:v>232.6904296875</c:v>
                </c:pt>
                <c:pt idx="276">
                  <c:v>232.7001953125</c:v>
                </c:pt>
                <c:pt idx="277">
                  <c:v>232.7099609375</c:v>
                </c:pt>
                <c:pt idx="278">
                  <c:v>232.7197265625</c:v>
                </c:pt>
                <c:pt idx="279">
                  <c:v>232.7294921875</c:v>
                </c:pt>
                <c:pt idx="280">
                  <c:v>232.7392578125</c:v>
                </c:pt>
                <c:pt idx="281">
                  <c:v>232.7490234375</c:v>
                </c:pt>
                <c:pt idx="282">
                  <c:v>232.7587890625</c:v>
                </c:pt>
                <c:pt idx="283">
                  <c:v>232.7685546875</c:v>
                </c:pt>
                <c:pt idx="284">
                  <c:v>232.7783203125</c:v>
                </c:pt>
                <c:pt idx="285">
                  <c:v>232.7880859375</c:v>
                </c:pt>
                <c:pt idx="286">
                  <c:v>232.7978515625</c:v>
                </c:pt>
                <c:pt idx="287">
                  <c:v>232.8076171875</c:v>
                </c:pt>
                <c:pt idx="288">
                  <c:v>232.8173828125</c:v>
                </c:pt>
                <c:pt idx="289">
                  <c:v>232.8271484375</c:v>
                </c:pt>
                <c:pt idx="290">
                  <c:v>232.8369140625</c:v>
                </c:pt>
                <c:pt idx="291">
                  <c:v>232.8466796875</c:v>
                </c:pt>
                <c:pt idx="292">
                  <c:v>232.8564453125</c:v>
                </c:pt>
                <c:pt idx="293">
                  <c:v>232.8662109375</c:v>
                </c:pt>
                <c:pt idx="294">
                  <c:v>232.8759765625</c:v>
                </c:pt>
                <c:pt idx="295">
                  <c:v>232.8857421875</c:v>
                </c:pt>
                <c:pt idx="296">
                  <c:v>232.8955078125</c:v>
                </c:pt>
                <c:pt idx="297">
                  <c:v>232.9052734375</c:v>
                </c:pt>
                <c:pt idx="298">
                  <c:v>232.9150390625</c:v>
                </c:pt>
                <c:pt idx="299">
                  <c:v>232.9248046875</c:v>
                </c:pt>
                <c:pt idx="300">
                  <c:v>232.9345703125</c:v>
                </c:pt>
                <c:pt idx="301">
                  <c:v>232.9443359375</c:v>
                </c:pt>
                <c:pt idx="302">
                  <c:v>232.9541015625</c:v>
                </c:pt>
                <c:pt idx="303">
                  <c:v>232.9638671875</c:v>
                </c:pt>
                <c:pt idx="304">
                  <c:v>232.9736328125</c:v>
                </c:pt>
                <c:pt idx="305">
                  <c:v>232.9833984375</c:v>
                </c:pt>
                <c:pt idx="306">
                  <c:v>232.9931640625</c:v>
                </c:pt>
                <c:pt idx="307">
                  <c:v>233.0029296875</c:v>
                </c:pt>
                <c:pt idx="308">
                  <c:v>233.0126953125</c:v>
                </c:pt>
                <c:pt idx="309">
                  <c:v>233.0224609375</c:v>
                </c:pt>
                <c:pt idx="310">
                  <c:v>233.0322265625</c:v>
                </c:pt>
                <c:pt idx="311">
                  <c:v>233.0419921875</c:v>
                </c:pt>
                <c:pt idx="312">
                  <c:v>233.0517578125</c:v>
                </c:pt>
                <c:pt idx="313">
                  <c:v>233.0615234375</c:v>
                </c:pt>
                <c:pt idx="314">
                  <c:v>233.0712890625</c:v>
                </c:pt>
                <c:pt idx="315">
                  <c:v>233.0810546875</c:v>
                </c:pt>
                <c:pt idx="316">
                  <c:v>233.0908203125</c:v>
                </c:pt>
                <c:pt idx="317">
                  <c:v>233.1005859375</c:v>
                </c:pt>
                <c:pt idx="318">
                  <c:v>233.1103515625</c:v>
                </c:pt>
                <c:pt idx="319">
                  <c:v>233.1201171875</c:v>
                </c:pt>
                <c:pt idx="320">
                  <c:v>233.1298828125</c:v>
                </c:pt>
                <c:pt idx="321">
                  <c:v>233.1396484375</c:v>
                </c:pt>
                <c:pt idx="322">
                  <c:v>233.1494140625</c:v>
                </c:pt>
                <c:pt idx="323">
                  <c:v>233.1591796875</c:v>
                </c:pt>
                <c:pt idx="324">
                  <c:v>233.1689453125</c:v>
                </c:pt>
                <c:pt idx="325">
                  <c:v>233.1787109375</c:v>
                </c:pt>
                <c:pt idx="326">
                  <c:v>233.1884765625</c:v>
                </c:pt>
                <c:pt idx="327">
                  <c:v>233.1982421875</c:v>
                </c:pt>
                <c:pt idx="328">
                  <c:v>233.2080078125</c:v>
                </c:pt>
                <c:pt idx="329">
                  <c:v>233.2177734375</c:v>
                </c:pt>
                <c:pt idx="330">
                  <c:v>233.2275390625</c:v>
                </c:pt>
                <c:pt idx="331">
                  <c:v>233.2373046875</c:v>
                </c:pt>
                <c:pt idx="332">
                  <c:v>233.2470703125</c:v>
                </c:pt>
                <c:pt idx="333">
                  <c:v>233.2568359375</c:v>
                </c:pt>
                <c:pt idx="334">
                  <c:v>233.2666015625</c:v>
                </c:pt>
                <c:pt idx="335">
                  <c:v>233.2763671875</c:v>
                </c:pt>
                <c:pt idx="336">
                  <c:v>233.2861328125</c:v>
                </c:pt>
                <c:pt idx="337">
                  <c:v>233.2958984375</c:v>
                </c:pt>
                <c:pt idx="338">
                  <c:v>233.3056640625</c:v>
                </c:pt>
                <c:pt idx="339">
                  <c:v>233.3154296875</c:v>
                </c:pt>
                <c:pt idx="340">
                  <c:v>233.3251953125</c:v>
                </c:pt>
                <c:pt idx="341">
                  <c:v>233.3349609375</c:v>
                </c:pt>
                <c:pt idx="342">
                  <c:v>233.3447265625</c:v>
                </c:pt>
                <c:pt idx="343">
                  <c:v>233.3544921875</c:v>
                </c:pt>
                <c:pt idx="344">
                  <c:v>233.3642578125</c:v>
                </c:pt>
                <c:pt idx="345">
                  <c:v>233.3740234375</c:v>
                </c:pt>
                <c:pt idx="346">
                  <c:v>233.3837890625</c:v>
                </c:pt>
                <c:pt idx="347">
                  <c:v>233.3935546875</c:v>
                </c:pt>
                <c:pt idx="348">
                  <c:v>233.4033203125</c:v>
                </c:pt>
                <c:pt idx="349">
                  <c:v>233.4130859375</c:v>
                </c:pt>
                <c:pt idx="350">
                  <c:v>233.4228515625</c:v>
                </c:pt>
                <c:pt idx="351">
                  <c:v>233.4326171875</c:v>
                </c:pt>
                <c:pt idx="352">
                  <c:v>233.4423828125</c:v>
                </c:pt>
                <c:pt idx="353">
                  <c:v>233.4521484375</c:v>
                </c:pt>
                <c:pt idx="354">
                  <c:v>233.4619140625</c:v>
                </c:pt>
                <c:pt idx="355">
                  <c:v>233.4716796875</c:v>
                </c:pt>
                <c:pt idx="356">
                  <c:v>233.4814453125</c:v>
                </c:pt>
                <c:pt idx="357">
                  <c:v>233.4912109375</c:v>
                </c:pt>
                <c:pt idx="358">
                  <c:v>233.5009765625</c:v>
                </c:pt>
                <c:pt idx="359">
                  <c:v>233.5107421875</c:v>
                </c:pt>
                <c:pt idx="360">
                  <c:v>233.5205078125</c:v>
                </c:pt>
                <c:pt idx="361">
                  <c:v>233.5302734375</c:v>
                </c:pt>
                <c:pt idx="362">
                  <c:v>233.5400390625</c:v>
                </c:pt>
                <c:pt idx="363">
                  <c:v>233.5498046875</c:v>
                </c:pt>
                <c:pt idx="364">
                  <c:v>233.5595703125</c:v>
                </c:pt>
                <c:pt idx="365">
                  <c:v>233.5693359375</c:v>
                </c:pt>
                <c:pt idx="366">
                  <c:v>233.5791015625</c:v>
                </c:pt>
                <c:pt idx="367">
                  <c:v>233.5888671875</c:v>
                </c:pt>
                <c:pt idx="368">
                  <c:v>233.5986328125</c:v>
                </c:pt>
                <c:pt idx="369">
                  <c:v>233.6083984375</c:v>
                </c:pt>
                <c:pt idx="370">
                  <c:v>233.6181640625</c:v>
                </c:pt>
                <c:pt idx="371">
                  <c:v>233.6279296875</c:v>
                </c:pt>
                <c:pt idx="372">
                  <c:v>233.6376953125</c:v>
                </c:pt>
                <c:pt idx="373">
                  <c:v>233.6474609375</c:v>
                </c:pt>
                <c:pt idx="374">
                  <c:v>233.6572265625</c:v>
                </c:pt>
                <c:pt idx="375">
                  <c:v>233.6669921875</c:v>
                </c:pt>
                <c:pt idx="376">
                  <c:v>233.6767578125</c:v>
                </c:pt>
                <c:pt idx="377">
                  <c:v>233.6865234375</c:v>
                </c:pt>
                <c:pt idx="378">
                  <c:v>233.6962890625</c:v>
                </c:pt>
                <c:pt idx="379">
                  <c:v>233.7060546875</c:v>
                </c:pt>
                <c:pt idx="380">
                  <c:v>233.7158203125</c:v>
                </c:pt>
                <c:pt idx="381">
                  <c:v>233.7255859375</c:v>
                </c:pt>
                <c:pt idx="382">
                  <c:v>233.7353515625</c:v>
                </c:pt>
                <c:pt idx="383">
                  <c:v>233.7451171875</c:v>
                </c:pt>
                <c:pt idx="384">
                  <c:v>233.7548828125</c:v>
                </c:pt>
                <c:pt idx="385">
                  <c:v>233.7646484375</c:v>
                </c:pt>
                <c:pt idx="386">
                  <c:v>233.7744140625</c:v>
                </c:pt>
                <c:pt idx="387">
                  <c:v>233.7841796875</c:v>
                </c:pt>
                <c:pt idx="388">
                  <c:v>233.7939453125</c:v>
                </c:pt>
                <c:pt idx="389">
                  <c:v>233.8037109375</c:v>
                </c:pt>
                <c:pt idx="390">
                  <c:v>233.8134765625</c:v>
                </c:pt>
                <c:pt idx="391">
                  <c:v>233.8232421875</c:v>
                </c:pt>
                <c:pt idx="392">
                  <c:v>233.8330078125</c:v>
                </c:pt>
                <c:pt idx="393">
                  <c:v>233.8427734375</c:v>
                </c:pt>
                <c:pt idx="394">
                  <c:v>233.8525390625</c:v>
                </c:pt>
                <c:pt idx="395">
                  <c:v>233.8623046875</c:v>
                </c:pt>
                <c:pt idx="396">
                  <c:v>233.8720703125</c:v>
                </c:pt>
                <c:pt idx="397">
                  <c:v>233.8818359375</c:v>
                </c:pt>
                <c:pt idx="398">
                  <c:v>233.8916015625</c:v>
                </c:pt>
                <c:pt idx="399">
                  <c:v>233.9013671875</c:v>
                </c:pt>
                <c:pt idx="400">
                  <c:v>233.9111328125</c:v>
                </c:pt>
                <c:pt idx="401">
                  <c:v>233.9208984375</c:v>
                </c:pt>
                <c:pt idx="402">
                  <c:v>233.9306640625</c:v>
                </c:pt>
                <c:pt idx="403">
                  <c:v>233.9404296875</c:v>
                </c:pt>
                <c:pt idx="404">
                  <c:v>233.9501953125</c:v>
                </c:pt>
                <c:pt idx="405">
                  <c:v>233.9599609375</c:v>
                </c:pt>
                <c:pt idx="406">
                  <c:v>233.9697265625</c:v>
                </c:pt>
                <c:pt idx="407">
                  <c:v>233.9794921875</c:v>
                </c:pt>
                <c:pt idx="408">
                  <c:v>233.9892578125</c:v>
                </c:pt>
                <c:pt idx="409">
                  <c:v>233.9990234375</c:v>
                </c:pt>
                <c:pt idx="410">
                  <c:v>234.0087890625</c:v>
                </c:pt>
                <c:pt idx="411">
                  <c:v>234.0185546875</c:v>
                </c:pt>
                <c:pt idx="412">
                  <c:v>234.0283203125</c:v>
                </c:pt>
                <c:pt idx="413">
                  <c:v>234.0380859375</c:v>
                </c:pt>
                <c:pt idx="414">
                  <c:v>234.0478515625</c:v>
                </c:pt>
                <c:pt idx="415">
                  <c:v>234.0576171875</c:v>
                </c:pt>
                <c:pt idx="416">
                  <c:v>234.0673828125</c:v>
                </c:pt>
                <c:pt idx="417">
                  <c:v>234.0771484375</c:v>
                </c:pt>
                <c:pt idx="418">
                  <c:v>234.0869140625</c:v>
                </c:pt>
                <c:pt idx="419">
                  <c:v>234.0966796875</c:v>
                </c:pt>
                <c:pt idx="420">
                  <c:v>234.1064453125</c:v>
                </c:pt>
                <c:pt idx="421">
                  <c:v>234.1162109375</c:v>
                </c:pt>
                <c:pt idx="422">
                  <c:v>234.1259765625</c:v>
                </c:pt>
                <c:pt idx="423">
                  <c:v>234.1357421875</c:v>
                </c:pt>
                <c:pt idx="424">
                  <c:v>234.1455078125</c:v>
                </c:pt>
                <c:pt idx="425">
                  <c:v>234.1552734375</c:v>
                </c:pt>
                <c:pt idx="426">
                  <c:v>234.1650390625</c:v>
                </c:pt>
                <c:pt idx="427">
                  <c:v>234.1748046875</c:v>
                </c:pt>
                <c:pt idx="428">
                  <c:v>234.1845703125</c:v>
                </c:pt>
                <c:pt idx="429">
                  <c:v>234.1943359375</c:v>
                </c:pt>
                <c:pt idx="430">
                  <c:v>234.2041015625</c:v>
                </c:pt>
                <c:pt idx="431">
                  <c:v>234.2138671875</c:v>
                </c:pt>
                <c:pt idx="432">
                  <c:v>234.2236328125</c:v>
                </c:pt>
                <c:pt idx="433">
                  <c:v>234.2333984375</c:v>
                </c:pt>
                <c:pt idx="434">
                  <c:v>234.2431640625</c:v>
                </c:pt>
                <c:pt idx="435">
                  <c:v>234.2529296875</c:v>
                </c:pt>
                <c:pt idx="436">
                  <c:v>234.2626953125</c:v>
                </c:pt>
                <c:pt idx="437">
                  <c:v>234.2724609375</c:v>
                </c:pt>
                <c:pt idx="438">
                  <c:v>234.2822265625</c:v>
                </c:pt>
                <c:pt idx="439">
                  <c:v>234.2919921875</c:v>
                </c:pt>
                <c:pt idx="440">
                  <c:v>234.3017578125</c:v>
                </c:pt>
                <c:pt idx="441">
                  <c:v>234.3115234375</c:v>
                </c:pt>
                <c:pt idx="442">
                  <c:v>234.3212890625</c:v>
                </c:pt>
                <c:pt idx="443">
                  <c:v>234.3310546875</c:v>
                </c:pt>
                <c:pt idx="444">
                  <c:v>234.3408203125</c:v>
                </c:pt>
                <c:pt idx="445">
                  <c:v>234.3505859375</c:v>
                </c:pt>
                <c:pt idx="446">
                  <c:v>234.3603515625</c:v>
                </c:pt>
                <c:pt idx="447">
                  <c:v>234.3701171875</c:v>
                </c:pt>
                <c:pt idx="448">
                  <c:v>234.3798828125</c:v>
                </c:pt>
                <c:pt idx="449">
                  <c:v>234.3896484375</c:v>
                </c:pt>
                <c:pt idx="450">
                  <c:v>234.3994140625</c:v>
                </c:pt>
                <c:pt idx="451">
                  <c:v>234.4091796875</c:v>
                </c:pt>
                <c:pt idx="452">
                  <c:v>234.4189453125</c:v>
                </c:pt>
                <c:pt idx="453">
                  <c:v>234.4287109375</c:v>
                </c:pt>
                <c:pt idx="454">
                  <c:v>234.4384765625</c:v>
                </c:pt>
                <c:pt idx="455">
                  <c:v>234.4482421875</c:v>
                </c:pt>
                <c:pt idx="456">
                  <c:v>234.4580078125</c:v>
                </c:pt>
                <c:pt idx="457">
                  <c:v>234.4677734375</c:v>
                </c:pt>
                <c:pt idx="458">
                  <c:v>234.4775390625</c:v>
                </c:pt>
                <c:pt idx="459">
                  <c:v>234.4873046875</c:v>
                </c:pt>
                <c:pt idx="460">
                  <c:v>234.4970703125</c:v>
                </c:pt>
                <c:pt idx="461">
                  <c:v>234.5068359375</c:v>
                </c:pt>
                <c:pt idx="462">
                  <c:v>234.5166015625</c:v>
                </c:pt>
                <c:pt idx="463">
                  <c:v>234.5263671875</c:v>
                </c:pt>
                <c:pt idx="464">
                  <c:v>234.5361328125</c:v>
                </c:pt>
                <c:pt idx="465">
                  <c:v>234.5458984375</c:v>
                </c:pt>
                <c:pt idx="466">
                  <c:v>234.5556640625</c:v>
                </c:pt>
                <c:pt idx="467">
                  <c:v>234.5654296875</c:v>
                </c:pt>
                <c:pt idx="468">
                  <c:v>234.5751953125</c:v>
                </c:pt>
                <c:pt idx="469">
                  <c:v>234.5849609375</c:v>
                </c:pt>
                <c:pt idx="470">
                  <c:v>234.5947265625</c:v>
                </c:pt>
                <c:pt idx="471">
                  <c:v>234.6044921875</c:v>
                </c:pt>
                <c:pt idx="472">
                  <c:v>234.6142578125</c:v>
                </c:pt>
                <c:pt idx="473">
                  <c:v>234.6240234375</c:v>
                </c:pt>
                <c:pt idx="474">
                  <c:v>234.6337890625</c:v>
                </c:pt>
                <c:pt idx="475">
                  <c:v>234.6435546875</c:v>
                </c:pt>
                <c:pt idx="476">
                  <c:v>234.6533203125</c:v>
                </c:pt>
                <c:pt idx="477">
                  <c:v>234.6630859375</c:v>
                </c:pt>
                <c:pt idx="478">
                  <c:v>234.6728515625</c:v>
                </c:pt>
                <c:pt idx="479">
                  <c:v>234.6826171875</c:v>
                </c:pt>
                <c:pt idx="480">
                  <c:v>234.6923828125</c:v>
                </c:pt>
                <c:pt idx="481">
                  <c:v>234.7021484375</c:v>
                </c:pt>
                <c:pt idx="482">
                  <c:v>234.7119140625</c:v>
                </c:pt>
                <c:pt idx="483">
                  <c:v>234.7216796875</c:v>
                </c:pt>
                <c:pt idx="484">
                  <c:v>234.7314453125</c:v>
                </c:pt>
                <c:pt idx="485">
                  <c:v>234.7412109375</c:v>
                </c:pt>
                <c:pt idx="486">
                  <c:v>234.7509765625</c:v>
                </c:pt>
                <c:pt idx="487">
                  <c:v>234.7607421875</c:v>
                </c:pt>
                <c:pt idx="488">
                  <c:v>234.7705078125</c:v>
                </c:pt>
                <c:pt idx="489">
                  <c:v>234.7802734375</c:v>
                </c:pt>
                <c:pt idx="490">
                  <c:v>234.7900390625</c:v>
                </c:pt>
                <c:pt idx="491">
                  <c:v>234.7998046875</c:v>
                </c:pt>
                <c:pt idx="492">
                  <c:v>234.8095703125</c:v>
                </c:pt>
                <c:pt idx="493">
                  <c:v>234.8193359375</c:v>
                </c:pt>
                <c:pt idx="494">
                  <c:v>234.8291015625</c:v>
                </c:pt>
                <c:pt idx="495">
                  <c:v>234.8388671875</c:v>
                </c:pt>
                <c:pt idx="496">
                  <c:v>234.8486328125</c:v>
                </c:pt>
                <c:pt idx="497">
                  <c:v>234.8583984375</c:v>
                </c:pt>
                <c:pt idx="498">
                  <c:v>234.8681640625</c:v>
                </c:pt>
                <c:pt idx="499">
                  <c:v>234.8779296875</c:v>
                </c:pt>
                <c:pt idx="500">
                  <c:v>234.8876953125</c:v>
                </c:pt>
                <c:pt idx="501">
                  <c:v>234.8974609375</c:v>
                </c:pt>
                <c:pt idx="502">
                  <c:v>234.9072265625</c:v>
                </c:pt>
                <c:pt idx="503">
                  <c:v>234.9169921875</c:v>
                </c:pt>
                <c:pt idx="504">
                  <c:v>234.9267578125</c:v>
                </c:pt>
                <c:pt idx="505">
                  <c:v>234.9365234375</c:v>
                </c:pt>
                <c:pt idx="506">
                  <c:v>234.9462890625</c:v>
                </c:pt>
                <c:pt idx="507">
                  <c:v>234.9560546875</c:v>
                </c:pt>
                <c:pt idx="508">
                  <c:v>234.9658203125</c:v>
                </c:pt>
                <c:pt idx="509">
                  <c:v>234.9755859375</c:v>
                </c:pt>
                <c:pt idx="510">
                  <c:v>234.9853515625</c:v>
                </c:pt>
                <c:pt idx="511">
                  <c:v>234.9951171875</c:v>
                </c:pt>
                <c:pt idx="512">
                  <c:v>235.0048828125</c:v>
                </c:pt>
                <c:pt idx="513">
                  <c:v>235.0146484375</c:v>
                </c:pt>
                <c:pt idx="514">
                  <c:v>235.0244140625</c:v>
                </c:pt>
                <c:pt idx="515">
                  <c:v>235.0341796875</c:v>
                </c:pt>
                <c:pt idx="516">
                  <c:v>235.0439453125</c:v>
                </c:pt>
                <c:pt idx="517">
                  <c:v>235.0537109375</c:v>
                </c:pt>
                <c:pt idx="518">
                  <c:v>235.0634765625</c:v>
                </c:pt>
                <c:pt idx="519">
                  <c:v>235.0732421875</c:v>
                </c:pt>
                <c:pt idx="520">
                  <c:v>235.0830078125</c:v>
                </c:pt>
                <c:pt idx="521">
                  <c:v>235.0927734375</c:v>
                </c:pt>
                <c:pt idx="522">
                  <c:v>235.1025390625</c:v>
                </c:pt>
                <c:pt idx="523">
                  <c:v>235.1123046875</c:v>
                </c:pt>
                <c:pt idx="524">
                  <c:v>235.1220703125</c:v>
                </c:pt>
                <c:pt idx="525">
                  <c:v>235.1318359375</c:v>
                </c:pt>
                <c:pt idx="526">
                  <c:v>235.1416015625</c:v>
                </c:pt>
                <c:pt idx="527">
                  <c:v>235.1513671875</c:v>
                </c:pt>
                <c:pt idx="528">
                  <c:v>235.1611328125</c:v>
                </c:pt>
                <c:pt idx="529">
                  <c:v>235.1708984375</c:v>
                </c:pt>
                <c:pt idx="530">
                  <c:v>235.1806640625</c:v>
                </c:pt>
                <c:pt idx="531">
                  <c:v>235.1904296875</c:v>
                </c:pt>
                <c:pt idx="532">
                  <c:v>235.2001953125</c:v>
                </c:pt>
                <c:pt idx="533">
                  <c:v>235.2099609375</c:v>
                </c:pt>
                <c:pt idx="534">
                  <c:v>235.2197265625</c:v>
                </c:pt>
                <c:pt idx="535">
                  <c:v>235.2294921875</c:v>
                </c:pt>
                <c:pt idx="536">
                  <c:v>235.2392578125</c:v>
                </c:pt>
                <c:pt idx="537">
                  <c:v>235.2490234375</c:v>
                </c:pt>
                <c:pt idx="538">
                  <c:v>235.2587890625</c:v>
                </c:pt>
                <c:pt idx="539">
                  <c:v>235.2685546875</c:v>
                </c:pt>
                <c:pt idx="540">
                  <c:v>235.2783203125</c:v>
                </c:pt>
                <c:pt idx="541">
                  <c:v>235.2880859375</c:v>
                </c:pt>
                <c:pt idx="542">
                  <c:v>235.2978515625</c:v>
                </c:pt>
                <c:pt idx="543">
                  <c:v>235.3076171875</c:v>
                </c:pt>
                <c:pt idx="544">
                  <c:v>235.3173828125</c:v>
                </c:pt>
                <c:pt idx="545">
                  <c:v>235.3271484375</c:v>
                </c:pt>
                <c:pt idx="546">
                  <c:v>235.3369140625</c:v>
                </c:pt>
                <c:pt idx="547">
                  <c:v>235.3466796875</c:v>
                </c:pt>
                <c:pt idx="548">
                  <c:v>235.3564453125</c:v>
                </c:pt>
                <c:pt idx="549">
                  <c:v>235.3662109375</c:v>
                </c:pt>
                <c:pt idx="550">
                  <c:v>235.3759765625</c:v>
                </c:pt>
                <c:pt idx="551">
                  <c:v>235.3857421875</c:v>
                </c:pt>
                <c:pt idx="552">
                  <c:v>235.3955078125</c:v>
                </c:pt>
                <c:pt idx="553">
                  <c:v>235.4052734375</c:v>
                </c:pt>
                <c:pt idx="554">
                  <c:v>235.4150390625</c:v>
                </c:pt>
                <c:pt idx="555">
                  <c:v>235.4248046875</c:v>
                </c:pt>
                <c:pt idx="556">
                  <c:v>235.4345703125</c:v>
                </c:pt>
                <c:pt idx="557">
                  <c:v>235.4443359375</c:v>
                </c:pt>
                <c:pt idx="558">
                  <c:v>235.4541015625</c:v>
                </c:pt>
                <c:pt idx="559">
                  <c:v>235.4638671875</c:v>
                </c:pt>
                <c:pt idx="560">
                  <c:v>235.4736328125</c:v>
                </c:pt>
                <c:pt idx="561">
                  <c:v>235.4833984375</c:v>
                </c:pt>
                <c:pt idx="562">
                  <c:v>235.4931640625</c:v>
                </c:pt>
                <c:pt idx="563">
                  <c:v>235.5029296875</c:v>
                </c:pt>
                <c:pt idx="564">
                  <c:v>235.5126953125</c:v>
                </c:pt>
                <c:pt idx="565">
                  <c:v>235.5224609375</c:v>
                </c:pt>
                <c:pt idx="566">
                  <c:v>235.5322265625</c:v>
                </c:pt>
                <c:pt idx="567">
                  <c:v>235.5419921875</c:v>
                </c:pt>
                <c:pt idx="568">
                  <c:v>235.5517578125</c:v>
                </c:pt>
                <c:pt idx="569">
                  <c:v>235.5615234375</c:v>
                </c:pt>
                <c:pt idx="570">
                  <c:v>235.5712890625</c:v>
                </c:pt>
                <c:pt idx="571">
                  <c:v>235.5810546875</c:v>
                </c:pt>
                <c:pt idx="572">
                  <c:v>235.5908203125</c:v>
                </c:pt>
                <c:pt idx="573">
                  <c:v>235.6005859375</c:v>
                </c:pt>
                <c:pt idx="574">
                  <c:v>235.6103515625</c:v>
                </c:pt>
                <c:pt idx="575">
                  <c:v>235.6201171875</c:v>
                </c:pt>
                <c:pt idx="576">
                  <c:v>235.6298828125</c:v>
                </c:pt>
                <c:pt idx="577">
                  <c:v>235.6396484375</c:v>
                </c:pt>
                <c:pt idx="578">
                  <c:v>235.6494140625</c:v>
                </c:pt>
                <c:pt idx="579">
                  <c:v>235.6591796875</c:v>
                </c:pt>
                <c:pt idx="580">
                  <c:v>235.6689453125</c:v>
                </c:pt>
                <c:pt idx="581">
                  <c:v>235.6787109375</c:v>
                </c:pt>
                <c:pt idx="582">
                  <c:v>235.6884765625</c:v>
                </c:pt>
                <c:pt idx="583">
                  <c:v>235.6982421875</c:v>
                </c:pt>
                <c:pt idx="584">
                  <c:v>235.7080078125</c:v>
                </c:pt>
                <c:pt idx="585">
                  <c:v>235.7177734375</c:v>
                </c:pt>
                <c:pt idx="586">
                  <c:v>235.7275390625</c:v>
                </c:pt>
                <c:pt idx="587">
                  <c:v>235.7373046875</c:v>
                </c:pt>
                <c:pt idx="588">
                  <c:v>235.7470703125</c:v>
                </c:pt>
                <c:pt idx="589">
                  <c:v>235.7568359375</c:v>
                </c:pt>
                <c:pt idx="590">
                  <c:v>235.7666015625</c:v>
                </c:pt>
                <c:pt idx="591">
                  <c:v>235.7763671875</c:v>
                </c:pt>
                <c:pt idx="592">
                  <c:v>235.7861328125</c:v>
                </c:pt>
                <c:pt idx="593">
                  <c:v>235.7958984375</c:v>
                </c:pt>
                <c:pt idx="594">
                  <c:v>235.8056640625</c:v>
                </c:pt>
                <c:pt idx="595">
                  <c:v>235.8154296875</c:v>
                </c:pt>
                <c:pt idx="596">
                  <c:v>235.8251953125</c:v>
                </c:pt>
                <c:pt idx="597">
                  <c:v>235.8349609375</c:v>
                </c:pt>
                <c:pt idx="598">
                  <c:v>235.8447265625</c:v>
                </c:pt>
                <c:pt idx="599">
                  <c:v>235.8544921875</c:v>
                </c:pt>
                <c:pt idx="600">
                  <c:v>235.8642578125</c:v>
                </c:pt>
                <c:pt idx="601">
                  <c:v>235.8740234375</c:v>
                </c:pt>
                <c:pt idx="602">
                  <c:v>235.8837890625</c:v>
                </c:pt>
                <c:pt idx="603">
                  <c:v>235.8935546875</c:v>
                </c:pt>
                <c:pt idx="604">
                  <c:v>235.9033203125</c:v>
                </c:pt>
                <c:pt idx="605">
                  <c:v>235.9130859375</c:v>
                </c:pt>
                <c:pt idx="606">
                  <c:v>235.9228515625</c:v>
                </c:pt>
                <c:pt idx="607">
                  <c:v>235.9326171875</c:v>
                </c:pt>
                <c:pt idx="608">
                  <c:v>235.9423828125</c:v>
                </c:pt>
                <c:pt idx="609">
                  <c:v>235.9521484375</c:v>
                </c:pt>
                <c:pt idx="610">
                  <c:v>235.9619140625</c:v>
                </c:pt>
                <c:pt idx="611">
                  <c:v>235.9716796875</c:v>
                </c:pt>
                <c:pt idx="612">
                  <c:v>235.9814453125</c:v>
                </c:pt>
                <c:pt idx="613">
                  <c:v>235.9912109375</c:v>
                </c:pt>
                <c:pt idx="614">
                  <c:v>236.0009765625</c:v>
                </c:pt>
                <c:pt idx="615">
                  <c:v>236.0107421875</c:v>
                </c:pt>
                <c:pt idx="616">
                  <c:v>236.0205078125</c:v>
                </c:pt>
                <c:pt idx="617">
                  <c:v>236.0302734375</c:v>
                </c:pt>
                <c:pt idx="618">
                  <c:v>236.0400390625</c:v>
                </c:pt>
                <c:pt idx="619">
                  <c:v>236.0498046875</c:v>
                </c:pt>
                <c:pt idx="620">
                  <c:v>236.0595703125</c:v>
                </c:pt>
                <c:pt idx="621">
                  <c:v>236.0693359375</c:v>
                </c:pt>
                <c:pt idx="622">
                  <c:v>236.0791015625</c:v>
                </c:pt>
                <c:pt idx="623">
                  <c:v>236.0888671875</c:v>
                </c:pt>
                <c:pt idx="624">
                  <c:v>236.0986328125</c:v>
                </c:pt>
                <c:pt idx="625">
                  <c:v>236.1083984375</c:v>
                </c:pt>
                <c:pt idx="626">
                  <c:v>236.1181640625</c:v>
                </c:pt>
                <c:pt idx="627">
                  <c:v>236.1279296875</c:v>
                </c:pt>
                <c:pt idx="628">
                  <c:v>236.1376953125</c:v>
                </c:pt>
                <c:pt idx="629">
                  <c:v>236.1474609375</c:v>
                </c:pt>
                <c:pt idx="630">
                  <c:v>236.1572265625</c:v>
                </c:pt>
                <c:pt idx="631">
                  <c:v>236.1669921875</c:v>
                </c:pt>
                <c:pt idx="632">
                  <c:v>236.1767578125</c:v>
                </c:pt>
                <c:pt idx="633">
                  <c:v>236.1865234375</c:v>
                </c:pt>
                <c:pt idx="634">
                  <c:v>236.1962890625</c:v>
                </c:pt>
                <c:pt idx="635">
                  <c:v>236.2060546875</c:v>
                </c:pt>
                <c:pt idx="636">
                  <c:v>236.2158203125</c:v>
                </c:pt>
                <c:pt idx="637">
                  <c:v>236.2255859375</c:v>
                </c:pt>
                <c:pt idx="638">
                  <c:v>236.2353515625</c:v>
                </c:pt>
                <c:pt idx="639">
                  <c:v>236.2451171875</c:v>
                </c:pt>
                <c:pt idx="640">
                  <c:v>236.2548828125</c:v>
                </c:pt>
                <c:pt idx="641">
                  <c:v>236.2646484375</c:v>
                </c:pt>
                <c:pt idx="642">
                  <c:v>236.2744140625</c:v>
                </c:pt>
                <c:pt idx="643">
                  <c:v>236.2841796875</c:v>
                </c:pt>
                <c:pt idx="644">
                  <c:v>236.2939453125</c:v>
                </c:pt>
                <c:pt idx="645">
                  <c:v>236.3037109375</c:v>
                </c:pt>
                <c:pt idx="646">
                  <c:v>236.3134765625</c:v>
                </c:pt>
                <c:pt idx="647">
                  <c:v>236.3232421875</c:v>
                </c:pt>
                <c:pt idx="648">
                  <c:v>236.3330078125</c:v>
                </c:pt>
                <c:pt idx="649">
                  <c:v>236.3427734375</c:v>
                </c:pt>
                <c:pt idx="650">
                  <c:v>236.3525390625</c:v>
                </c:pt>
                <c:pt idx="651">
                  <c:v>236.3623046875</c:v>
                </c:pt>
                <c:pt idx="652">
                  <c:v>236.3720703125</c:v>
                </c:pt>
                <c:pt idx="653">
                  <c:v>236.3818359375</c:v>
                </c:pt>
                <c:pt idx="654">
                  <c:v>236.3916015625</c:v>
                </c:pt>
                <c:pt idx="655">
                  <c:v>236.4013671875</c:v>
                </c:pt>
                <c:pt idx="656">
                  <c:v>236.4111328125</c:v>
                </c:pt>
                <c:pt idx="657">
                  <c:v>236.4208984375</c:v>
                </c:pt>
                <c:pt idx="658">
                  <c:v>236.4306640625</c:v>
                </c:pt>
                <c:pt idx="659">
                  <c:v>236.4404296875</c:v>
                </c:pt>
                <c:pt idx="660">
                  <c:v>236.4501953125</c:v>
                </c:pt>
                <c:pt idx="661">
                  <c:v>236.4599609375</c:v>
                </c:pt>
                <c:pt idx="662">
                  <c:v>236.4697265625</c:v>
                </c:pt>
                <c:pt idx="663">
                  <c:v>236.4794921875</c:v>
                </c:pt>
                <c:pt idx="664">
                  <c:v>236.4892578125</c:v>
                </c:pt>
                <c:pt idx="665">
                  <c:v>236.4990234375</c:v>
                </c:pt>
                <c:pt idx="666">
                  <c:v>236.5087890625</c:v>
                </c:pt>
                <c:pt idx="667">
                  <c:v>236.5185546875</c:v>
                </c:pt>
                <c:pt idx="668">
                  <c:v>236.5283203125</c:v>
                </c:pt>
                <c:pt idx="669">
                  <c:v>236.5380859375</c:v>
                </c:pt>
                <c:pt idx="670">
                  <c:v>236.5478515625</c:v>
                </c:pt>
                <c:pt idx="671">
                  <c:v>236.5576171875</c:v>
                </c:pt>
                <c:pt idx="672">
                  <c:v>236.5673828125</c:v>
                </c:pt>
                <c:pt idx="673">
                  <c:v>236.5771484375</c:v>
                </c:pt>
                <c:pt idx="674">
                  <c:v>236.5869140625</c:v>
                </c:pt>
                <c:pt idx="675">
                  <c:v>236.5966796875</c:v>
                </c:pt>
                <c:pt idx="676">
                  <c:v>236.6064453125</c:v>
                </c:pt>
                <c:pt idx="677">
                  <c:v>236.6162109375</c:v>
                </c:pt>
                <c:pt idx="678">
                  <c:v>236.6259765625</c:v>
                </c:pt>
                <c:pt idx="679">
                  <c:v>236.6357421875</c:v>
                </c:pt>
                <c:pt idx="680">
                  <c:v>236.6455078125</c:v>
                </c:pt>
                <c:pt idx="681">
                  <c:v>236.6552734375</c:v>
                </c:pt>
                <c:pt idx="682">
                  <c:v>236.6650390625</c:v>
                </c:pt>
                <c:pt idx="683">
                  <c:v>236.6748046875</c:v>
                </c:pt>
                <c:pt idx="684">
                  <c:v>236.6845703125</c:v>
                </c:pt>
                <c:pt idx="685">
                  <c:v>236.6943359375</c:v>
                </c:pt>
                <c:pt idx="686">
                  <c:v>236.7041015625</c:v>
                </c:pt>
                <c:pt idx="687">
                  <c:v>236.7138671875</c:v>
                </c:pt>
                <c:pt idx="688">
                  <c:v>236.7236328125</c:v>
                </c:pt>
                <c:pt idx="689">
                  <c:v>236.7333984375</c:v>
                </c:pt>
                <c:pt idx="690">
                  <c:v>236.7431640625</c:v>
                </c:pt>
                <c:pt idx="691">
                  <c:v>236.7529296875</c:v>
                </c:pt>
                <c:pt idx="692">
                  <c:v>236.7626953125</c:v>
                </c:pt>
                <c:pt idx="693">
                  <c:v>236.7724609375</c:v>
                </c:pt>
                <c:pt idx="694">
                  <c:v>236.7822265625</c:v>
                </c:pt>
                <c:pt idx="695">
                  <c:v>236.7919921875</c:v>
                </c:pt>
                <c:pt idx="696">
                  <c:v>236.8017578125</c:v>
                </c:pt>
                <c:pt idx="697">
                  <c:v>236.8115234375</c:v>
                </c:pt>
                <c:pt idx="698">
                  <c:v>236.8212890625</c:v>
                </c:pt>
                <c:pt idx="699">
                  <c:v>236.8310546875</c:v>
                </c:pt>
                <c:pt idx="700">
                  <c:v>236.8408203125</c:v>
                </c:pt>
                <c:pt idx="701">
                  <c:v>236.8505859375</c:v>
                </c:pt>
                <c:pt idx="702">
                  <c:v>236.8603515625</c:v>
                </c:pt>
                <c:pt idx="703">
                  <c:v>236.8701171875</c:v>
                </c:pt>
                <c:pt idx="704">
                  <c:v>236.8798828125</c:v>
                </c:pt>
                <c:pt idx="705">
                  <c:v>236.8896484375</c:v>
                </c:pt>
                <c:pt idx="706">
                  <c:v>236.8994140625</c:v>
                </c:pt>
                <c:pt idx="707">
                  <c:v>236.9091796875</c:v>
                </c:pt>
                <c:pt idx="708">
                  <c:v>236.9189453125</c:v>
                </c:pt>
                <c:pt idx="709">
                  <c:v>236.9287109375</c:v>
                </c:pt>
                <c:pt idx="710">
                  <c:v>236.9384765625</c:v>
                </c:pt>
                <c:pt idx="711">
                  <c:v>236.9482421875</c:v>
                </c:pt>
                <c:pt idx="712">
                  <c:v>236.9580078125</c:v>
                </c:pt>
                <c:pt idx="713">
                  <c:v>236.9677734375</c:v>
                </c:pt>
                <c:pt idx="714">
                  <c:v>236.9775390625</c:v>
                </c:pt>
                <c:pt idx="715">
                  <c:v>236.9873046875</c:v>
                </c:pt>
                <c:pt idx="716">
                  <c:v>236.9970703125</c:v>
                </c:pt>
                <c:pt idx="717">
                  <c:v>237.0068359375</c:v>
                </c:pt>
                <c:pt idx="718">
                  <c:v>237.0166015625</c:v>
                </c:pt>
                <c:pt idx="719">
                  <c:v>237.0263671875</c:v>
                </c:pt>
                <c:pt idx="720">
                  <c:v>237.0361328125</c:v>
                </c:pt>
                <c:pt idx="721">
                  <c:v>237.0458984375</c:v>
                </c:pt>
                <c:pt idx="722">
                  <c:v>237.0556640625</c:v>
                </c:pt>
                <c:pt idx="723">
                  <c:v>237.0654296875</c:v>
                </c:pt>
                <c:pt idx="724">
                  <c:v>237.0751953125</c:v>
                </c:pt>
                <c:pt idx="725">
                  <c:v>237.0849609375</c:v>
                </c:pt>
                <c:pt idx="726">
                  <c:v>237.0947265625</c:v>
                </c:pt>
                <c:pt idx="727">
                  <c:v>237.1044921875</c:v>
                </c:pt>
                <c:pt idx="728">
                  <c:v>237.1142578125</c:v>
                </c:pt>
                <c:pt idx="729">
                  <c:v>237.1240234375</c:v>
                </c:pt>
                <c:pt idx="730">
                  <c:v>237.1337890625</c:v>
                </c:pt>
                <c:pt idx="731">
                  <c:v>237.1435546875</c:v>
                </c:pt>
                <c:pt idx="732">
                  <c:v>237.1533203125</c:v>
                </c:pt>
                <c:pt idx="733">
                  <c:v>237.1630859375</c:v>
                </c:pt>
                <c:pt idx="734">
                  <c:v>237.1728515625</c:v>
                </c:pt>
                <c:pt idx="735">
                  <c:v>237.1826171875</c:v>
                </c:pt>
                <c:pt idx="736">
                  <c:v>237.1923828125</c:v>
                </c:pt>
                <c:pt idx="737">
                  <c:v>237.2021484375</c:v>
                </c:pt>
                <c:pt idx="738">
                  <c:v>237.2119140625</c:v>
                </c:pt>
                <c:pt idx="739">
                  <c:v>237.2216796875</c:v>
                </c:pt>
                <c:pt idx="740">
                  <c:v>237.2314453125</c:v>
                </c:pt>
                <c:pt idx="741">
                  <c:v>237.2412109375</c:v>
                </c:pt>
                <c:pt idx="742">
                  <c:v>237.2509765625</c:v>
                </c:pt>
                <c:pt idx="743">
                  <c:v>237.2607421875</c:v>
                </c:pt>
                <c:pt idx="744">
                  <c:v>237.2705078125</c:v>
                </c:pt>
                <c:pt idx="745">
                  <c:v>237.2802734375</c:v>
                </c:pt>
                <c:pt idx="746">
                  <c:v>237.2900390625</c:v>
                </c:pt>
                <c:pt idx="747">
                  <c:v>237.2998046875</c:v>
                </c:pt>
                <c:pt idx="748">
                  <c:v>237.3095703125</c:v>
                </c:pt>
                <c:pt idx="749">
                  <c:v>237.3193359375</c:v>
                </c:pt>
                <c:pt idx="750">
                  <c:v>237.3291015625</c:v>
                </c:pt>
                <c:pt idx="751">
                  <c:v>237.3388671875</c:v>
                </c:pt>
                <c:pt idx="752">
                  <c:v>237.3486328125</c:v>
                </c:pt>
                <c:pt idx="753">
                  <c:v>237.3583984375</c:v>
                </c:pt>
                <c:pt idx="754">
                  <c:v>237.3681640625</c:v>
                </c:pt>
                <c:pt idx="755">
                  <c:v>237.3779296875</c:v>
                </c:pt>
                <c:pt idx="756">
                  <c:v>237.3876953125</c:v>
                </c:pt>
                <c:pt idx="757">
                  <c:v>237.3974609375</c:v>
                </c:pt>
                <c:pt idx="758">
                  <c:v>237.4072265625</c:v>
                </c:pt>
                <c:pt idx="759">
                  <c:v>237.4169921875</c:v>
                </c:pt>
                <c:pt idx="760">
                  <c:v>237.4267578125</c:v>
                </c:pt>
                <c:pt idx="761">
                  <c:v>237.4365234375</c:v>
                </c:pt>
                <c:pt idx="762">
                  <c:v>237.4462890625</c:v>
                </c:pt>
                <c:pt idx="763">
                  <c:v>237.4560546875</c:v>
                </c:pt>
                <c:pt idx="764">
                  <c:v>237.4658203125</c:v>
                </c:pt>
                <c:pt idx="765">
                  <c:v>237.4755859375</c:v>
                </c:pt>
                <c:pt idx="766">
                  <c:v>237.4853515625</c:v>
                </c:pt>
                <c:pt idx="767">
                  <c:v>237.4951171875</c:v>
                </c:pt>
                <c:pt idx="768">
                  <c:v>237.5048828125</c:v>
                </c:pt>
                <c:pt idx="769">
                  <c:v>237.5146484375</c:v>
                </c:pt>
                <c:pt idx="770">
                  <c:v>237.5244140625</c:v>
                </c:pt>
                <c:pt idx="771">
                  <c:v>237.5341796875</c:v>
                </c:pt>
                <c:pt idx="772">
                  <c:v>237.5439453125</c:v>
                </c:pt>
                <c:pt idx="773">
                  <c:v>237.5537109375</c:v>
                </c:pt>
                <c:pt idx="774">
                  <c:v>237.5634765625</c:v>
                </c:pt>
                <c:pt idx="775">
                  <c:v>237.5732421875</c:v>
                </c:pt>
                <c:pt idx="776">
                  <c:v>237.5830078125</c:v>
                </c:pt>
                <c:pt idx="777">
                  <c:v>237.5927734375</c:v>
                </c:pt>
                <c:pt idx="778">
                  <c:v>237.6025390625</c:v>
                </c:pt>
                <c:pt idx="779">
                  <c:v>237.6123046875</c:v>
                </c:pt>
                <c:pt idx="780">
                  <c:v>237.6220703125</c:v>
                </c:pt>
                <c:pt idx="781">
                  <c:v>237.6318359375</c:v>
                </c:pt>
                <c:pt idx="782">
                  <c:v>237.6416015625</c:v>
                </c:pt>
                <c:pt idx="783">
                  <c:v>237.6513671875</c:v>
                </c:pt>
                <c:pt idx="784">
                  <c:v>237.6611328125</c:v>
                </c:pt>
                <c:pt idx="785">
                  <c:v>237.6708984375</c:v>
                </c:pt>
                <c:pt idx="786">
                  <c:v>237.6806640625</c:v>
                </c:pt>
                <c:pt idx="787">
                  <c:v>237.6904296875</c:v>
                </c:pt>
                <c:pt idx="788">
                  <c:v>237.7001953125</c:v>
                </c:pt>
                <c:pt idx="789">
                  <c:v>237.7099609375</c:v>
                </c:pt>
                <c:pt idx="790">
                  <c:v>237.7197265625</c:v>
                </c:pt>
                <c:pt idx="791">
                  <c:v>237.7294921875</c:v>
                </c:pt>
                <c:pt idx="792">
                  <c:v>237.7392578125</c:v>
                </c:pt>
                <c:pt idx="793">
                  <c:v>237.7490234375</c:v>
                </c:pt>
                <c:pt idx="794">
                  <c:v>237.7587890625</c:v>
                </c:pt>
                <c:pt idx="795">
                  <c:v>237.7685546875</c:v>
                </c:pt>
                <c:pt idx="796">
                  <c:v>237.7783203125</c:v>
                </c:pt>
                <c:pt idx="797">
                  <c:v>237.7880859375</c:v>
                </c:pt>
                <c:pt idx="798">
                  <c:v>237.7978515625</c:v>
                </c:pt>
                <c:pt idx="799">
                  <c:v>237.8076171875</c:v>
                </c:pt>
                <c:pt idx="800">
                  <c:v>237.8173828125</c:v>
                </c:pt>
                <c:pt idx="801">
                  <c:v>237.8271484375</c:v>
                </c:pt>
                <c:pt idx="802">
                  <c:v>237.8369140625</c:v>
                </c:pt>
                <c:pt idx="803">
                  <c:v>237.8466796875</c:v>
                </c:pt>
                <c:pt idx="804">
                  <c:v>237.8564453125</c:v>
                </c:pt>
                <c:pt idx="805">
                  <c:v>237.8662109375</c:v>
                </c:pt>
                <c:pt idx="806">
                  <c:v>237.8759765625</c:v>
                </c:pt>
                <c:pt idx="807">
                  <c:v>237.8857421875</c:v>
                </c:pt>
                <c:pt idx="808">
                  <c:v>237.8955078125</c:v>
                </c:pt>
                <c:pt idx="809">
                  <c:v>237.9052734375</c:v>
                </c:pt>
                <c:pt idx="810">
                  <c:v>237.9150390625</c:v>
                </c:pt>
                <c:pt idx="811">
                  <c:v>237.9248046875</c:v>
                </c:pt>
                <c:pt idx="812">
                  <c:v>237.9345703125</c:v>
                </c:pt>
                <c:pt idx="813">
                  <c:v>237.9443359375</c:v>
                </c:pt>
                <c:pt idx="814">
                  <c:v>237.9541015625</c:v>
                </c:pt>
                <c:pt idx="815">
                  <c:v>237.9638671875</c:v>
                </c:pt>
                <c:pt idx="816">
                  <c:v>237.9736328125</c:v>
                </c:pt>
                <c:pt idx="817">
                  <c:v>237.9833984375</c:v>
                </c:pt>
                <c:pt idx="818">
                  <c:v>237.9931640625</c:v>
                </c:pt>
                <c:pt idx="819">
                  <c:v>238.0029296875</c:v>
                </c:pt>
                <c:pt idx="820">
                  <c:v>238.0126953125</c:v>
                </c:pt>
                <c:pt idx="821">
                  <c:v>238.0224609375</c:v>
                </c:pt>
                <c:pt idx="822">
                  <c:v>238.0322265625</c:v>
                </c:pt>
                <c:pt idx="823">
                  <c:v>238.0419921875</c:v>
                </c:pt>
                <c:pt idx="824">
                  <c:v>238.0517578125</c:v>
                </c:pt>
                <c:pt idx="825">
                  <c:v>238.0615234375</c:v>
                </c:pt>
                <c:pt idx="826">
                  <c:v>238.0712890625</c:v>
                </c:pt>
                <c:pt idx="827">
                  <c:v>238.0810546875</c:v>
                </c:pt>
                <c:pt idx="828">
                  <c:v>238.0908203125</c:v>
                </c:pt>
                <c:pt idx="829">
                  <c:v>238.1005859375</c:v>
                </c:pt>
                <c:pt idx="830">
                  <c:v>238.1103515625</c:v>
                </c:pt>
                <c:pt idx="831">
                  <c:v>238.1201171875</c:v>
                </c:pt>
                <c:pt idx="832">
                  <c:v>238.1298828125</c:v>
                </c:pt>
                <c:pt idx="833">
                  <c:v>238.1396484375</c:v>
                </c:pt>
                <c:pt idx="834">
                  <c:v>238.1494140625</c:v>
                </c:pt>
                <c:pt idx="835">
                  <c:v>238.1591796875</c:v>
                </c:pt>
                <c:pt idx="836">
                  <c:v>238.1689453125</c:v>
                </c:pt>
                <c:pt idx="837">
                  <c:v>238.1787109375</c:v>
                </c:pt>
                <c:pt idx="838">
                  <c:v>238.1884765625</c:v>
                </c:pt>
                <c:pt idx="839">
                  <c:v>238.1982421875</c:v>
                </c:pt>
                <c:pt idx="840">
                  <c:v>238.2080078125</c:v>
                </c:pt>
                <c:pt idx="841">
                  <c:v>238.2177734375</c:v>
                </c:pt>
                <c:pt idx="842">
                  <c:v>238.2275390625</c:v>
                </c:pt>
                <c:pt idx="843">
                  <c:v>238.2373046875</c:v>
                </c:pt>
                <c:pt idx="844">
                  <c:v>238.2470703125</c:v>
                </c:pt>
                <c:pt idx="845">
                  <c:v>238.2568359375</c:v>
                </c:pt>
                <c:pt idx="846">
                  <c:v>238.2666015625</c:v>
                </c:pt>
                <c:pt idx="847">
                  <c:v>238.2763671875</c:v>
                </c:pt>
                <c:pt idx="848">
                  <c:v>238.2861328125</c:v>
                </c:pt>
                <c:pt idx="849">
                  <c:v>238.2958984375</c:v>
                </c:pt>
                <c:pt idx="850">
                  <c:v>238.3056640625</c:v>
                </c:pt>
                <c:pt idx="851">
                  <c:v>238.3154296875</c:v>
                </c:pt>
                <c:pt idx="852">
                  <c:v>238.3251953125</c:v>
                </c:pt>
                <c:pt idx="853">
                  <c:v>238.3349609375</c:v>
                </c:pt>
                <c:pt idx="854">
                  <c:v>238.3447265625</c:v>
                </c:pt>
                <c:pt idx="855">
                  <c:v>238.3544921875</c:v>
                </c:pt>
                <c:pt idx="856">
                  <c:v>238.3642578125</c:v>
                </c:pt>
                <c:pt idx="857">
                  <c:v>238.3740234375</c:v>
                </c:pt>
                <c:pt idx="858">
                  <c:v>238.3837890625</c:v>
                </c:pt>
                <c:pt idx="859">
                  <c:v>238.3935546875</c:v>
                </c:pt>
                <c:pt idx="860">
                  <c:v>238.4033203125</c:v>
                </c:pt>
                <c:pt idx="861">
                  <c:v>238.4130859375</c:v>
                </c:pt>
                <c:pt idx="862">
                  <c:v>238.4228515625</c:v>
                </c:pt>
                <c:pt idx="863">
                  <c:v>238.4326171875</c:v>
                </c:pt>
                <c:pt idx="864">
                  <c:v>238.4423828125</c:v>
                </c:pt>
                <c:pt idx="865">
                  <c:v>238.4521484375</c:v>
                </c:pt>
                <c:pt idx="866">
                  <c:v>238.4619140625</c:v>
                </c:pt>
                <c:pt idx="867">
                  <c:v>238.4716796875</c:v>
                </c:pt>
                <c:pt idx="868">
                  <c:v>238.4814453125</c:v>
                </c:pt>
                <c:pt idx="869">
                  <c:v>238.4912109375</c:v>
                </c:pt>
                <c:pt idx="870">
                  <c:v>238.5009765625</c:v>
                </c:pt>
                <c:pt idx="871">
                  <c:v>238.5107421875</c:v>
                </c:pt>
                <c:pt idx="872">
                  <c:v>238.5205078125</c:v>
                </c:pt>
                <c:pt idx="873">
                  <c:v>238.5302734375</c:v>
                </c:pt>
                <c:pt idx="874">
                  <c:v>238.5400390625</c:v>
                </c:pt>
                <c:pt idx="875">
                  <c:v>238.5498046875</c:v>
                </c:pt>
                <c:pt idx="876">
                  <c:v>238.5595703125</c:v>
                </c:pt>
                <c:pt idx="877">
                  <c:v>238.5693359375</c:v>
                </c:pt>
                <c:pt idx="878">
                  <c:v>238.5791015625</c:v>
                </c:pt>
                <c:pt idx="879">
                  <c:v>238.5888671875</c:v>
                </c:pt>
                <c:pt idx="880">
                  <c:v>238.5986328125</c:v>
                </c:pt>
                <c:pt idx="881">
                  <c:v>238.6083984375</c:v>
                </c:pt>
                <c:pt idx="882">
                  <c:v>238.6181640625</c:v>
                </c:pt>
                <c:pt idx="883">
                  <c:v>238.6279296875</c:v>
                </c:pt>
                <c:pt idx="884">
                  <c:v>238.6376953125</c:v>
                </c:pt>
                <c:pt idx="885">
                  <c:v>238.6474609375</c:v>
                </c:pt>
                <c:pt idx="886">
                  <c:v>238.6572265625</c:v>
                </c:pt>
                <c:pt idx="887">
                  <c:v>238.6669921875</c:v>
                </c:pt>
                <c:pt idx="888">
                  <c:v>238.6767578125</c:v>
                </c:pt>
                <c:pt idx="889">
                  <c:v>238.6865234375</c:v>
                </c:pt>
                <c:pt idx="890">
                  <c:v>238.6962890625</c:v>
                </c:pt>
                <c:pt idx="891">
                  <c:v>238.7060546875</c:v>
                </c:pt>
                <c:pt idx="892">
                  <c:v>238.7158203125</c:v>
                </c:pt>
                <c:pt idx="893">
                  <c:v>238.7255859375</c:v>
                </c:pt>
                <c:pt idx="894">
                  <c:v>238.7353515625</c:v>
                </c:pt>
                <c:pt idx="895">
                  <c:v>238.7451171875</c:v>
                </c:pt>
                <c:pt idx="896">
                  <c:v>238.7548828125</c:v>
                </c:pt>
                <c:pt idx="897">
                  <c:v>238.7646484375</c:v>
                </c:pt>
                <c:pt idx="898">
                  <c:v>238.7744140625</c:v>
                </c:pt>
                <c:pt idx="899">
                  <c:v>238.7841796875</c:v>
                </c:pt>
                <c:pt idx="900">
                  <c:v>238.7939453125</c:v>
                </c:pt>
                <c:pt idx="901">
                  <c:v>238.8037109375</c:v>
                </c:pt>
                <c:pt idx="902">
                  <c:v>238.8134765625</c:v>
                </c:pt>
                <c:pt idx="903">
                  <c:v>238.8232421875</c:v>
                </c:pt>
                <c:pt idx="904">
                  <c:v>238.8330078125</c:v>
                </c:pt>
                <c:pt idx="905">
                  <c:v>238.8427734375</c:v>
                </c:pt>
                <c:pt idx="906">
                  <c:v>238.8525390625</c:v>
                </c:pt>
                <c:pt idx="907">
                  <c:v>238.8623046875</c:v>
                </c:pt>
                <c:pt idx="908">
                  <c:v>238.8720703125</c:v>
                </c:pt>
                <c:pt idx="909">
                  <c:v>238.8818359375</c:v>
                </c:pt>
                <c:pt idx="910">
                  <c:v>238.8916015625</c:v>
                </c:pt>
                <c:pt idx="911">
                  <c:v>238.9013671875</c:v>
                </c:pt>
                <c:pt idx="912">
                  <c:v>238.9111328125</c:v>
                </c:pt>
                <c:pt idx="913">
                  <c:v>238.9208984375</c:v>
                </c:pt>
                <c:pt idx="914">
                  <c:v>238.9306640625</c:v>
                </c:pt>
                <c:pt idx="915">
                  <c:v>238.9404296875</c:v>
                </c:pt>
                <c:pt idx="916">
                  <c:v>238.9501953125</c:v>
                </c:pt>
                <c:pt idx="917">
                  <c:v>238.9599609375</c:v>
                </c:pt>
                <c:pt idx="918">
                  <c:v>238.9697265625</c:v>
                </c:pt>
                <c:pt idx="919">
                  <c:v>238.9794921875</c:v>
                </c:pt>
                <c:pt idx="920">
                  <c:v>238.9892578125</c:v>
                </c:pt>
                <c:pt idx="921">
                  <c:v>238.9990234375</c:v>
                </c:pt>
                <c:pt idx="922">
                  <c:v>239.0087890625</c:v>
                </c:pt>
                <c:pt idx="923">
                  <c:v>239.0185546875</c:v>
                </c:pt>
                <c:pt idx="924">
                  <c:v>239.0283203125</c:v>
                </c:pt>
                <c:pt idx="925">
                  <c:v>239.0380859375</c:v>
                </c:pt>
                <c:pt idx="926">
                  <c:v>239.0478515625</c:v>
                </c:pt>
                <c:pt idx="927">
                  <c:v>239.0576171875</c:v>
                </c:pt>
                <c:pt idx="928">
                  <c:v>239.0673828125</c:v>
                </c:pt>
                <c:pt idx="929">
                  <c:v>239.0771484375</c:v>
                </c:pt>
                <c:pt idx="930">
                  <c:v>239.0869140625</c:v>
                </c:pt>
                <c:pt idx="931">
                  <c:v>239.0966796875</c:v>
                </c:pt>
                <c:pt idx="932">
                  <c:v>239.1064453125</c:v>
                </c:pt>
                <c:pt idx="933">
                  <c:v>239.1162109375</c:v>
                </c:pt>
                <c:pt idx="934">
                  <c:v>239.1259765625</c:v>
                </c:pt>
                <c:pt idx="935">
                  <c:v>239.1357421875</c:v>
                </c:pt>
                <c:pt idx="936">
                  <c:v>239.1455078125</c:v>
                </c:pt>
                <c:pt idx="937">
                  <c:v>239.1552734375</c:v>
                </c:pt>
                <c:pt idx="938">
                  <c:v>239.1650390625</c:v>
                </c:pt>
                <c:pt idx="939">
                  <c:v>239.1748046875</c:v>
                </c:pt>
                <c:pt idx="940">
                  <c:v>239.1845703125</c:v>
                </c:pt>
                <c:pt idx="941">
                  <c:v>239.1943359375</c:v>
                </c:pt>
                <c:pt idx="942">
                  <c:v>239.2041015625</c:v>
                </c:pt>
                <c:pt idx="943">
                  <c:v>239.2138671875</c:v>
                </c:pt>
                <c:pt idx="944">
                  <c:v>239.2236328125</c:v>
                </c:pt>
                <c:pt idx="945">
                  <c:v>239.2333984375</c:v>
                </c:pt>
                <c:pt idx="946">
                  <c:v>239.2431640625</c:v>
                </c:pt>
                <c:pt idx="947">
                  <c:v>239.2529296875</c:v>
                </c:pt>
                <c:pt idx="948">
                  <c:v>239.2626953125</c:v>
                </c:pt>
                <c:pt idx="949">
                  <c:v>239.2724609375</c:v>
                </c:pt>
                <c:pt idx="950">
                  <c:v>239.2822265625</c:v>
                </c:pt>
                <c:pt idx="951">
                  <c:v>239.2919921875</c:v>
                </c:pt>
                <c:pt idx="952">
                  <c:v>239.3017578125</c:v>
                </c:pt>
                <c:pt idx="953">
                  <c:v>239.3115234375</c:v>
                </c:pt>
                <c:pt idx="954">
                  <c:v>239.3212890625</c:v>
                </c:pt>
                <c:pt idx="955">
                  <c:v>239.3310546875</c:v>
                </c:pt>
                <c:pt idx="956">
                  <c:v>239.3408203125</c:v>
                </c:pt>
                <c:pt idx="957">
                  <c:v>239.3505859375</c:v>
                </c:pt>
                <c:pt idx="958">
                  <c:v>239.3603515625</c:v>
                </c:pt>
                <c:pt idx="959">
                  <c:v>239.3701171875</c:v>
                </c:pt>
                <c:pt idx="960">
                  <c:v>239.3798828125</c:v>
                </c:pt>
                <c:pt idx="961">
                  <c:v>239.3896484375</c:v>
                </c:pt>
                <c:pt idx="962">
                  <c:v>239.3994140625</c:v>
                </c:pt>
                <c:pt idx="963">
                  <c:v>239.4091796875</c:v>
                </c:pt>
                <c:pt idx="964">
                  <c:v>239.4189453125</c:v>
                </c:pt>
                <c:pt idx="965">
                  <c:v>239.4287109375</c:v>
                </c:pt>
                <c:pt idx="966">
                  <c:v>239.4384765625</c:v>
                </c:pt>
                <c:pt idx="967">
                  <c:v>239.4482421875</c:v>
                </c:pt>
                <c:pt idx="968">
                  <c:v>239.4580078125</c:v>
                </c:pt>
                <c:pt idx="969">
                  <c:v>239.4677734375</c:v>
                </c:pt>
                <c:pt idx="970">
                  <c:v>239.4775390625</c:v>
                </c:pt>
                <c:pt idx="971">
                  <c:v>239.4873046875</c:v>
                </c:pt>
                <c:pt idx="972">
                  <c:v>239.4970703125</c:v>
                </c:pt>
                <c:pt idx="973">
                  <c:v>239.5068359375</c:v>
                </c:pt>
                <c:pt idx="974">
                  <c:v>239.5166015625</c:v>
                </c:pt>
                <c:pt idx="975">
                  <c:v>239.5263671875</c:v>
                </c:pt>
                <c:pt idx="976">
                  <c:v>239.5361328125</c:v>
                </c:pt>
                <c:pt idx="977">
                  <c:v>239.5458984375</c:v>
                </c:pt>
                <c:pt idx="978">
                  <c:v>239.5556640625</c:v>
                </c:pt>
                <c:pt idx="979">
                  <c:v>239.5654296875</c:v>
                </c:pt>
                <c:pt idx="980">
                  <c:v>239.5751953125</c:v>
                </c:pt>
                <c:pt idx="981">
                  <c:v>239.5849609375</c:v>
                </c:pt>
                <c:pt idx="982">
                  <c:v>239.5947265625</c:v>
                </c:pt>
                <c:pt idx="983">
                  <c:v>239.6044921875</c:v>
                </c:pt>
                <c:pt idx="984">
                  <c:v>239.6142578125</c:v>
                </c:pt>
                <c:pt idx="985">
                  <c:v>239.6240234375</c:v>
                </c:pt>
                <c:pt idx="986">
                  <c:v>239.6337890625</c:v>
                </c:pt>
                <c:pt idx="987">
                  <c:v>239.6435546875</c:v>
                </c:pt>
                <c:pt idx="988">
                  <c:v>239.6533203125</c:v>
                </c:pt>
                <c:pt idx="989">
                  <c:v>239.6630859375</c:v>
                </c:pt>
                <c:pt idx="990">
                  <c:v>239.6728515625</c:v>
                </c:pt>
                <c:pt idx="991">
                  <c:v>239.6826171875</c:v>
                </c:pt>
                <c:pt idx="992">
                  <c:v>239.6923828125</c:v>
                </c:pt>
                <c:pt idx="993">
                  <c:v>239.7021484375</c:v>
                </c:pt>
                <c:pt idx="994">
                  <c:v>239.7119140625</c:v>
                </c:pt>
                <c:pt idx="995">
                  <c:v>239.7216796875</c:v>
                </c:pt>
                <c:pt idx="996">
                  <c:v>239.7314453125</c:v>
                </c:pt>
                <c:pt idx="997">
                  <c:v>239.7412109375</c:v>
                </c:pt>
                <c:pt idx="998">
                  <c:v>239.7509765625</c:v>
                </c:pt>
                <c:pt idx="999">
                  <c:v>239.7607421875</c:v>
                </c:pt>
                <c:pt idx="1000">
                  <c:v>239.7705078125</c:v>
                </c:pt>
                <c:pt idx="1001">
                  <c:v>239.7802734375</c:v>
                </c:pt>
                <c:pt idx="1002">
                  <c:v>239.7900390625</c:v>
                </c:pt>
                <c:pt idx="1003">
                  <c:v>239.7998046875</c:v>
                </c:pt>
                <c:pt idx="1004">
                  <c:v>239.8095703125</c:v>
                </c:pt>
                <c:pt idx="1005">
                  <c:v>239.8193359375</c:v>
                </c:pt>
                <c:pt idx="1006">
                  <c:v>239.8291015625</c:v>
                </c:pt>
                <c:pt idx="1007">
                  <c:v>239.8388671875</c:v>
                </c:pt>
                <c:pt idx="1008">
                  <c:v>239.8486328125</c:v>
                </c:pt>
                <c:pt idx="1009">
                  <c:v>239.8583984375</c:v>
                </c:pt>
                <c:pt idx="1010">
                  <c:v>239.8681640625</c:v>
                </c:pt>
                <c:pt idx="1011">
                  <c:v>239.8779296875</c:v>
                </c:pt>
                <c:pt idx="1012">
                  <c:v>239.8876953125</c:v>
                </c:pt>
                <c:pt idx="1013">
                  <c:v>239.8974609375</c:v>
                </c:pt>
                <c:pt idx="1014">
                  <c:v>239.9072265625</c:v>
                </c:pt>
                <c:pt idx="1015">
                  <c:v>239.9169921875</c:v>
                </c:pt>
                <c:pt idx="1016">
                  <c:v>239.9267578125</c:v>
                </c:pt>
                <c:pt idx="1017">
                  <c:v>239.9365234375</c:v>
                </c:pt>
                <c:pt idx="1018">
                  <c:v>239.9462890625</c:v>
                </c:pt>
                <c:pt idx="1019">
                  <c:v>239.9560546875</c:v>
                </c:pt>
                <c:pt idx="1020">
                  <c:v>239.9658203125</c:v>
                </c:pt>
                <c:pt idx="1021">
                  <c:v>239.9755859375</c:v>
                </c:pt>
                <c:pt idx="1022">
                  <c:v>239.9853515625</c:v>
                </c:pt>
                <c:pt idx="1023">
                  <c:v>239.9951171875</c:v>
                </c:pt>
              </c:numCache>
            </c:numRef>
          </c:xVal>
          <c:yVal>
            <c:numRef>
              <c:f>'Chart Data'!$B$2:$B$1025</c:f>
              <c:numCache>
                <c:formatCode>0.00</c:formatCode>
                <c:ptCount val="1024"/>
                <c:pt idx="0">
                  <c:v>0.012181009829589</c:v>
                </c:pt>
                <c:pt idx="1">
                  <c:v>0.012182983992581</c:v>
                </c:pt>
                <c:pt idx="2">
                  <c:v>0.01218500097219</c:v>
                </c:pt>
                <c:pt idx="3">
                  <c:v>0.012187060780494</c:v>
                </c:pt>
                <c:pt idx="4">
                  <c:v>0.012189163430015</c:v>
                </c:pt>
                <c:pt idx="5">
                  <c:v>0.012191308933726</c:v>
                </c:pt>
                <c:pt idx="6">
                  <c:v>0.012193497305051</c:v>
                </c:pt>
                <c:pt idx="7">
                  <c:v>0.01219572855786</c:v>
                </c:pt>
                <c:pt idx="8">
                  <c:v>0.012198002706474</c:v>
                </c:pt>
                <c:pt idx="9">
                  <c:v>0.012200319765664</c:v>
                </c:pt>
                <c:pt idx="10">
                  <c:v>0.01220267975065</c:v>
                </c:pt>
                <c:pt idx="11">
                  <c:v>0.012205082677101</c:v>
                </c:pt>
                <c:pt idx="12">
                  <c:v>0.01220752856114</c:v>
                </c:pt>
                <c:pt idx="13">
                  <c:v>0.012210017419336</c:v>
                </c:pt>
                <c:pt idx="14">
                  <c:v>0.012212549268713</c:v>
                </c:pt>
                <c:pt idx="15">
                  <c:v>0.012215124126743</c:v>
                </c:pt>
                <c:pt idx="16">
                  <c:v>0.012217742011349</c:v>
                </c:pt>
                <c:pt idx="17">
                  <c:v>0.012220402940909</c:v>
                </c:pt>
                <c:pt idx="18">
                  <c:v>0.012223106934248</c:v>
                </c:pt>
                <c:pt idx="19">
                  <c:v>0.012225854010647</c:v>
                </c:pt>
                <c:pt idx="20">
                  <c:v>0.012228644189837</c:v>
                </c:pt>
                <c:pt idx="21">
                  <c:v>0.012231477492001</c:v>
                </c:pt>
                <c:pt idx="22">
                  <c:v>0.012234353937777</c:v>
                </c:pt>
                <c:pt idx="23">
                  <c:v>0.012237273548254</c:v>
                </c:pt>
                <c:pt idx="24">
                  <c:v>0.012240236344975</c:v>
                </c:pt>
                <c:pt idx="25">
                  <c:v>0.012243242349937</c:v>
                </c:pt>
                <c:pt idx="26">
                  <c:v>0.012246291585589</c:v>
                </c:pt>
                <c:pt idx="27">
                  <c:v>0.012249384074836</c:v>
                </c:pt>
                <c:pt idx="28">
                  <c:v>0.012252519841038</c:v>
                </c:pt>
                <c:pt idx="29">
                  <c:v>0.012255698908006</c:v>
                </c:pt>
                <c:pt idx="30">
                  <c:v>0.012258921300011</c:v>
                </c:pt>
                <c:pt idx="31">
                  <c:v>0.012262187041775</c:v>
                </c:pt>
                <c:pt idx="32">
                  <c:v>0.012265496158477</c:v>
                </c:pt>
                <c:pt idx="33">
                  <c:v>0.012268848675754</c:v>
                </c:pt>
                <c:pt idx="34">
                  <c:v>0.012272244619696</c:v>
                </c:pt>
                <c:pt idx="35">
                  <c:v>0.01227568401685</c:v>
                </c:pt>
                <c:pt idx="36">
                  <c:v>0.012279166894223</c:v>
                </c:pt>
                <c:pt idx="37">
                  <c:v>0.012282693279275</c:v>
                </c:pt>
                <c:pt idx="38">
                  <c:v>0.012286263199926</c:v>
                </c:pt>
                <c:pt idx="39">
                  <c:v>0.012289876684553</c:v>
                </c:pt>
                <c:pt idx="40">
                  <c:v>0.012293533761991</c:v>
                </c:pt>
                <c:pt idx="41">
                  <c:v>0.012297234461535</c:v>
                </c:pt>
                <c:pt idx="42">
                  <c:v>0.012300978812936</c:v>
                </c:pt>
                <c:pt idx="43">
                  <c:v>0.012304766846407</c:v>
                </c:pt>
                <c:pt idx="44">
                  <c:v>0.012308598592618</c:v>
                </c:pt>
                <c:pt idx="45">
                  <c:v>0.012312474082702</c:v>
                </c:pt>
                <c:pt idx="46">
                  <c:v>0.012316393348249</c:v>
                </c:pt>
                <c:pt idx="47">
                  <c:v>0.012320356421313</c:v>
                </c:pt>
                <c:pt idx="48">
                  <c:v>0.012324363334405</c:v>
                </c:pt>
                <c:pt idx="49">
                  <c:v>0.012328414120501</c:v>
                </c:pt>
                <c:pt idx="50">
                  <c:v>0.012332508813036</c:v>
                </c:pt>
                <c:pt idx="51">
                  <c:v>0.01233664744591</c:v>
                </c:pt>
                <c:pt idx="52">
                  <c:v>0.012340830053483</c:v>
                </c:pt>
                <c:pt idx="53">
                  <c:v>0.012345056670579</c:v>
                </c:pt>
                <c:pt idx="54">
                  <c:v>0.012349327332485</c:v>
                </c:pt>
                <c:pt idx="55">
                  <c:v>0.012353642074952</c:v>
                </c:pt>
                <c:pt idx="56">
                  <c:v>0.012358000934194</c:v>
                </c:pt>
                <c:pt idx="57">
                  <c:v>0.012362403946892</c:v>
                </c:pt>
                <c:pt idx="58">
                  <c:v>0.012366851150189</c:v>
                </c:pt>
                <c:pt idx="59">
                  <c:v>0.012371342581695</c:v>
                </c:pt>
                <c:pt idx="60">
                  <c:v>0.012375878279486</c:v>
                </c:pt>
                <c:pt idx="61">
                  <c:v>0.012380458282103</c:v>
                </c:pt>
                <c:pt idx="62">
                  <c:v>0.012385082628554</c:v>
                </c:pt>
                <c:pt idx="63">
                  <c:v>0.012389751358314</c:v>
                </c:pt>
                <c:pt idx="64">
                  <c:v>0.012394464511327</c:v>
                </c:pt>
                <c:pt idx="65">
                  <c:v>0.012399222128002</c:v>
                </c:pt>
                <c:pt idx="66">
                  <c:v>0.012404024249219</c:v>
                </c:pt>
                <c:pt idx="67">
                  <c:v>0.012408870916324</c:v>
                </c:pt>
                <c:pt idx="68">
                  <c:v>0.012413762171136</c:v>
                </c:pt>
                <c:pt idx="69">
                  <c:v>0.012418698055939</c:v>
                </c:pt>
                <c:pt idx="70">
                  <c:v>0.012423678613492</c:v>
                </c:pt>
                <c:pt idx="71">
                  <c:v>0.01242870388702</c:v>
                </c:pt>
                <c:pt idx="72">
                  <c:v>0.012433773920223</c:v>
                </c:pt>
                <c:pt idx="73">
                  <c:v>0.01243888875727</c:v>
                </c:pt>
                <c:pt idx="74">
                  <c:v>0.012444048442802</c:v>
                </c:pt>
                <c:pt idx="75">
                  <c:v>0.012449253021935</c:v>
                </c:pt>
                <c:pt idx="76">
                  <c:v>0.012454502540255</c:v>
                </c:pt>
                <c:pt idx="77">
                  <c:v>0.012459797043822</c:v>
                </c:pt>
                <c:pt idx="78">
                  <c:v>0.012465136579171</c:v>
                </c:pt>
                <c:pt idx="79">
                  <c:v>0.012470521193312</c:v>
                </c:pt>
                <c:pt idx="80">
                  <c:v>0.012475950933726</c:v>
                </c:pt>
                <c:pt idx="81">
                  <c:v>0.012481425848374</c:v>
                </c:pt>
                <c:pt idx="82">
                  <c:v>0.012486945985691</c:v>
                </c:pt>
                <c:pt idx="83">
                  <c:v>0.012492511394587</c:v>
                </c:pt>
                <c:pt idx="84">
                  <c:v>0.012498122124451</c:v>
                </c:pt>
                <c:pt idx="85">
                  <c:v>0.012503778225148</c:v>
                </c:pt>
                <c:pt idx="86">
                  <c:v>0.012509479747022</c:v>
                </c:pt>
                <c:pt idx="87">
                  <c:v>0.012515226740895</c:v>
                </c:pt>
                <c:pt idx="88">
                  <c:v>0.012521019258066</c:v>
                </c:pt>
                <c:pt idx="89">
                  <c:v>0.012526857350317</c:v>
                </c:pt>
                <c:pt idx="90">
                  <c:v>0.012532741069908</c:v>
                </c:pt>
                <c:pt idx="91">
                  <c:v>0.012538670469579</c:v>
                </c:pt>
                <c:pt idx="92">
                  <c:v>0.012544645602551</c:v>
                </c:pt>
                <c:pt idx="93">
                  <c:v>0.012550666522528</c:v>
                </c:pt>
                <c:pt idx="94">
                  <c:v>0.012556733283696</c:v>
                </c:pt>
                <c:pt idx="95">
                  <c:v>0.012562845940721</c:v>
                </c:pt>
                <c:pt idx="96">
                  <c:v>0.012569004548756</c:v>
                </c:pt>
                <c:pt idx="97">
                  <c:v>0.012575209163435</c:v>
                </c:pt>
                <c:pt idx="98">
                  <c:v>0.012581459840877</c:v>
                </c:pt>
                <c:pt idx="99">
                  <c:v>0.012587756637686</c:v>
                </c:pt>
                <c:pt idx="100">
                  <c:v>0.01259409961095</c:v>
                </c:pt>
                <c:pt idx="101">
                  <c:v>0.012600488818247</c:v>
                </c:pt>
                <c:pt idx="102">
                  <c:v>0.012606924317636</c:v>
                </c:pt>
                <c:pt idx="103">
                  <c:v>0.012613406167667</c:v>
                </c:pt>
                <c:pt idx="104">
                  <c:v>0.012619934427376</c:v>
                </c:pt>
                <c:pt idx="105">
                  <c:v>0.012626509156288</c:v>
                </c:pt>
                <c:pt idx="106">
                  <c:v>0.012633130414415</c:v>
                </c:pt>
                <c:pt idx="107">
                  <c:v>0.012639798262261</c:v>
                </c:pt>
                <c:pt idx="108">
                  <c:v>0.012646512760818</c:v>
                </c:pt>
                <c:pt idx="109">
                  <c:v>0.012653273971568</c:v>
                </c:pt>
                <c:pt idx="110">
                  <c:v>0.012660081956487</c:v>
                </c:pt>
                <c:pt idx="111">
                  <c:v>0.012666936778039</c:v>
                </c:pt>
                <c:pt idx="112">
                  <c:v>0.012673838499183</c:v>
                </c:pt>
                <c:pt idx="113">
                  <c:v>0.012680787183369</c:v>
                </c:pt>
                <c:pt idx="114">
                  <c:v>0.012687782894542</c:v>
                </c:pt>
                <c:pt idx="115">
                  <c:v>0.012694825697138</c:v>
                </c:pt>
                <c:pt idx="116">
                  <c:v>0.012701915656092</c:v>
                </c:pt>
                <c:pt idx="117">
                  <c:v>0.012709052836832</c:v>
                </c:pt>
                <c:pt idx="118">
                  <c:v>0.012716237305279</c:v>
                </c:pt>
                <c:pt idx="119">
                  <c:v>0.012723469127856</c:v>
                </c:pt>
                <c:pt idx="120">
                  <c:v>0.012730748371479</c:v>
                </c:pt>
                <c:pt idx="121">
                  <c:v>0.012738075103562</c:v>
                </c:pt>
                <c:pt idx="122">
                  <c:v>0.012745449392019</c:v>
                </c:pt>
                <c:pt idx="123">
                  <c:v>0.012752871305261</c:v>
                </c:pt>
                <c:pt idx="124">
                  <c:v>0.012760340912199</c:v>
                </c:pt>
                <c:pt idx="125">
                  <c:v>0.012767858282244</c:v>
                </c:pt>
                <c:pt idx="126">
                  <c:v>0.012775423485308</c:v>
                </c:pt>
                <c:pt idx="127">
                  <c:v>0.012783036591805</c:v>
                </c:pt>
                <c:pt idx="128">
                  <c:v>0.012790697672648</c:v>
                </c:pt>
                <c:pt idx="129">
                  <c:v>0.012798406799256</c:v>
                </c:pt>
                <c:pt idx="130">
                  <c:v>0.012806164043549</c:v>
                </c:pt>
                <c:pt idx="131">
                  <c:v>0.012813969477951</c:v>
                </c:pt>
                <c:pt idx="132">
                  <c:v>0.01282182317539</c:v>
                </c:pt>
                <c:pt idx="133">
                  <c:v>0.012829725209301</c:v>
                </c:pt>
                <c:pt idx="134">
                  <c:v>0.012837675653623</c:v>
                </c:pt>
                <c:pt idx="135">
                  <c:v>0.0128456745828</c:v>
                </c:pt>
                <c:pt idx="136">
                  <c:v>0.012853722071785</c:v>
                </c:pt>
                <c:pt idx="137">
                  <c:v>0.012861818196038</c:v>
                </c:pt>
                <c:pt idx="138">
                  <c:v>0.012869963031528</c:v>
                </c:pt>
                <c:pt idx="139">
                  <c:v>0.012878156654729</c:v>
                </c:pt>
                <c:pt idx="140">
                  <c:v>0.012886399142629</c:v>
                </c:pt>
                <c:pt idx="141">
                  <c:v>0.012894690572723</c:v>
                </c:pt>
                <c:pt idx="142">
                  <c:v>0.012903031023019</c:v>
                </c:pt>
                <c:pt idx="143">
                  <c:v>0.012911420572033</c:v>
                </c:pt>
                <c:pt idx="144">
                  <c:v>0.012919859298797</c:v>
                </c:pt>
                <c:pt idx="145">
                  <c:v>0.012928347282851</c:v>
                </c:pt>
                <c:pt idx="146">
                  <c:v>0.012936884604253</c:v>
                </c:pt>
                <c:pt idx="147">
                  <c:v>0.01294547134357</c:v>
                </c:pt>
                <c:pt idx="148">
                  <c:v>0.012954107581887</c:v>
                </c:pt>
                <c:pt idx="149">
                  <c:v>0.012962793400804</c:v>
                </c:pt>
                <c:pt idx="150">
                  <c:v>0.012971528882433</c:v>
                </c:pt>
                <c:pt idx="151">
                  <c:v>0.012980314109408</c:v>
                </c:pt>
                <c:pt idx="152">
                  <c:v>0.012989149164874</c:v>
                </c:pt>
                <c:pt idx="153">
                  <c:v>0.012998034132499</c:v>
                </c:pt>
                <c:pt idx="154">
                  <c:v>0.013006969096465</c:v>
                </c:pt>
                <c:pt idx="155">
                  <c:v>0.013015954141476</c:v>
                </c:pt>
                <c:pt idx="156">
                  <c:v>0.013024989352753</c:v>
                </c:pt>
                <c:pt idx="157">
                  <c:v>0.01303407481604</c:v>
                </c:pt>
                <c:pt idx="158">
                  <c:v>0.013043210617599</c:v>
                </c:pt>
                <c:pt idx="159">
                  <c:v>0.013052396844215</c:v>
                </c:pt>
                <c:pt idx="160">
                  <c:v>0.013061633583195</c:v>
                </c:pt>
                <c:pt idx="161">
                  <c:v>0.013070920922368</c:v>
                </c:pt>
                <c:pt idx="162">
                  <c:v>0.013080258950087</c:v>
                </c:pt>
                <c:pt idx="163">
                  <c:v>0.013089647755229</c:v>
                </c:pt>
                <c:pt idx="164">
                  <c:v>0.013099087427194</c:v>
                </c:pt>
                <c:pt idx="165">
                  <c:v>0.01310857805591</c:v>
                </c:pt>
                <c:pt idx="166">
                  <c:v>0.013118119731829</c:v>
                </c:pt>
                <c:pt idx="167">
                  <c:v>0.013127712545929</c:v>
                </c:pt>
                <c:pt idx="168">
                  <c:v>0.013137356589716</c:v>
                </c:pt>
                <c:pt idx="169">
                  <c:v>0.013147051955224</c:v>
                </c:pt>
                <c:pt idx="170">
                  <c:v>0.013156798735015</c:v>
                </c:pt>
                <c:pt idx="171">
                  <c:v>0.013166597022179</c:v>
                </c:pt>
                <c:pt idx="172">
                  <c:v>0.013176446910338</c:v>
                </c:pt>
                <c:pt idx="173">
                  <c:v>0.013186348493641</c:v>
                </c:pt>
                <c:pt idx="174">
                  <c:v>0.01319630186677</c:v>
                </c:pt>
                <c:pt idx="175">
                  <c:v>0.013206307124937</c:v>
                </c:pt>
                <c:pt idx="176">
                  <c:v>0.013216364363888</c:v>
                </c:pt>
                <c:pt idx="177">
                  <c:v>0.0132264736799</c:v>
                </c:pt>
                <c:pt idx="178">
                  <c:v>0.013236635169784</c:v>
                </c:pt>
                <c:pt idx="179">
                  <c:v>0.013246848930884</c:v>
                </c:pt>
                <c:pt idx="180">
                  <c:v>0.013257115061078</c:v>
                </c:pt>
                <c:pt idx="181">
                  <c:v>0.013267433658781</c:v>
                </c:pt>
                <c:pt idx="182">
                  <c:v>0.013277804822943</c:v>
                </c:pt>
                <c:pt idx="183">
                  <c:v>0.013288228653048</c:v>
                </c:pt>
                <c:pt idx="184">
                  <c:v>0.01329870524912</c:v>
                </c:pt>
                <c:pt idx="185">
                  <c:v>0.013309234711718</c:v>
                </c:pt>
                <c:pt idx="186">
                  <c:v>0.01331981714194</c:v>
                </c:pt>
                <c:pt idx="187">
                  <c:v>0.013330452641422</c:v>
                </c:pt>
                <c:pt idx="188">
                  <c:v>0.01334114131234</c:v>
                </c:pt>
                <c:pt idx="189">
                  <c:v>0.013351883257409</c:v>
                </c:pt>
                <c:pt idx="190">
                  <c:v>0.013362678579884</c:v>
                </c:pt>
                <c:pt idx="191">
                  <c:v>0.013373527383561</c:v>
                </c:pt>
                <c:pt idx="192">
                  <c:v>0.013384429772778</c:v>
                </c:pt>
                <c:pt idx="193">
                  <c:v>0.013395385852414</c:v>
                </c:pt>
                <c:pt idx="194">
                  <c:v>0.01340639572789</c:v>
                </c:pt>
                <c:pt idx="195">
                  <c:v>0.013417459505172</c:v>
                </c:pt>
                <c:pt idx="196">
                  <c:v>0.013428577290768</c:v>
                </c:pt>
                <c:pt idx="197">
                  <c:v>0.01343974919173</c:v>
                </c:pt>
                <c:pt idx="198">
                  <c:v>0.013450975315656</c:v>
                </c:pt>
                <c:pt idx="199">
                  <c:v>0.013462255770687</c:v>
                </c:pt>
                <c:pt idx="200">
                  <c:v>0.013473590665511</c:v>
                </c:pt>
                <c:pt idx="201">
                  <c:v>0.013484980109362</c:v>
                </c:pt>
                <c:pt idx="202">
                  <c:v>0.01349642421202</c:v>
                </c:pt>
                <c:pt idx="203">
                  <c:v>0.013507923083814</c:v>
                </c:pt>
                <c:pt idx="204">
                  <c:v>0.013519476835618</c:v>
                </c:pt>
                <c:pt idx="205">
                  <c:v>0.013531085578856</c:v>
                </c:pt>
                <c:pt idx="206">
                  <c:v>0.013542749425501</c:v>
                </c:pt>
                <c:pt idx="207">
                  <c:v>0.013554468488073</c:v>
                </c:pt>
                <c:pt idx="208">
                  <c:v>0.013566242879643</c:v>
                </c:pt>
                <c:pt idx="209">
                  <c:v>0.013578072713833</c:v>
                </c:pt>
                <c:pt idx="210">
                  <c:v>0.013589958104813</c:v>
                </c:pt>
                <c:pt idx="211">
                  <c:v>0.013601899167306</c:v>
                </c:pt>
                <c:pt idx="212">
                  <c:v>0.013613896016586</c:v>
                </c:pt>
                <c:pt idx="213">
                  <c:v>0.013625948768478</c:v>
                </c:pt>
                <c:pt idx="214">
                  <c:v>0.01363805753936</c:v>
                </c:pt>
                <c:pt idx="215">
                  <c:v>0.013650222446163</c:v>
                </c:pt>
                <c:pt idx="216">
                  <c:v>0.01366244360637</c:v>
                </c:pt>
                <c:pt idx="217">
                  <c:v>0.013674721138018</c:v>
                </c:pt>
                <c:pt idx="218">
                  <c:v>0.013687055159699</c:v>
                </c:pt>
                <c:pt idx="219">
                  <c:v>0.013699445790557</c:v>
                </c:pt>
                <c:pt idx="220">
                  <c:v>0.013711893150292</c:v>
                </c:pt>
                <c:pt idx="221">
                  <c:v>0.01372439735916</c:v>
                </c:pt>
                <c:pt idx="222">
                  <c:v>0.013736958537972</c:v>
                </c:pt>
                <c:pt idx="223">
                  <c:v>0.013749576808092</c:v>
                </c:pt>
                <c:pt idx="224">
                  <c:v>0.013762252291444</c:v>
                </c:pt>
                <c:pt idx="225">
                  <c:v>0.013774985110506</c:v>
                </c:pt>
                <c:pt idx="226">
                  <c:v>0.013787775388314</c:v>
                </c:pt>
                <c:pt idx="227">
                  <c:v>0.01380062324846</c:v>
                </c:pt>
                <c:pt idx="228">
                  <c:v>0.013813528815094</c:v>
                </c:pt>
                <c:pt idx="229">
                  <c:v>0.013826492212924</c:v>
                </c:pt>
                <c:pt idx="230">
                  <c:v>0.013839513567215</c:v>
                </c:pt>
                <c:pt idx="231">
                  <c:v>0.013852593003792</c:v>
                </c:pt>
                <c:pt idx="232">
                  <c:v>0.013865730649036</c:v>
                </c:pt>
                <c:pt idx="233">
                  <c:v>0.01387892662989</c:v>
                </c:pt>
                <c:pt idx="234">
                  <c:v>0.013892181073853</c:v>
                </c:pt>
                <c:pt idx="235">
                  <c:v>0.013905494108985</c:v>
                </c:pt>
                <c:pt idx="236">
                  <c:v>0.013918865863906</c:v>
                </c:pt>
                <c:pt idx="237">
                  <c:v>0.013932296467794</c:v>
                </c:pt>
                <c:pt idx="238">
                  <c:v>0.013945786050387</c:v>
                </c:pt>
                <c:pt idx="239">
                  <c:v>0.013959334741985</c:v>
                </c:pt>
                <c:pt idx="240">
                  <c:v>0.013972942673445</c:v>
                </c:pt>
                <c:pt idx="241">
                  <c:v>0.013986609976187</c:v>
                </c:pt>
                <c:pt idx="242">
                  <c:v>0.01400033678219</c:v>
                </c:pt>
                <c:pt idx="243">
                  <c:v>0.014014123223995</c:v>
                </c:pt>
                <c:pt idx="244">
                  <c:v>0.014027969434702</c:v>
                </c:pt>
                <c:pt idx="245">
                  <c:v>0.014041875547973</c:v>
                </c:pt>
                <c:pt idx="246">
                  <c:v>0.01405584169803</c:v>
                </c:pt>
                <c:pt idx="247">
                  <c:v>0.014069868019658</c:v>
                </c:pt>
                <c:pt idx="248">
                  <c:v>0.014083954648199</c:v>
                </c:pt>
                <c:pt idx="249">
                  <c:v>0.014098101719561</c:v>
                </c:pt>
                <c:pt idx="250">
                  <c:v>0.014112309370209</c:v>
                </c:pt>
                <c:pt idx="251">
                  <c:v>0.014126577737171</c:v>
                </c:pt>
                <c:pt idx="252">
                  <c:v>0.014140906958036</c:v>
                </c:pt>
                <c:pt idx="253">
                  <c:v>0.014155297170955</c:v>
                </c:pt>
                <c:pt idx="254">
                  <c:v>0.014169748514637</c:v>
                </c:pt>
                <c:pt idx="255">
                  <c:v>0.014184261128355</c:v>
                </c:pt>
                <c:pt idx="256">
                  <c:v>0.014198835151942</c:v>
                </c:pt>
                <c:pt idx="257">
                  <c:v>0.014213470725791</c:v>
                </c:pt>
                <c:pt idx="258">
                  <c:v>0.014228167990857</c:v>
                </c:pt>
                <c:pt idx="259">
                  <c:v>0.014242927088654</c:v>
                </c:pt>
                <c:pt idx="260">
                  <c:v>0.014257748161258</c:v>
                </c:pt>
                <c:pt idx="261">
                  <c:v>0.014272631351305</c:v>
                </c:pt>
                <c:pt idx="262">
                  <c:v>0.01428757680199</c:v>
                </c:pt>
                <c:pt idx="263">
                  <c:v>0.014302584657069</c:v>
                </c:pt>
                <c:pt idx="264">
                  <c:v>0.014317655060858</c:v>
                </c:pt>
                <c:pt idx="265">
                  <c:v>0.014332788158231</c:v>
                </c:pt>
                <c:pt idx="266">
                  <c:v>0.014347984094623</c:v>
                </c:pt>
                <c:pt idx="267">
                  <c:v>0.014363243016026</c:v>
                </c:pt>
                <c:pt idx="268">
                  <c:v>0.014378565068992</c:v>
                </c:pt>
                <c:pt idx="269">
                  <c:v>0.014393950400631</c:v>
                </c:pt>
                <c:pt idx="270">
                  <c:v>0.014409399158612</c:v>
                </c:pt>
                <c:pt idx="271">
                  <c:v>0.014424911491159</c:v>
                </c:pt>
                <c:pt idx="272">
                  <c:v>0.014440487547055</c:v>
                </c:pt>
                <c:pt idx="273">
                  <c:v>0.01445612747564</c:v>
                </c:pt>
                <c:pt idx="274">
                  <c:v>0.014471831426811</c:v>
                </c:pt>
                <c:pt idx="275">
                  <c:v>0.014487599551019</c:v>
                </c:pt>
                <c:pt idx="276">
                  <c:v>0.014503431999271</c:v>
                </c:pt>
                <c:pt idx="277">
                  <c:v>0.014519328923131</c:v>
                </c:pt>
                <c:pt idx="278">
                  <c:v>0.014535290474715</c:v>
                </c:pt>
                <c:pt idx="279">
                  <c:v>0.014551316806695</c:v>
                </c:pt>
                <c:pt idx="280">
                  <c:v>0.014567408072294</c:v>
                </c:pt>
                <c:pt idx="281">
                  <c:v>0.014583564425289</c:v>
                </c:pt>
                <c:pt idx="282">
                  <c:v>0.014599786020011</c:v>
                </c:pt>
                <c:pt idx="283">
                  <c:v>0.01461607301134</c:v>
                </c:pt>
                <c:pt idx="284">
                  <c:v>0.014632425554707</c:v>
                </c:pt>
                <c:pt idx="285">
                  <c:v>0.014648843806095</c:v>
                </c:pt>
                <c:pt idx="286">
                  <c:v>0.014665327922034</c:v>
                </c:pt>
                <c:pt idx="287">
                  <c:v>0.014681878059604</c:v>
                </c:pt>
                <c:pt idx="288">
                  <c:v>0.014698494376434</c:v>
                </c:pt>
                <c:pt idx="289">
                  <c:v>0.014715177030698</c:v>
                </c:pt>
                <c:pt idx="290">
                  <c:v>0.014731926181117</c:v>
                </c:pt>
                <c:pt idx="291">
                  <c:v>0.014748741986958</c:v>
                </c:pt>
                <c:pt idx="292">
                  <c:v>0.014765624608033</c:v>
                </c:pt>
                <c:pt idx="293">
                  <c:v>0.014782574204695</c:v>
                </c:pt>
                <c:pt idx="294">
                  <c:v>0.014799590937843</c:v>
                </c:pt>
                <c:pt idx="295">
                  <c:v>0.014816674968914</c:v>
                </c:pt>
                <c:pt idx="296">
                  <c:v>0.01483382645989</c:v>
                </c:pt>
                <c:pt idx="297">
                  <c:v>0.014851045573289</c:v>
                </c:pt>
                <c:pt idx="298">
                  <c:v>0.014868332472168</c:v>
                </c:pt>
                <c:pt idx="299">
                  <c:v>0.014885687320123</c:v>
                </c:pt>
                <c:pt idx="300">
                  <c:v>0.014903110281286</c:v>
                </c:pt>
                <c:pt idx="301">
                  <c:v>0.014920601520323</c:v>
                </c:pt>
                <c:pt idx="302">
                  <c:v>0.014938161202434</c:v>
                </c:pt>
                <c:pt idx="303">
                  <c:v>0.014955789493353</c:v>
                </c:pt>
                <c:pt idx="304">
                  <c:v>0.014973486559344</c:v>
                </c:pt>
                <c:pt idx="305">
                  <c:v>0.014991252567202</c:v>
                </c:pt>
                <c:pt idx="306">
                  <c:v>0.015009087684249</c:v>
                </c:pt>
                <c:pt idx="307">
                  <c:v>0.015026992078336</c:v>
                </c:pt>
                <c:pt idx="308">
                  <c:v>0.015044965917841</c:v>
                </c:pt>
                <c:pt idx="309">
                  <c:v>0.015063009371663</c:v>
                </c:pt>
                <c:pt idx="310">
                  <c:v>0.015081122609227</c:v>
                </c:pt>
                <c:pt idx="311">
                  <c:v>0.015099305800478</c:v>
                </c:pt>
                <c:pt idx="312">
                  <c:v>0.015117559115881</c:v>
                </c:pt>
                <c:pt idx="313">
                  <c:v>0.01513588272642</c:v>
                </c:pt>
                <c:pt idx="314">
                  <c:v>0.015154276803594</c:v>
                </c:pt>
                <c:pt idx="315">
                  <c:v>0.015172741519419</c:v>
                </c:pt>
                <c:pt idx="316">
                  <c:v>0.015191277046423</c:v>
                </c:pt>
                <c:pt idx="317">
                  <c:v>0.015209883557644</c:v>
                </c:pt>
                <c:pt idx="318">
                  <c:v>0.015228561226633</c:v>
                </c:pt>
                <c:pt idx="319">
                  <c:v>0.015247310227446</c:v>
                </c:pt>
                <c:pt idx="320">
                  <c:v>0.015266130734646</c:v>
                </c:pt>
                <c:pt idx="321">
                  <c:v>0.0152850229233</c:v>
                </c:pt>
                <c:pt idx="322">
                  <c:v>0.015303986968975</c:v>
                </c:pt>
                <c:pt idx="323">
                  <c:v>0.01532302304774</c:v>
                </c:pt>
                <c:pt idx="324">
                  <c:v>0.015342131336162</c:v>
                </c:pt>
                <c:pt idx="325">
                  <c:v>0.015361312011303</c:v>
                </c:pt>
                <c:pt idx="326">
                  <c:v>0.015380565250717</c:v>
                </c:pt>
                <c:pt idx="327">
                  <c:v>0.015399891232451</c:v>
                </c:pt>
                <c:pt idx="328">
                  <c:v>0.015419290135042</c:v>
                </c:pt>
                <c:pt idx="329">
                  <c:v>0.015438762137512</c:v>
                </c:pt>
                <c:pt idx="330">
                  <c:v>0.015458307419367</c:v>
                </c:pt>
                <c:pt idx="331">
                  <c:v>0.015477926160597</c:v>
                </c:pt>
                <c:pt idx="332">
                  <c:v>0.01549761854167</c:v>
                </c:pt>
                <c:pt idx="333">
                  <c:v>0.015517384743531</c:v>
                </c:pt>
                <c:pt idx="334">
                  <c:v>0.0155372249476</c:v>
                </c:pt>
                <c:pt idx="335">
                  <c:v>0.015557139335769</c:v>
                </c:pt>
                <c:pt idx="336">
                  <c:v>0.015577128090399</c:v>
                </c:pt>
                <c:pt idx="337">
                  <c:v>0.015597191394317</c:v>
                </c:pt>
                <c:pt idx="338">
                  <c:v>0.015617329430814</c:v>
                </c:pt>
                <c:pt idx="339">
                  <c:v>0.015637542383642</c:v>
                </c:pt>
                <c:pt idx="340">
                  <c:v>0.015657830437012</c:v>
                </c:pt>
                <c:pt idx="341">
                  <c:v>0.015678193775587</c:v>
                </c:pt>
                <c:pt idx="342">
                  <c:v>0.015698632584485</c:v>
                </c:pt>
                <c:pt idx="343">
                  <c:v>0.015719147049272</c:v>
                </c:pt>
                <c:pt idx="344">
                  <c:v>0.01573973735596</c:v>
                </c:pt>
                <c:pt idx="345">
                  <c:v>0.015760403691004</c:v>
                </c:pt>
                <c:pt idx="346">
                  <c:v>0.015781146241298</c:v>
                </c:pt>
                <c:pt idx="347">
                  <c:v>0.015801965194172</c:v>
                </c:pt>
                <c:pt idx="348">
                  <c:v>0.01582286073739</c:v>
                </c:pt>
                <c:pt idx="349">
                  <c:v>0.015843833059145</c:v>
                </c:pt>
                <c:pt idx="350">
                  <c:v>0.015864882348056</c:v>
                </c:pt>
                <c:pt idx="351">
                  <c:v>0.015886008793163</c:v>
                </c:pt>
                <c:pt idx="352">
                  <c:v>0.015907212583928</c:v>
                </c:pt>
                <c:pt idx="353">
                  <c:v>0.015928493910226</c:v>
                </c:pt>
                <c:pt idx="354">
                  <c:v>0.015949852962343</c:v>
                </c:pt>
                <c:pt idx="355">
                  <c:v>0.015971289930975</c:v>
                </c:pt>
                <c:pt idx="356">
                  <c:v>0.01599280500722</c:v>
                </c:pt>
                <c:pt idx="357">
                  <c:v>0.016014398382577</c:v>
                </c:pt>
                <c:pt idx="358">
                  <c:v>0.01603607024894</c:v>
                </c:pt>
                <c:pt idx="359">
                  <c:v>0.016057820798596</c:v>
                </c:pt>
                <c:pt idx="360">
                  <c:v>0.016079650224218</c:v>
                </c:pt>
                <c:pt idx="361">
                  <c:v>0.016101558718865</c:v>
                </c:pt>
                <c:pt idx="362">
                  <c:v>0.016123546475973</c:v>
                </c:pt>
                <c:pt idx="363">
                  <c:v>0.016145613689354</c:v>
                </c:pt>
                <c:pt idx="364">
                  <c:v>0.016167760553191</c:v>
                </c:pt>
                <c:pt idx="365">
                  <c:v>0.016189987262031</c:v>
                </c:pt>
                <c:pt idx="366">
                  <c:v>0.016212294010785</c:v>
                </c:pt>
                <c:pt idx="367">
                  <c:v>0.016234680994719</c:v>
                </c:pt>
                <c:pt idx="368">
                  <c:v>0.016257148409451</c:v>
                </c:pt>
                <c:pt idx="369">
                  <c:v>0.016279696450948</c:v>
                </c:pt>
                <c:pt idx="370">
                  <c:v>0.016302325315518</c:v>
                </c:pt>
                <c:pt idx="371">
                  <c:v>0.016325035199807</c:v>
                </c:pt>
                <c:pt idx="372">
                  <c:v>0.016347826300792</c:v>
                </c:pt>
                <c:pt idx="373">
                  <c:v>0.016370698815778</c:v>
                </c:pt>
                <c:pt idx="374">
                  <c:v>0.016393652942394</c:v>
                </c:pt>
                <c:pt idx="375">
                  <c:v>0.016416688878583</c:v>
                </c:pt>
                <c:pt idx="376">
                  <c:v>0.016439806822601</c:v>
                </c:pt>
                <c:pt idx="377">
                  <c:v>0.016463006973009</c:v>
                </c:pt>
                <c:pt idx="378">
                  <c:v>0.016486289528669</c:v>
                </c:pt>
                <c:pt idx="379">
                  <c:v>0.016509654688738</c:v>
                </c:pt>
                <c:pt idx="380">
                  <c:v>0.016533102652661</c:v>
                </c:pt>
                <c:pt idx="381">
                  <c:v>0.016556633620168</c:v>
                </c:pt>
                <c:pt idx="382">
                  <c:v>0.016580247791264</c:v>
                </c:pt>
                <c:pt idx="383">
                  <c:v>0.016603945366227</c:v>
                </c:pt>
                <c:pt idx="384">
                  <c:v>0.016627726545601</c:v>
                </c:pt>
                <c:pt idx="385">
                  <c:v>0.016651591530186</c:v>
                </c:pt>
                <c:pt idx="386">
                  <c:v>0.016675540521039</c:v>
                </c:pt>
                <c:pt idx="387">
                  <c:v>0.01669957371946</c:v>
                </c:pt>
                <c:pt idx="388">
                  <c:v>0.016723691326991</c:v>
                </c:pt>
                <c:pt idx="389">
                  <c:v>0.016747893545406</c:v>
                </c:pt>
                <c:pt idx="390">
                  <c:v>0.016772180576708</c:v>
                </c:pt>
                <c:pt idx="391">
                  <c:v>0.016796552623118</c:v>
                </c:pt>
                <c:pt idx="392">
                  <c:v>0.016821009887071</c:v>
                </c:pt>
                <c:pt idx="393">
                  <c:v>0.016845552571208</c:v>
                </c:pt>
                <c:pt idx="394">
                  <c:v>0.01687018087837</c:v>
                </c:pt>
                <c:pt idx="395">
                  <c:v>0.016894895011589</c:v>
                </c:pt>
                <c:pt idx="396">
                  <c:v>0.016919695174083</c:v>
                </c:pt>
                <c:pt idx="397">
                  <c:v>0.016944581569247</c:v>
                </c:pt>
                <c:pt idx="398">
                  <c:v>0.016969554400644</c:v>
                </c:pt>
                <c:pt idx="399">
                  <c:v>0.016994613872002</c:v>
                </c:pt>
                <c:pt idx="400">
                  <c:v>0.017019760187203</c:v>
                </c:pt>
                <c:pt idx="401">
                  <c:v>0.017044993550275</c:v>
                </c:pt>
                <c:pt idx="402">
                  <c:v>0.017070314165386</c:v>
                </c:pt>
                <c:pt idx="403">
                  <c:v>0.017095722236834</c:v>
                </c:pt>
                <c:pt idx="404">
                  <c:v>0.017121217969039</c:v>
                </c:pt>
                <c:pt idx="405">
                  <c:v>0.017146801566539</c:v>
                </c:pt>
                <c:pt idx="406">
                  <c:v>0.017172473233974</c:v>
                </c:pt>
                <c:pt idx="407">
                  <c:v>0.017198233176084</c:v>
                </c:pt>
                <c:pt idx="408">
                  <c:v>0.017224081597698</c:v>
                </c:pt>
                <c:pt idx="409">
                  <c:v>0.017250018703724</c:v>
                </c:pt>
                <c:pt idx="410">
                  <c:v>0.017276044699142</c:v>
                </c:pt>
                <c:pt idx="411">
                  <c:v>0.017302159788995</c:v>
                </c:pt>
                <c:pt idx="412">
                  <c:v>0.017328364178379</c:v>
                </c:pt>
                <c:pt idx="413">
                  <c:v>0.017354658072435</c:v>
                </c:pt>
                <c:pt idx="414">
                  <c:v>0.017381041676336</c:v>
                </c:pt>
                <c:pt idx="415">
                  <c:v>0.017407515195285</c:v>
                </c:pt>
                <c:pt idx="416">
                  <c:v>0.017434078834495</c:v>
                </c:pt>
                <c:pt idx="417">
                  <c:v>0.017460732799191</c:v>
                </c:pt>
                <c:pt idx="418">
                  <c:v>0.017487477294589</c:v>
                </c:pt>
                <c:pt idx="419">
                  <c:v>0.017514312525893</c:v>
                </c:pt>
                <c:pt idx="420">
                  <c:v>0.017541238698285</c:v>
                </c:pt>
                <c:pt idx="421">
                  <c:v>0.01756825601691</c:v>
                </c:pt>
                <c:pt idx="422">
                  <c:v>0.017595364686868</c:v>
                </c:pt>
                <c:pt idx="423">
                  <c:v>0.017622564913207</c:v>
                </c:pt>
                <c:pt idx="424">
                  <c:v>0.017649856900905</c:v>
                </c:pt>
                <c:pt idx="425">
                  <c:v>0.017677240854866</c:v>
                </c:pt>
                <c:pt idx="426">
                  <c:v>0.017704716979906</c:v>
                </c:pt>
                <c:pt idx="427">
                  <c:v>0.017732285480741</c:v>
                </c:pt>
                <c:pt idx="428">
                  <c:v>0.017759946561978</c:v>
                </c:pt>
                <c:pt idx="429">
                  <c:v>0.0177877004281</c:v>
                </c:pt>
                <c:pt idx="430">
                  <c:v>0.017815547283462</c:v>
                </c:pt>
                <c:pt idx="431">
                  <c:v>0.017843487332268</c:v>
                </c:pt>
                <c:pt idx="432">
                  <c:v>0.017871520778571</c:v>
                </c:pt>
                <c:pt idx="433">
                  <c:v>0.017899647826251</c:v>
                </c:pt>
                <c:pt idx="434">
                  <c:v>0.01792786867901</c:v>
                </c:pt>
                <c:pt idx="435">
                  <c:v>0.017956183540355</c:v>
                </c:pt>
                <c:pt idx="436">
                  <c:v>0.017984592613589</c:v>
                </c:pt>
                <c:pt idx="437">
                  <c:v>0.018013096101796</c:v>
                </c:pt>
                <c:pt idx="438">
                  <c:v>0.01804169420783</c:v>
                </c:pt>
                <c:pt idx="439">
                  <c:v>0.018070387134298</c:v>
                </c:pt>
                <c:pt idx="440">
                  <c:v>0.018099175083553</c:v>
                </c:pt>
                <c:pt idx="441">
                  <c:v>0.018128058257677</c:v>
                </c:pt>
                <c:pt idx="442">
                  <c:v>0.018157036858468</c:v>
                </c:pt>
                <c:pt idx="443">
                  <c:v>0.018186111087426</c:v>
                </c:pt>
                <c:pt idx="444">
                  <c:v>0.01821528114574</c:v>
                </c:pt>
                <c:pt idx="445">
                  <c:v>0.018244547234274</c:v>
                </c:pt>
                <c:pt idx="446">
                  <c:v>0.018273909553553</c:v>
                </c:pt>
                <c:pt idx="447">
                  <c:v>0.018303368303747</c:v>
                </c:pt>
                <c:pt idx="448">
                  <c:v>0.018332923684661</c:v>
                </c:pt>
                <c:pt idx="449">
                  <c:v>0.018362575895714</c:v>
                </c:pt>
                <c:pt idx="450">
                  <c:v>0.018392325135929</c:v>
                </c:pt>
                <c:pt idx="451">
                  <c:v>0.018422171603917</c:v>
                </c:pt>
                <c:pt idx="452">
                  <c:v>0.018452115497858</c:v>
                </c:pt>
                <c:pt idx="453">
                  <c:v>0.018482157015494</c:v>
                </c:pt>
                <c:pt idx="454">
                  <c:v>0.018512296354104</c:v>
                </c:pt>
                <c:pt idx="455">
                  <c:v>0.018542533710495</c:v>
                </c:pt>
                <c:pt idx="456">
                  <c:v>0.018572869280982</c:v>
                </c:pt>
                <c:pt idx="457">
                  <c:v>0.018603303261374</c:v>
                </c:pt>
                <c:pt idx="458">
                  <c:v>0.018633835846957</c:v>
                </c:pt>
                <c:pt idx="459">
                  <c:v>0.018664467232479</c:v>
                </c:pt>
                <c:pt idx="460">
                  <c:v>0.018695197612131</c:v>
                </c:pt>
                <c:pt idx="461">
                  <c:v>0.018726027179529</c:v>
                </c:pt>
                <c:pt idx="462">
                  <c:v>0.018756956127702</c:v>
                </c:pt>
                <c:pt idx="463">
                  <c:v>0.01878798464907</c:v>
                </c:pt>
                <c:pt idx="464">
                  <c:v>0.018819112935428</c:v>
                </c:pt>
                <c:pt idx="465">
                  <c:v>0.018850341177929</c:v>
                </c:pt>
                <c:pt idx="466">
                  <c:v>0.018881669567066</c:v>
                </c:pt>
                <c:pt idx="467">
                  <c:v>0.018913098292651</c:v>
                </c:pt>
                <c:pt idx="468">
                  <c:v>0.018944627543801</c:v>
                </c:pt>
                <c:pt idx="469">
                  <c:v>0.018976257508917</c:v>
                </c:pt>
                <c:pt idx="470">
                  <c:v>0.019007988375666</c:v>
                </c:pt>
                <c:pt idx="471">
                  <c:v>0.01903982033096</c:v>
                </c:pt>
                <c:pt idx="472">
                  <c:v>0.01907175356094</c:v>
                </c:pt>
                <c:pt idx="473">
                  <c:v>0.019103788250954</c:v>
                </c:pt>
                <c:pt idx="474">
                  <c:v>0.019135924585541</c:v>
                </c:pt>
                <c:pt idx="475">
                  <c:v>0.019168162748406</c:v>
                </c:pt>
                <c:pt idx="476">
                  <c:v>0.019200502922402</c:v>
                </c:pt>
                <c:pt idx="477">
                  <c:v>0.019232945289513</c:v>
                </c:pt>
                <c:pt idx="478">
                  <c:v>0.019265490030827</c:v>
                </c:pt>
                <c:pt idx="479">
                  <c:v>0.019298137326524</c:v>
                </c:pt>
                <c:pt idx="480">
                  <c:v>0.019330887355844</c:v>
                </c:pt>
                <c:pt idx="481">
                  <c:v>0.019363740297076</c:v>
                </c:pt>
                <c:pt idx="482">
                  <c:v>0.01939669632753</c:v>
                </c:pt>
                <c:pt idx="483">
                  <c:v>0.019429755623519</c:v>
                </c:pt>
                <c:pt idx="484">
                  <c:v>0.019462918360335</c:v>
                </c:pt>
                <c:pt idx="485">
                  <c:v>0.019496184712226</c:v>
                </c:pt>
                <c:pt idx="486">
                  <c:v>0.019529554852377</c:v>
                </c:pt>
                <c:pt idx="487">
                  <c:v>0.019563028952885</c:v>
                </c:pt>
                <c:pt idx="488">
                  <c:v>0.019596607184735</c:v>
                </c:pt>
                <c:pt idx="489">
                  <c:v>0.019630289717779</c:v>
                </c:pt>
                <c:pt idx="490">
                  <c:v>0.019664076720714</c:v>
                </c:pt>
                <c:pt idx="491">
                  <c:v>0.019697968361052</c:v>
                </c:pt>
                <c:pt idx="492">
                  <c:v>0.019731964805103</c:v>
                </c:pt>
                <c:pt idx="493">
                  <c:v>0.019766066217948</c:v>
                </c:pt>
                <c:pt idx="494">
                  <c:v>0.019800272763414</c:v>
                </c:pt>
                <c:pt idx="495">
                  <c:v>0.019834584604049</c:v>
                </c:pt>
                <c:pt idx="496">
                  <c:v>0.019869001901101</c:v>
                </c:pt>
                <c:pt idx="497">
                  <c:v>0.019903524814487</c:v>
                </c:pt>
                <c:pt idx="498">
                  <c:v>0.019938153502771</c:v>
                </c:pt>
                <c:pt idx="499">
                  <c:v>0.019972888123138</c:v>
                </c:pt>
                <c:pt idx="500">
                  <c:v>0.020007728831368</c:v>
                </c:pt>
                <c:pt idx="501">
                  <c:v>0.020042675781808</c:v>
                </c:pt>
                <c:pt idx="502">
                  <c:v>0.020077729127348</c:v>
                </c:pt>
                <c:pt idx="503">
                  <c:v>0.020112889019391</c:v>
                </c:pt>
                <c:pt idx="504">
                  <c:v>0.020148155607829</c:v>
                </c:pt>
                <c:pt idx="505">
                  <c:v>0.020183529041016</c:v>
                </c:pt>
                <c:pt idx="506">
                  <c:v>0.020219009465736</c:v>
                </c:pt>
                <c:pt idx="507">
                  <c:v>0.020254597027178</c:v>
                </c:pt>
                <c:pt idx="508">
                  <c:v>0.02029029186891</c:v>
                </c:pt>
                <c:pt idx="509">
                  <c:v>0.020326094132844</c:v>
                </c:pt>
                <c:pt idx="510">
                  <c:v>0.020362003959215</c:v>
                </c:pt>
                <c:pt idx="511">
                  <c:v>0.020398021486546</c:v>
                </c:pt>
                <c:pt idx="512">
                  <c:v>0.02043414685162</c:v>
                </c:pt>
                <c:pt idx="513">
                  <c:v>0.020470380189453</c:v>
                </c:pt>
                <c:pt idx="514">
                  <c:v>0.020506721633261</c:v>
                </c:pt>
                <c:pt idx="515">
                  <c:v>0.02054317131443</c:v>
                </c:pt>
                <c:pt idx="516">
                  <c:v>0.020579729362487</c:v>
                </c:pt>
                <c:pt idx="517">
                  <c:v>0.020616395905067</c:v>
                </c:pt>
                <c:pt idx="518">
                  <c:v>0.020653171067885</c:v>
                </c:pt>
                <c:pt idx="519">
                  <c:v>0.020690054974701</c:v>
                </c:pt>
                <c:pt idx="520">
                  <c:v>0.020727047747289</c:v>
                </c:pt>
                <c:pt idx="521">
                  <c:v>0.020764149505407</c:v>
                </c:pt>
                <c:pt idx="522">
                  <c:v>0.020801360366763</c:v>
                </c:pt>
                <c:pt idx="523">
                  <c:v>0.020838680446982</c:v>
                </c:pt>
                <c:pt idx="524">
                  <c:v>0.020876109859572</c:v>
                </c:pt>
                <c:pt idx="525">
                  <c:v>0.020913648715895</c:v>
                </c:pt>
                <c:pt idx="526">
                  <c:v>0.020951297125128</c:v>
                </c:pt>
                <c:pt idx="527">
                  <c:v>0.020989055194231</c:v>
                </c:pt>
                <c:pt idx="528">
                  <c:v>0.021026923027914</c:v>
                </c:pt>
                <c:pt idx="529">
                  <c:v>0.0210649007286</c:v>
                </c:pt>
                <c:pt idx="530">
                  <c:v>0.021102988396394</c:v>
                </c:pt>
                <c:pt idx="531">
                  <c:v>0.021141186129042</c:v>
                </c:pt>
                <c:pt idx="532">
                  <c:v>0.021179494021898</c:v>
                </c:pt>
                <c:pt idx="533">
                  <c:v>0.021217912167892</c:v>
                </c:pt>
                <c:pt idx="534">
                  <c:v>0.021256440657485</c:v>
                </c:pt>
                <c:pt idx="535">
                  <c:v>0.021295079578641</c:v>
                </c:pt>
                <c:pt idx="536">
                  <c:v>0.021333829016785</c:v>
                </c:pt>
                <c:pt idx="537">
                  <c:v>0.021372689054767</c:v>
                </c:pt>
                <c:pt idx="538">
                  <c:v>0.021411659772825</c:v>
                </c:pt>
                <c:pt idx="539">
                  <c:v>0.021450741248544</c:v>
                </c:pt>
                <c:pt idx="540">
                  <c:v>0.021489933556824</c:v>
                </c:pt>
                <c:pt idx="541">
                  <c:v>0.021529236769834</c:v>
                </c:pt>
                <c:pt idx="542">
                  <c:v>0.021568650956977</c:v>
                </c:pt>
                <c:pt idx="543">
                  <c:v>0.02160817618485</c:v>
                </c:pt>
                <c:pt idx="544">
                  <c:v>0.021647812517205</c:v>
                </c:pt>
                <c:pt idx="545">
                  <c:v>0.021687560014906</c:v>
                </c:pt>
                <c:pt idx="546">
                  <c:v>0.021727418735893</c:v>
                </c:pt>
                <c:pt idx="547">
                  <c:v>0.021767388735136</c:v>
                </c:pt>
                <c:pt idx="548">
                  <c:v>0.021807470064599</c:v>
                </c:pt>
                <c:pt idx="549">
                  <c:v>0.021847662773195</c:v>
                </c:pt>
                <c:pt idx="550">
                  <c:v>0.021887966906745</c:v>
                </c:pt>
                <c:pt idx="551">
                  <c:v>0.021928382507937</c:v>
                </c:pt>
                <c:pt idx="552">
                  <c:v>0.021968909616279</c:v>
                </c:pt>
                <c:pt idx="553">
                  <c:v>0.022009548268064</c:v>
                </c:pt>
                <c:pt idx="554">
                  <c:v>0.02205029849632</c:v>
                </c:pt>
                <c:pt idx="555">
                  <c:v>0.022091160330767</c:v>
                </c:pt>
                <c:pt idx="556">
                  <c:v>0.022132133797775</c:v>
                </c:pt>
                <c:pt idx="557">
                  <c:v>0.022173218920321</c:v>
                </c:pt>
                <c:pt idx="558">
                  <c:v>0.022214415717939</c:v>
                </c:pt>
                <c:pt idx="559">
                  <c:v>0.022255724206679</c:v>
                </c:pt>
                <c:pt idx="560">
                  <c:v>0.022297144399061</c:v>
                </c:pt>
                <c:pt idx="561">
                  <c:v>0.022338676304026</c:v>
                </c:pt>
                <c:pt idx="562">
                  <c:v>0.022380319926896</c:v>
                </c:pt>
                <c:pt idx="563">
                  <c:v>0.022422075269319</c:v>
                </c:pt>
                <c:pt idx="564">
                  <c:v>0.022463942329229</c:v>
                </c:pt>
                <c:pt idx="565">
                  <c:v>0.022505921100796</c:v>
                </c:pt>
                <c:pt idx="566">
                  <c:v>0.022548011574376</c:v>
                </c:pt>
                <c:pt idx="567">
                  <c:v>0.022590213736465</c:v>
                </c:pt>
                <c:pt idx="568">
                  <c:v>0.022632527569654</c:v>
                </c:pt>
                <c:pt idx="569">
                  <c:v>0.022674953052571</c:v>
                </c:pt>
                <c:pt idx="570">
                  <c:v>0.022717490159841</c:v>
                </c:pt>
                <c:pt idx="571">
                  <c:v>0.022760138862029</c:v>
                </c:pt>
                <c:pt idx="572">
                  <c:v>0.022802899125597</c:v>
                </c:pt>
                <c:pt idx="573">
                  <c:v>0.022845770912845</c:v>
                </c:pt>
                <c:pt idx="574">
                  <c:v>0.022888754181869</c:v>
                </c:pt>
                <c:pt idx="575">
                  <c:v>0.022931848886502</c:v>
                </c:pt>
                <c:pt idx="576">
                  <c:v>0.022975054976268</c:v>
                </c:pt>
                <c:pt idx="577">
                  <c:v>0.023018372396326</c:v>
                </c:pt>
                <c:pt idx="578">
                  <c:v>0.023061801087421</c:v>
                </c:pt>
                <c:pt idx="579">
                  <c:v>0.02310534098583</c:v>
                </c:pt>
                <c:pt idx="580">
                  <c:v>0.023148992023305</c:v>
                </c:pt>
                <c:pt idx="581">
                  <c:v>0.023192754127028</c:v>
                </c:pt>
                <c:pt idx="582">
                  <c:v>0.023236627219548</c:v>
                </c:pt>
                <c:pt idx="583">
                  <c:v>0.02328061121873</c:v>
                </c:pt>
                <c:pt idx="584">
                  <c:v>0.023324706037704</c:v>
                </c:pt>
                <c:pt idx="585">
                  <c:v>0.023368911584803</c:v>
                </c:pt>
                <c:pt idx="586">
                  <c:v>0.023413227763512</c:v>
                </c:pt>
                <c:pt idx="587">
                  <c:v>0.023457654472409</c:v>
                </c:pt>
                <c:pt idx="588">
                  <c:v>0.023502191605113</c:v>
                </c:pt>
                <c:pt idx="589">
                  <c:v>0.023546839050223</c:v>
                </c:pt>
                <c:pt idx="590">
                  <c:v>0.023591596691263</c:v>
                </c:pt>
                <c:pt idx="591">
                  <c:v>0.023636464406623</c:v>
                </c:pt>
                <c:pt idx="592">
                  <c:v>0.023681442069504</c:v>
                </c:pt>
                <c:pt idx="593">
                  <c:v>0.023726529547856</c:v>
                </c:pt>
                <c:pt idx="594">
                  <c:v>0.023771726704321</c:v>
                </c:pt>
                <c:pt idx="595">
                  <c:v>0.023817033396176</c:v>
                </c:pt>
                <c:pt idx="596">
                  <c:v>0.023862449475269</c:v>
                </c:pt>
                <c:pt idx="597">
                  <c:v>0.023907974787964</c:v>
                </c:pt>
                <c:pt idx="598">
                  <c:v>0.023953609175077</c:v>
                </c:pt>
                <c:pt idx="599">
                  <c:v>0.023999352471816</c:v>
                </c:pt>
                <c:pt idx="600">
                  <c:v>0.024045204507723</c:v>
                </c:pt>
                <c:pt idx="601">
                  <c:v>0.024091165106609</c:v>
                </c:pt>
                <c:pt idx="602">
                  <c:v>0.024137234086494</c:v>
                </c:pt>
                <c:pt idx="603">
                  <c:v>0.024183411259544</c:v>
                </c:pt>
                <c:pt idx="604">
                  <c:v>0.024229696432009</c:v>
                </c:pt>
                <c:pt idx="605">
                  <c:v>0.024276089404161</c:v>
                </c:pt>
                <c:pt idx="606">
                  <c:v>0.024322589970228</c:v>
                </c:pt>
                <c:pt idx="607">
                  <c:v>0.024369197918333</c:v>
                </c:pt>
                <c:pt idx="608">
                  <c:v>0.02441591303043</c:v>
                </c:pt>
                <c:pt idx="609">
                  <c:v>0.024462735082235</c:v>
                </c:pt>
                <c:pt idx="610">
                  <c:v>0.02450966384317</c:v>
                </c:pt>
                <c:pt idx="611">
                  <c:v>0.02455669907629</c:v>
                </c:pt>
                <c:pt idx="612">
                  <c:v>0.02460384053822</c:v>
                </c:pt>
                <c:pt idx="613">
                  <c:v>0.024651087979091</c:v>
                </c:pt>
                <c:pt idx="614">
                  <c:v>0.024698441142469</c:v>
                </c:pt>
                <c:pt idx="615">
                  <c:v>0.024745899765294</c:v>
                </c:pt>
                <c:pt idx="616">
                  <c:v>0.024793463577809</c:v>
                </c:pt>
                <c:pt idx="617">
                  <c:v>0.024841132303494</c:v>
                </c:pt>
                <c:pt idx="618">
                  <c:v>0.024888905658997</c:v>
                </c:pt>
                <c:pt idx="619">
                  <c:v>0.024936783354069</c:v>
                </c:pt>
                <c:pt idx="620">
                  <c:v>0.024984765091493</c:v>
                </c:pt>
                <c:pt idx="621">
                  <c:v>0.025032850567016</c:v>
                </c:pt>
                <c:pt idx="622">
                  <c:v>0.025081039469278</c:v>
                </c:pt>
                <c:pt idx="623">
                  <c:v>0.025129331479747</c:v>
                </c:pt>
                <c:pt idx="624">
                  <c:v>0.025177726272645</c:v>
                </c:pt>
                <c:pt idx="625">
                  <c:v>0.025226223514881</c:v>
                </c:pt>
                <c:pt idx="626">
                  <c:v>0.025274822865977</c:v>
                </c:pt>
                <c:pt idx="627">
                  <c:v>0.025323523978</c:v>
                </c:pt>
                <c:pt idx="628">
                  <c:v>0.025372326495492</c:v>
                </c:pt>
                <c:pt idx="629">
                  <c:v>0.025421230055395</c:v>
                </c:pt>
                <c:pt idx="630">
                  <c:v>0.02547023428698</c:v>
                </c:pt>
                <c:pt idx="631">
                  <c:v>0.025519338811779</c:v>
                </c:pt>
                <c:pt idx="632">
                  <c:v>0.025568543243507</c:v>
                </c:pt>
                <c:pt idx="633">
                  <c:v>0.025617847187995</c:v>
                </c:pt>
                <c:pt idx="634">
                  <c:v>0.02566725024311</c:v>
                </c:pt>
                <c:pt idx="635">
                  <c:v>0.025716751998689</c:v>
                </c:pt>
                <c:pt idx="636">
                  <c:v>0.025766352036462</c:v>
                </c:pt>
                <c:pt idx="637">
                  <c:v>0.025816049929977</c:v>
                </c:pt>
                <c:pt idx="638">
                  <c:v>0.025865845244529</c:v>
                </c:pt>
                <c:pt idx="639">
                  <c:v>0.025915737537084</c:v>
                </c:pt>
                <c:pt idx="640">
                  <c:v>0.025965726356203</c:v>
                </c:pt>
                <c:pt idx="641">
                  <c:v>0.026015811241969</c:v>
                </c:pt>
                <c:pt idx="642">
                  <c:v>0.026065991725912</c:v>
                </c:pt>
                <c:pt idx="643">
                  <c:v>0.026116267330933</c:v>
                </c:pt>
                <c:pt idx="644">
                  <c:v>0.026166637571227</c:v>
                </c:pt>
                <c:pt idx="645">
                  <c:v>0.026217101952211</c:v>
                </c:pt>
                <c:pt idx="646">
                  <c:v>0.026267659970443</c:v>
                </c:pt>
                <c:pt idx="647">
                  <c:v>0.026318311113548</c:v>
                </c:pt>
                <c:pt idx="648">
                  <c:v>0.026369054860141</c:v>
                </c:pt>
                <c:pt idx="649">
                  <c:v>0.026419890679754</c:v>
                </c:pt>
                <c:pt idx="650">
                  <c:v>0.026470818032751</c:v>
                </c:pt>
                <c:pt idx="651">
                  <c:v>0.026521836370257</c:v>
                </c:pt>
                <c:pt idx="652">
                  <c:v>0.02657294513408</c:v>
                </c:pt>
                <c:pt idx="653">
                  <c:v>0.026624143756631</c:v>
                </c:pt>
                <c:pt idx="654">
                  <c:v>0.026675431660848</c:v>
                </c:pt>
                <c:pt idx="655">
                  <c:v>0.026726808260117</c:v>
                </c:pt>
                <c:pt idx="656">
                  <c:v>0.026778272958196</c:v>
                </c:pt>
                <c:pt idx="657">
                  <c:v>0.026829825149134</c:v>
                </c:pt>
                <c:pt idx="658">
                  <c:v>0.026881464217193</c:v>
                </c:pt>
                <c:pt idx="659">
                  <c:v>0.026933189536774</c:v>
                </c:pt>
                <c:pt idx="660">
                  <c:v>0.02698500047233</c:v>
                </c:pt>
                <c:pt idx="661">
                  <c:v>0.027036896378294</c:v>
                </c:pt>
                <c:pt idx="662">
                  <c:v>0.027088876598999</c:v>
                </c:pt>
                <c:pt idx="663">
                  <c:v>0.027140940468597</c:v>
                </c:pt>
                <c:pt idx="664">
                  <c:v>0.02719308731098</c:v>
                </c:pt>
                <c:pt idx="665">
                  <c:v>0.027245316439703</c:v>
                </c:pt>
                <c:pt idx="666">
                  <c:v>0.027297627157903</c:v>
                </c:pt>
                <c:pt idx="667">
                  <c:v>0.027350018758219</c:v>
                </c:pt>
                <c:pt idx="668">
                  <c:v>0.027402490522715</c:v>
                </c:pt>
                <c:pt idx="669">
                  <c:v>0.027455041722799</c:v>
                </c:pt>
                <c:pt idx="670">
                  <c:v>0.027507671619144</c:v>
                </c:pt>
                <c:pt idx="671">
                  <c:v>0.027560379461609</c:v>
                </c:pt>
                <c:pt idx="672">
                  <c:v>0.027613164489156</c:v>
                </c:pt>
                <c:pt idx="673">
                  <c:v>0.027666025929777</c:v>
                </c:pt>
                <c:pt idx="674">
                  <c:v>0.027718963000409</c:v>
                </c:pt>
                <c:pt idx="675">
                  <c:v>0.027771974906856</c:v>
                </c:pt>
                <c:pt idx="676">
                  <c:v>0.027825060843713</c:v>
                </c:pt>
                <c:pt idx="677">
                  <c:v>0.027878219994279</c:v>
                </c:pt>
                <c:pt idx="678">
                  <c:v>0.027931451530487</c:v>
                </c:pt>
                <c:pt idx="679">
                  <c:v>0.027984754612817</c:v>
                </c:pt>
                <c:pt idx="680">
                  <c:v>0.028038128390221</c:v>
                </c:pt>
                <c:pt idx="681">
                  <c:v>0.028091572000043</c:v>
                </c:pt>
                <c:pt idx="682">
                  <c:v>0.028145084567941</c:v>
                </c:pt>
                <c:pt idx="683">
                  <c:v>0.028198665207805</c:v>
                </c:pt>
                <c:pt idx="684">
                  <c:v>0.028252313021681</c:v>
                </c:pt>
                <c:pt idx="685">
                  <c:v>0.028306027099695</c:v>
                </c:pt>
                <c:pt idx="686">
                  <c:v>0.028359806519967</c:v>
                </c:pt>
                <c:pt idx="687">
                  <c:v>0.028413650348539</c:v>
                </c:pt>
                <c:pt idx="688">
                  <c:v>0.028467557639298</c:v>
                </c:pt>
                <c:pt idx="689">
                  <c:v>0.028521527433892</c:v>
                </c:pt>
                <c:pt idx="690">
                  <c:v>0.028575558761658</c:v>
                </c:pt>
                <c:pt idx="691">
                  <c:v>0.028629650639542</c:v>
                </c:pt>
                <c:pt idx="692">
                  <c:v>0.028683802072023</c:v>
                </c:pt>
                <c:pt idx="693">
                  <c:v>0.028738012051035</c:v>
                </c:pt>
                <c:pt idx="694">
                  <c:v>0.028792279555894</c:v>
                </c:pt>
                <c:pt idx="695">
                  <c:v>0.028846603553216</c:v>
                </c:pt>
                <c:pt idx="696">
                  <c:v>0.028900982996846</c:v>
                </c:pt>
                <c:pt idx="697">
                  <c:v>0.02895541682778</c:v>
                </c:pt>
                <c:pt idx="698">
                  <c:v>0.029009903974092</c:v>
                </c:pt>
                <c:pt idx="699">
                  <c:v>0.029064443350856</c:v>
                </c:pt>
                <c:pt idx="700">
                  <c:v>0.029119033860073</c:v>
                </c:pt>
                <c:pt idx="701">
                  <c:v>0.0291736743906</c:v>
                </c:pt>
                <c:pt idx="702">
                  <c:v>0.029228363818072</c:v>
                </c:pt>
                <c:pt idx="703">
                  <c:v>0.029283101004829</c:v>
                </c:pt>
                <c:pt idx="704">
                  <c:v>0.029337884799848</c:v>
                </c:pt>
                <c:pt idx="705">
                  <c:v>0.029392714038666</c:v>
                </c:pt>
                <c:pt idx="706">
                  <c:v>0.029447587543309</c:v>
                </c:pt>
                <c:pt idx="707">
                  <c:v>0.029502504122224</c:v>
                </c:pt>
                <c:pt idx="708">
                  <c:v>0.029557462570204</c:v>
                </c:pt>
                <c:pt idx="709">
                  <c:v>0.029612461668322</c:v>
                </c:pt>
                <c:pt idx="710">
                  <c:v>0.029667500183858</c:v>
                </c:pt>
                <c:pt idx="711">
                  <c:v>0.029722576870232</c:v>
                </c:pt>
                <c:pt idx="712">
                  <c:v>0.029777690466937</c:v>
                </c:pt>
                <c:pt idx="713">
                  <c:v>0.029832839699466</c:v>
                </c:pt>
                <c:pt idx="714">
                  <c:v>0.029888023279252</c:v>
                </c:pt>
                <c:pt idx="715">
                  <c:v>0.029943239903598</c:v>
                </c:pt>
                <c:pt idx="716">
                  <c:v>0.029998488255611</c:v>
                </c:pt>
                <c:pt idx="717">
                  <c:v>0.030053767004137</c:v>
                </c:pt>
                <c:pt idx="718">
                  <c:v>0.0301090748037</c:v>
                </c:pt>
                <c:pt idx="719">
                  <c:v>0.030164410294435</c:v>
                </c:pt>
                <c:pt idx="720">
                  <c:v>0.030219772102029</c:v>
                </c:pt>
                <c:pt idx="721">
                  <c:v>0.030275158837655</c:v>
                </c:pt>
                <c:pt idx="722">
                  <c:v>0.030330569097913</c:v>
                </c:pt>
                <c:pt idx="723">
                  <c:v>0.030386001464774</c:v>
                </c:pt>
                <c:pt idx="724">
                  <c:v>0.030441454505515</c:v>
                </c:pt>
                <c:pt idx="725">
                  <c:v>0.030496926772661</c:v>
                </c:pt>
                <c:pt idx="726">
                  <c:v>0.030552416803935</c:v>
                </c:pt>
                <c:pt idx="727">
                  <c:v>0.030607923122191</c:v>
                </c:pt>
                <c:pt idx="728">
                  <c:v>0.03066344423537</c:v>
                </c:pt>
                <c:pt idx="729">
                  <c:v>0.030718978636435</c:v>
                </c:pt>
                <c:pt idx="730">
                  <c:v>0.030774524803325</c:v>
                </c:pt>
                <c:pt idx="731">
                  <c:v>0.030830081198902</c:v>
                </c:pt>
                <c:pt idx="732">
                  <c:v>0.030885646270896</c:v>
                </c:pt>
                <c:pt idx="733">
                  <c:v>0.030941218451859</c:v>
                </c:pt>
                <c:pt idx="734">
                  <c:v>0.030996796159116</c:v>
                </c:pt>
                <c:pt idx="735">
                  <c:v>0.031052377794715</c:v>
                </c:pt>
                <c:pt idx="736">
                  <c:v>0.03110796174538</c:v>
                </c:pt>
                <c:pt idx="737">
                  <c:v>0.031163546382472</c:v>
                </c:pt>
                <c:pt idx="738">
                  <c:v>0.031219130061938</c:v>
                </c:pt>
                <c:pt idx="739">
                  <c:v>0.03127471112427</c:v>
                </c:pt>
                <c:pt idx="740">
                  <c:v>0.031330287894469</c:v>
                </c:pt>
                <c:pt idx="741">
                  <c:v>0.031385858681997</c:v>
                </c:pt>
                <c:pt idx="742">
                  <c:v>0.031441421780745</c:v>
                </c:pt>
                <c:pt idx="743">
                  <c:v>0.031496975468996</c:v>
                </c:pt>
                <c:pt idx="744">
                  <c:v>0.031552518009386</c:v>
                </c:pt>
                <c:pt idx="745">
                  <c:v>0.03160804764887</c:v>
                </c:pt>
                <c:pt idx="746">
                  <c:v>0.031663562618691</c:v>
                </c:pt>
                <c:pt idx="747">
                  <c:v>0.031719061134345</c:v>
                </c:pt>
                <c:pt idx="748">
                  <c:v>0.031774541395556</c:v>
                </c:pt>
                <c:pt idx="749">
                  <c:v>0.031830001586244</c:v>
                </c:pt>
                <c:pt idx="750">
                  <c:v>0.031885439874498</c:v>
                </c:pt>
                <c:pt idx="751">
                  <c:v>0.031940854412558</c:v>
                </c:pt>
                <c:pt idx="752">
                  <c:v>0.031996243336782</c:v>
                </c:pt>
                <c:pt idx="753">
                  <c:v>0.032051604767634</c:v>
                </c:pt>
                <c:pt idx="754">
                  <c:v>0.032106936809663</c:v>
                </c:pt>
                <c:pt idx="755">
                  <c:v>0.032162237551487</c:v>
                </c:pt>
                <c:pt idx="756">
                  <c:v>0.032217505065771</c:v>
                </c:pt>
                <c:pt idx="757">
                  <c:v>0.032272737409214</c:v>
                </c:pt>
                <c:pt idx="758">
                  <c:v>0.032327932622537</c:v>
                </c:pt>
                <c:pt idx="759">
                  <c:v>0.032383088730474</c:v>
                </c:pt>
                <c:pt idx="760">
                  <c:v>0.032438203741759</c:v>
                </c:pt>
                <c:pt idx="761">
                  <c:v>0.032493275649124</c:v>
                </c:pt>
                <c:pt idx="762">
                  <c:v>0.032548302429293</c:v>
                </c:pt>
                <c:pt idx="763">
                  <c:v>0.03260328204298</c:v>
                </c:pt>
                <c:pt idx="764">
                  <c:v>0.032658212434895</c:v>
                </c:pt>
                <c:pt idx="765">
                  <c:v>0.032713091533751</c:v>
                </c:pt>
                <c:pt idx="766">
                  <c:v>0.032767917252262</c:v>
                </c:pt>
                <c:pt idx="767">
                  <c:v>0.03282268748714</c:v>
                </c:pt>
                <c:pt idx="768">
                  <c:v>0.032877400119111</c:v>
                </c:pt>
                <c:pt idx="769">
                  <c:v>0.032932053012918</c:v>
                </c:pt>
                <c:pt idx="770">
                  <c:v>0.032986644017345</c:v>
                </c:pt>
                <c:pt idx="771">
                  <c:v>0.03304117096522</c:v>
                </c:pt>
                <c:pt idx="772">
                  <c:v>0.033095631673446</c:v>
                </c:pt>
                <c:pt idx="773">
                  <c:v>0.03315002394302</c:v>
                </c:pt>
                <c:pt idx="774">
                  <c:v>0.033204345559107</c:v>
                </c:pt>
                <c:pt idx="775">
                  <c:v>0.033258594291035</c:v>
                </c:pt>
                <c:pt idx="776">
                  <c:v>0.033312767892297</c:v>
                </c:pt>
                <c:pt idx="777">
                  <c:v>0.033366864100583</c:v>
                </c:pt>
                <c:pt idx="778">
                  <c:v>0.033420880637811</c:v>
                </c:pt>
                <c:pt idx="779">
                  <c:v>0.033474815210165</c:v>
                </c:pt>
                <c:pt idx="780">
                  <c:v>0.03352866550813</c:v>
                </c:pt>
                <c:pt idx="781">
                  <c:v>0.033582429206538</c:v>
                </c:pt>
                <c:pt idx="782">
                  <c:v>0.033636103964634</c:v>
                </c:pt>
                <c:pt idx="783">
                  <c:v>0.033689687426141</c:v>
                </c:pt>
                <c:pt idx="784">
                  <c:v>0.033743177219275</c:v>
                </c:pt>
                <c:pt idx="785">
                  <c:v>0.03379657095679</c:v>
                </c:pt>
                <c:pt idx="786">
                  <c:v>0.033849866236032</c:v>
                </c:pt>
                <c:pt idx="787">
                  <c:v>0.033903060639004</c:v>
                </c:pt>
                <c:pt idx="788">
                  <c:v>0.033956151732423</c:v>
                </c:pt>
                <c:pt idx="789">
                  <c:v>0.034009137067788</c:v>
                </c:pt>
                <c:pt idx="790">
                  <c:v>0.034062014181498</c:v>
                </c:pt>
                <c:pt idx="791">
                  <c:v>0.034114780594939</c:v>
                </c:pt>
                <c:pt idx="792">
                  <c:v>0.034167433814503</c:v>
                </c:pt>
                <c:pt idx="793">
                  <c:v>0.03421997133166</c:v>
                </c:pt>
                <c:pt idx="794">
                  <c:v>0.034272390623042</c:v>
                </c:pt>
                <c:pt idx="795">
                  <c:v>0.034324689150548</c:v>
                </c:pt>
                <c:pt idx="796">
                  <c:v>0.034376864361602</c:v>
                </c:pt>
                <c:pt idx="797">
                  <c:v>0.034428913689199</c:v>
                </c:pt>
                <c:pt idx="798">
                  <c:v>0.034480834551866</c:v>
                </c:pt>
                <c:pt idx="799">
                  <c:v>0.034532624353749</c:v>
                </c:pt>
                <c:pt idx="800">
                  <c:v>0.034584280484719</c:v>
                </c:pt>
                <c:pt idx="801">
                  <c:v>0.034635800320553</c:v>
                </c:pt>
                <c:pt idx="802">
                  <c:v>0.034687181223124</c:v>
                </c:pt>
                <c:pt idx="803">
                  <c:v>0.034738420540389</c:v>
                </c:pt>
                <c:pt idx="804">
                  <c:v>0.034789515606481</c:v>
                </c:pt>
                <c:pt idx="805">
                  <c:v>0.034840463741868</c:v>
                </c:pt>
                <c:pt idx="806">
                  <c:v>0.034891262253653</c:v>
                </c:pt>
                <c:pt idx="807">
                  <c:v>0.034941908435608</c:v>
                </c:pt>
                <c:pt idx="808">
                  <c:v>0.034992399568238</c:v>
                </c:pt>
                <c:pt idx="809">
                  <c:v>0.035042732919202</c:v>
                </c:pt>
                <c:pt idx="810">
                  <c:v>0.035092905743591</c:v>
                </c:pt>
                <c:pt idx="811">
                  <c:v>0.035142915283772</c:v>
                </c:pt>
                <c:pt idx="812">
                  <c:v>0.035192758769705</c:v>
                </c:pt>
                <c:pt idx="813">
                  <c:v>0.035242433419225</c:v>
                </c:pt>
                <c:pt idx="814">
                  <c:v>0.035291936438329</c:v>
                </c:pt>
                <c:pt idx="815">
                  <c:v>0.035341265020888</c:v>
                </c:pt>
                <c:pt idx="816">
                  <c:v>0.03539041634865</c:v>
                </c:pt>
                <c:pt idx="817">
                  <c:v>0.035439387591381</c:v>
                </c:pt>
                <c:pt idx="818">
                  <c:v>0.035488175907025</c:v>
                </c:pt>
                <c:pt idx="819">
                  <c:v>0.035536778441867</c:v>
                </c:pt>
                <c:pt idx="820">
                  <c:v>0.03558519233071</c:v>
                </c:pt>
                <c:pt idx="821">
                  <c:v>0.035633414697049</c:v>
                </c:pt>
                <c:pt idx="822">
                  <c:v>0.035681442653261</c:v>
                </c:pt>
                <c:pt idx="823">
                  <c:v>0.03572927330079</c:v>
                </c:pt>
                <c:pt idx="824">
                  <c:v>0.035776903730347</c:v>
                </c:pt>
                <c:pt idx="825">
                  <c:v>0.035824331022104</c:v>
                </c:pt>
                <c:pt idx="826">
                  <c:v>0.035871552245905</c:v>
                </c:pt>
                <c:pt idx="827">
                  <c:v>0.035918564461469</c:v>
                </c:pt>
                <c:pt idx="828">
                  <c:v>0.035965364718607</c:v>
                </c:pt>
                <c:pt idx="829">
                  <c:v>0.036011950057445</c:v>
                </c:pt>
                <c:pt idx="830">
                  <c:v>0.036058317508639</c:v>
                </c:pt>
                <c:pt idx="831">
                  <c:v>0.036104464093612</c:v>
                </c:pt>
                <c:pt idx="832">
                  <c:v>0.036150386824782</c:v>
                </c:pt>
                <c:pt idx="833">
                  <c:v>0.036196082705806</c:v>
                </c:pt>
                <c:pt idx="834">
                  <c:v>0.036241548731816</c:v>
                </c:pt>
                <c:pt idx="835">
                  <c:v>0.036286781889676</c:v>
                </c:pt>
                <c:pt idx="836">
                  <c:v>0.036331779158228</c:v>
                </c:pt>
                <c:pt idx="837">
                  <c:v>0.036376537508556</c:v>
                </c:pt>
                <c:pt idx="838">
                  <c:v>0.036421053904246</c:v>
                </c:pt>
                <c:pt idx="839">
                  <c:v>0.036465325301656</c:v>
                </c:pt>
                <c:pt idx="840">
                  <c:v>0.036509348650189</c:v>
                </c:pt>
                <c:pt idx="841">
                  <c:v>0.036553120892573</c:v>
                </c:pt>
                <c:pt idx="842">
                  <c:v>0.036596638965145</c:v>
                </c:pt>
                <c:pt idx="843">
                  <c:v>0.036639899798137</c:v>
                </c:pt>
                <c:pt idx="844">
                  <c:v>0.036682900315976</c:v>
                </c:pt>
                <c:pt idx="845">
                  <c:v>0.036725637437577</c:v>
                </c:pt>
                <c:pt idx="846">
                  <c:v>0.036768108076654</c:v>
                </c:pt>
                <c:pt idx="847">
                  <c:v>0.036810309142023</c:v>
                </c:pt>
                <c:pt idx="848">
                  <c:v>0.036852237537926</c:v>
                </c:pt>
                <c:pt idx="849">
                  <c:v>0.036893890164343</c:v>
                </c:pt>
                <c:pt idx="850">
                  <c:v>0.036935263917322</c:v>
                </c:pt>
                <c:pt idx="851">
                  <c:v>0.036976355689312</c:v>
                </c:pt>
                <c:pt idx="852">
                  <c:v>0.037017162369494</c:v>
                </c:pt>
                <c:pt idx="853">
                  <c:v>0.037057680844129</c:v>
                </c:pt>
                <c:pt idx="854">
                  <c:v>0.0370979079969</c:v>
                </c:pt>
                <c:pt idx="855">
                  <c:v>0.037137840709268</c:v>
                </c:pt>
                <c:pt idx="856">
                  <c:v>0.03717747586083</c:v>
                </c:pt>
                <c:pt idx="857">
                  <c:v>0.03721681032968</c:v>
                </c:pt>
                <c:pt idx="858">
                  <c:v>0.03725584099278</c:v>
                </c:pt>
                <c:pt idx="859">
                  <c:v>0.037294564726337</c:v>
                </c:pt>
                <c:pt idx="860">
                  <c:v>0.03733297840618</c:v>
                </c:pt>
                <c:pt idx="861">
                  <c:v>0.037371078908145</c:v>
                </c:pt>
                <c:pt idx="862">
                  <c:v>0.037408863108476</c:v>
                </c:pt>
                <c:pt idx="863">
                  <c:v>0.037446327884228</c:v>
                </c:pt>
                <c:pt idx="864">
                  <c:v>0.037483470113704</c:v>
                </c:pt>
                <c:pt idx="865">
                  <c:v>0.037520286676831</c:v>
                </c:pt>
                <c:pt idx="866">
                  <c:v>0.037556774455578</c:v>
                </c:pt>
                <c:pt idx="867">
                  <c:v>0.037592930334394</c:v>
                </c:pt>
                <c:pt idx="868">
                  <c:v>0.03762875120068</c:v>
                </c:pt>
                <c:pt idx="869">
                  <c:v>0.037664233945627</c:v>
                </c:pt>
                <c:pt idx="870">
                  <c:v>0.037699375464835</c:v>
                </c:pt>
                <c:pt idx="871">
                  <c:v>0.037734172658243</c:v>
                </c:pt>
                <c:pt idx="872">
                  <c:v>0.03776862243046</c:v>
                </c:pt>
                <c:pt idx="873">
                  <c:v>0.037802721691198</c:v>
                </c:pt>
                <c:pt idx="874">
                  <c:v>0.037836467355742</c:v>
                </c:pt>
                <c:pt idx="875">
                  <c:v>0.037869856345422</c:v>
                </c:pt>
                <c:pt idx="876">
                  <c:v>0.037902885588092</c:v>
                </c:pt>
                <c:pt idx="877">
                  <c:v>0.037935552018633</c:v>
                </c:pt>
                <c:pt idx="878">
                  <c:v>0.037967852579488</c:v>
                </c:pt>
                <c:pt idx="879">
                  <c:v>0.037999784221414</c:v>
                </c:pt>
                <c:pt idx="880">
                  <c:v>0.03803134390517</c:v>
                </c:pt>
                <c:pt idx="881">
                  <c:v>0.038062528601801</c:v>
                </c:pt>
                <c:pt idx="882">
                  <c:v>0.038093335292107</c:v>
                </c:pt>
                <c:pt idx="883">
                  <c:v>0.038123760967002</c:v>
                </c:pt>
                <c:pt idx="884">
                  <c:v>0.038153802628035</c:v>
                </c:pt>
                <c:pt idx="885">
                  <c:v>0.038183457287945</c:v>
                </c:pt>
                <c:pt idx="886">
                  <c:v>0.038212721971205</c:v>
                </c:pt>
                <c:pt idx="887">
                  <c:v>0.038241593714645</c:v>
                </c:pt>
                <c:pt idx="888">
                  <c:v>0.038270069568163</c:v>
                </c:pt>
                <c:pt idx="889">
                  <c:v>0.038298146596149</c:v>
                </c:pt>
                <c:pt idx="890">
                  <c:v>0.038325821880786</c:v>
                </c:pt>
                <c:pt idx="891">
                  <c:v>0.038353092521223</c:v>
                </c:pt>
                <c:pt idx="892">
                  <c:v>0.038379955632298</c:v>
                </c:pt>
                <c:pt idx="893">
                  <c:v>0.038406408344916</c:v>
                </c:pt>
                <c:pt idx="894">
                  <c:v>0.038432447806687</c:v>
                </c:pt>
                <c:pt idx="895">
                  <c:v>0.038458071182716</c:v>
                </c:pt>
                <c:pt idx="896">
                  <c:v>0.038483275656613</c:v>
                </c:pt>
                <c:pt idx="897">
                  <c:v>0.038508058432003</c:v>
                </c:pt>
                <c:pt idx="898">
                  <c:v>0.038532416737522</c:v>
                </c:pt>
                <c:pt idx="899">
                  <c:v>0.038556347838494</c:v>
                </c:pt>
                <c:pt idx="900">
                  <c:v>0.038579849029904</c:v>
                </c:pt>
                <c:pt idx="901">
                  <c:v>0.038602917630091</c:v>
                </c:pt>
                <c:pt idx="902">
                  <c:v>0.038625550980354</c:v>
                </c:pt>
                <c:pt idx="903">
                  <c:v>0.038647746445397</c:v>
                </c:pt>
                <c:pt idx="904">
                  <c:v>0.038669501414185</c:v>
                </c:pt>
                <c:pt idx="905">
                  <c:v>0.038690813301389</c:v>
                </c:pt>
                <c:pt idx="906">
                  <c:v>0.038711679551938</c:v>
                </c:pt>
                <c:pt idx="907">
                  <c:v>0.038732097650531</c:v>
                </c:pt>
                <c:pt idx="908">
                  <c:v>0.038752065116074</c:v>
                </c:pt>
                <c:pt idx="909">
                  <c:v>0.038771579497164</c:v>
                </c:pt>
                <c:pt idx="910">
                  <c:v>0.038790638372343</c:v>
                </c:pt>
                <c:pt idx="911">
                  <c:v>0.038809239351319</c:v>
                </c:pt>
                <c:pt idx="912">
                  <c:v>0.038827380077236</c:v>
                </c:pt>
                <c:pt idx="913">
                  <c:v>0.038845058233796</c:v>
                </c:pt>
                <c:pt idx="914">
                  <c:v>0.0388622715612</c:v>
                </c:pt>
                <c:pt idx="915">
                  <c:v>0.038879017848148</c:v>
                </c:pt>
                <c:pt idx="916">
                  <c:v>0.038895294924046</c:v>
                </c:pt>
                <c:pt idx="917">
                  <c:v>0.038911100660129</c:v>
                </c:pt>
                <c:pt idx="918">
                  <c:v>0.038926432973913</c:v>
                </c:pt>
                <c:pt idx="919">
                  <c:v>0.038941289845169</c:v>
                </c:pt>
                <c:pt idx="920">
                  <c:v>0.038955669360575</c:v>
                </c:pt>
                <c:pt idx="921">
                  <c:v>0.038969569696149</c:v>
                </c:pt>
                <c:pt idx="922">
                  <c:v>0.038982989086655</c:v>
                </c:pt>
                <c:pt idx="923">
                  <c:v>0.038995925822904</c:v>
                </c:pt>
                <c:pt idx="924">
                  <c:v>0.03900837825968</c:v>
                </c:pt>
                <c:pt idx="925">
                  <c:v>0.039020344847822</c:v>
                </c:pt>
                <c:pt idx="926">
                  <c:v>0.039031824133793</c:v>
                </c:pt>
                <c:pt idx="927">
                  <c:v>0.039042814736113</c:v>
                </c:pt>
                <c:pt idx="928">
                  <c:v>0.039053315349718</c:v>
                </c:pt>
                <c:pt idx="929">
                  <c:v>0.03906332478321</c:v>
                </c:pt>
                <c:pt idx="930">
                  <c:v>0.039072841981664</c:v>
                </c:pt>
                <c:pt idx="931">
                  <c:v>0.03908186600084</c:v>
                </c:pt>
                <c:pt idx="932">
                  <c:v>0.039090396053025</c:v>
                </c:pt>
                <c:pt idx="933">
                  <c:v>0.039098431591181</c:v>
                </c:pt>
                <c:pt idx="934">
                  <c:v>0.039105972250559</c:v>
                </c:pt>
                <c:pt idx="935">
                  <c:v>0.039113017866433</c:v>
                </c:pt>
                <c:pt idx="936">
                  <c:v>0.039119568516718</c:v>
                </c:pt>
                <c:pt idx="937">
                  <c:v>0.039125624557628</c:v>
                </c:pt>
                <c:pt idx="938">
                  <c:v>0.039131186513662</c:v>
                </c:pt>
                <c:pt idx="939">
                  <c:v>0.039136255002628</c:v>
                </c:pt>
                <c:pt idx="940">
                  <c:v>0.039140830713487</c:v>
                </c:pt>
                <c:pt idx="941">
                  <c:v>0.039144914395314</c:v>
                </c:pt>
                <c:pt idx="942">
                  <c:v>0.039148506850473</c:v>
                </c:pt>
                <c:pt idx="943">
                  <c:v>0.039151608929708</c:v>
                </c:pt>
                <c:pt idx="944">
                  <c:v>0.039154221528501</c:v>
                </c:pt>
                <c:pt idx="945">
                  <c:v>0.039156345584264</c:v>
                </c:pt>
                <c:pt idx="946">
                  <c:v>0.039157982074066</c:v>
                </c:pt>
                <c:pt idx="947">
                  <c:v>0.039159132012731</c:v>
                </c:pt>
                <c:pt idx="948">
                  <c:v>0.039159796451219</c:v>
                </c:pt>
                <c:pt idx="949">
                  <c:v>0.039159976475219</c:v>
                </c:pt>
                <c:pt idx="950">
                  <c:v>0.039159673203912</c:v>
                </c:pt>
                <c:pt idx="951">
                  <c:v>0.039158887788875</c:v>
                </c:pt>
                <c:pt idx="952">
                  <c:v>0.039157621413164</c:v>
                </c:pt>
                <c:pt idx="953">
                  <c:v>0.03915587529055</c:v>
                </c:pt>
                <c:pt idx="954">
                  <c:v>0.039153650664568</c:v>
                </c:pt>
                <c:pt idx="955">
                  <c:v>0.039150948807742</c:v>
                </c:pt>
                <c:pt idx="956">
                  <c:v>0.039147771020779</c:v>
                </c:pt>
                <c:pt idx="957">
                  <c:v>0.039144118631874</c:v>
                </c:pt>
                <c:pt idx="958">
                  <c:v>0.039139992996075</c:v>
                </c:pt>
                <c:pt idx="959">
                  <c:v>0.039135395494696</c:v>
                </c:pt>
                <c:pt idx="960">
                  <c:v>0.039130327534769</c:v>
                </c:pt>
                <c:pt idx="961">
                  <c:v>0.03912479054854</c:v>
                </c:pt>
                <c:pt idx="962">
                  <c:v>0.039118785993184</c:v>
                </c:pt>
                <c:pt idx="963">
                  <c:v>0.039112315350608</c:v>
                </c:pt>
                <c:pt idx="964">
                  <c:v>0.039105380126808</c:v>
                </c:pt>
                <c:pt idx="965">
                  <c:v>0.039097981851413</c:v>
                </c:pt>
                <c:pt idx="966">
                  <c:v>0.039090122077</c:v>
                </c:pt>
                <c:pt idx="967">
                  <c:v>0.039081802378649</c:v>
                </c:pt>
                <c:pt idx="968">
                  <c:v>0.039073024353563</c:v>
                </c:pt>
                <c:pt idx="969">
                  <c:v>0.039063789620723</c:v>
                </c:pt>
                <c:pt idx="970">
                  <c:v>0.039054099820636</c:v>
                </c:pt>
                <c:pt idx="971">
                  <c:v>0.039043956615773</c:v>
                </c:pt>
                <c:pt idx="972">
                  <c:v>0.039033361691216</c:v>
                </c:pt>
                <c:pt idx="973">
                  <c:v>0.039022316753842</c:v>
                </c:pt>
                <c:pt idx="974">
                  <c:v>0.039010823531761</c:v>
                </c:pt>
                <c:pt idx="975">
                  <c:v>0.03899888377308</c:v>
                </c:pt>
                <c:pt idx="976">
                  <c:v>0.03898649924544</c:v>
                </c:pt>
                <c:pt idx="977">
                  <c:v>0.038973671735737</c:v>
                </c:pt>
                <c:pt idx="978">
                  <c:v>0.038960403049934</c:v>
                </c:pt>
                <c:pt idx="979">
                  <c:v>0.038946695013452</c:v>
                </c:pt>
                <c:pt idx="980">
                  <c:v>0.03893254947195</c:v>
                </c:pt>
                <c:pt idx="981">
                  <c:v>0.038917968290963</c:v>
                </c:pt>
                <c:pt idx="982">
                  <c:v>0.038902953355458</c:v>
                </c:pt>
                <c:pt idx="983">
                  <c:v>0.038887506568763</c:v>
                </c:pt>
                <c:pt idx="984">
                  <c:v>0.038871629852472</c:v>
                </c:pt>
                <c:pt idx="985">
                  <c:v>0.03885532514688</c:v>
                </c:pt>
                <c:pt idx="986">
                  <c:v>0.038838594413708</c:v>
                </c:pt>
                <c:pt idx="987">
                  <c:v>0.038821439645268</c:v>
                </c:pt>
                <c:pt idx="988">
                  <c:v>0.038803862861706</c:v>
                </c:pt>
                <c:pt idx="989">
                  <c:v>0.038785866104132</c:v>
                </c:pt>
                <c:pt idx="990">
                  <c:v>0.038767451431774</c:v>
                </c:pt>
                <c:pt idx="991">
                  <c:v>0.03874862092144</c:v>
                </c:pt>
                <c:pt idx="992">
                  <c:v>0.038729376668951</c:v>
                </c:pt>
                <c:pt idx="993">
                  <c:v>0.038709720794698</c:v>
                </c:pt>
                <c:pt idx="994">
                  <c:v>0.038689655443982</c:v>
                </c:pt>
                <c:pt idx="995">
                  <c:v>0.038669182785442</c:v>
                </c:pt>
                <c:pt idx="996">
                  <c:v>0.038648305005704</c:v>
                </c:pt>
                <c:pt idx="997">
                  <c:v>0.038627024308656</c:v>
                </c:pt>
                <c:pt idx="998">
                  <c:v>0.038605342918904</c:v>
                </c:pt>
                <c:pt idx="999">
                  <c:v>0.038583263083028</c:v>
                </c:pt>
                <c:pt idx="1000">
                  <c:v>0.038560787068988</c:v>
                </c:pt>
                <c:pt idx="1001">
                  <c:v>0.03853791716315</c:v>
                </c:pt>
                <c:pt idx="1002">
                  <c:v>0.038514655672848</c:v>
                </c:pt>
                <c:pt idx="1003">
                  <c:v>0.038491004929971</c:v>
                </c:pt>
                <c:pt idx="1004">
                  <c:v>0.038466967292427</c:v>
                </c:pt>
                <c:pt idx="1005">
                  <c:v>0.038442545146781</c:v>
                </c:pt>
                <c:pt idx="1006">
                  <c:v>0.038417740915954</c:v>
                </c:pt>
                <c:pt idx="1007">
                  <c:v>0.038392557063087</c:v>
                </c:pt>
                <c:pt idx="1008">
                  <c:v>0.03836699609941</c:v>
                </c:pt>
                <c:pt idx="1009">
                  <c:v>0.038341060571697</c:v>
                </c:pt>
                <c:pt idx="1010">
                  <c:v>0.038314753055086</c:v>
                </c:pt>
                <c:pt idx="1011">
                  <c:v>0.038288076146517</c:v>
                </c:pt>
                <c:pt idx="1012">
                  <c:v>0.038261032465513</c:v>
                </c:pt>
                <c:pt idx="1013">
                  <c:v>0.038233624650354</c:v>
                </c:pt>
                <c:pt idx="1014">
                  <c:v>0.038205855351486</c:v>
                </c:pt>
                <c:pt idx="1015">
                  <c:v>0.038177727229532</c:v>
                </c:pt>
                <c:pt idx="1016">
                  <c:v>0.038149242954193</c:v>
                </c:pt>
                <c:pt idx="1017">
                  <c:v>0.038120405203424</c:v>
                </c:pt>
                <c:pt idx="1018">
                  <c:v>0.038091216662766</c:v>
                </c:pt>
                <c:pt idx="1019">
                  <c:v>0.03806168002476</c:v>
                </c:pt>
                <c:pt idx="1020">
                  <c:v>0.038031797988431</c:v>
                </c:pt>
                <c:pt idx="1021">
                  <c:v>0.038001573258814</c:v>
                </c:pt>
                <c:pt idx="1022">
                  <c:v>0.037971008546518</c:v>
                </c:pt>
                <c:pt idx="1023">
                  <c:v>0.037940106567322</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5"/>
          <c:min val="0"/>
        </c:scaling>
        <c:delete val="0"/>
        <c:axPos val="l"/>
        <c:majorGridlines>
          <c:spPr>
            <a:ln xmlns:a="http://schemas.openxmlformats.org/drawingml/2006/main" w="9525">
              <a:solidFill>
                <a:srgbClr val="D9E2E8"/>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Extra loss (dB)</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50112"/>
        <c:majorUnit val="0.01"/>
      </c:valAx>
      <c:valAx>
        <c:axId val="48650112"/>
        <c:scaling>
          <c:orientation val="minMax"/>
          <c:max val="240"/>
          <c:min val="23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Frequency (GHz)</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majorUnit val="2"/>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2F48F04-F863-420D-A609-91D031D3BB85}"/>
              </a:ext>
            </a:extLst>
          </p:cNvPr>
          <p:cNvSpPr>
            <a:spLocks xmlns:a="http://schemas.openxmlformats.org/drawingml/2006/main" noGrp="1"/>
          </p:cNvSpPr>
          <p:nvPr/>
        </p:nvSpPr>
        <p:spPr>
          <a:xfrm xmlns:a="http://schemas.openxmlformats.org/drawingml/2006/main">
            <a:off x="571500" y="285750"/>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3300" b="1">
                <a:solidFill>
                  <a:srgbClr val="153246"/>
                </a:solidFill>
                <a:latin typeface="Arial"/>
                <a:ea typeface="Arial"/>
                <a:cs typeface="Arial"/>
              </a:defRPr>
            </a:defPPr>
          </a:lstStyle>
          <a:p xmlns:a="http://schemas.openxmlformats.org/drawingml/2006/main">
            <a:pPr>
              <a:defRPr sz="3300" b="1">
                <a:solidFill>
                  <a:srgbClr val="153246"/>
                </a:solidFill>
                <a:latin typeface="Arial"/>
                <a:ea typeface="Arial"/>
                <a:cs typeface="Arial"/>
              </a:defRPr>
            </a:pPr>
            <a:r>
              <a:rPr sz="3300" b="1">
                <a:solidFill>
                  <a:srgbClr val="153246"/>
                </a:solidFill>
                <a:latin typeface="Arial"/>
                <a:ea typeface="Arial"/>
                <a:cs typeface="Arial"/>
              </a:rPr>
              <a:t>1. The experiment and the concentration we want</a:t>
            </a:r>
          </a:p>
        </p:txBody>
      </p:sp>
      <p:sp>
        <p:nvSpPr>
          <p:cNvPr id="2" name="">
            <a:extLst xmlns:a="http://schemas.openxmlformats.org/drawingml/2006/main">
              <a:ext uri="{FF2B5EF4-FFF2-40B4-BE49-F238E27FC236}">
                <a16:creationId xmlns:a16="http://schemas.microsoft.com/office/drawing/2014/main" id="{032796C1-F9BE-4200-AD18-532A078D9FD1}"/>
              </a:ext>
            </a:extLst>
          </p:cNvPr>
          <p:cNvSpPr>
            <a:spLocks xmlns:a="http://schemas.openxmlformats.org/drawingml/2006/main" noGrp="1"/>
          </p:cNvSpPr>
          <p:nvPr/>
        </p:nvSpPr>
        <p:spPr>
          <a:xfrm xmlns:a="http://schemas.openxmlformats.org/drawingml/2006/main">
            <a:off x="628650" y="1009650"/>
            <a:ext cx="13982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875" b="0">
                <a:solidFill>
                  <a:srgbClr val="496071"/>
                </a:solidFill>
                <a:latin typeface="Arial"/>
                <a:ea typeface="Arial"/>
                <a:cs typeface="Arial"/>
              </a:defRPr>
            </a:defPPr>
          </a:lstStyle>
          <a:p xmlns:a="http://schemas.openxmlformats.org/drawingml/2006/main">
            <a:pPr>
              <a:defRPr sz="1875" b="0">
                <a:solidFill>
                  <a:srgbClr val="496071"/>
                </a:solidFill>
                <a:latin typeface="Arial"/>
                <a:ea typeface="Arial"/>
                <a:cs typeface="Arial"/>
              </a:defRPr>
            </a:pPr>
            <a:r>
              <a:rPr sz="1875" b="0">
                <a:solidFill>
                  <a:srgbClr val="496071"/>
                </a:solidFill>
                <a:latin typeface="Arial"/>
                <a:ea typeface="Arial"/>
                <a:cs typeface="Arial"/>
              </a:rPr>
              <a:t>A 550 km LEO satellite directly overhead illuminates one atmospheric column. We look for extra acetonitrile (CH₃CN).</a:t>
            </a:r>
          </a:p>
        </p:txBody>
      </p:sp>
      <p:sp>
        <p:nvSpPr>
          <p:cNvPr id="3" name="">
            <a:extLst xmlns:a="http://schemas.openxmlformats.org/drawingml/2006/main">
              <a:ext uri="{FF2B5EF4-FFF2-40B4-BE49-F238E27FC236}">
                <a16:creationId xmlns:a16="http://schemas.microsoft.com/office/drawing/2014/main" id="{5E919F2B-6D67-4BC5-8DA6-2311917C9D26}"/>
              </a:ext>
            </a:extLst>
          </p:cNvPr>
          <p:cNvSpPr>
            <a:spLocks xmlns:a="http://schemas.openxmlformats.org/drawingml/2006/main" noGrp="1"/>
          </p:cNvSpPr>
          <p:nvPr/>
        </p:nvSpPr>
        <p:spPr>
          <a:xfrm xmlns:a="http://schemas.openxmlformats.org/drawingml/2006/main">
            <a:off x="628650" y="1752600"/>
            <a:ext cx="6715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2025" b="1">
                <a:solidFill>
                  <a:srgbClr val="126B76"/>
                </a:solidFill>
                <a:latin typeface="Arial"/>
                <a:ea typeface="Arial"/>
                <a:cs typeface="Arial"/>
              </a:defRPr>
            </a:defPPr>
          </a:lstStyle>
          <a:p xmlns:a="http://schemas.openxmlformats.org/drawingml/2006/main">
            <a:pPr>
              <a:defRPr sz="2025" b="1">
                <a:solidFill>
                  <a:srgbClr val="126B76"/>
                </a:solidFill>
                <a:latin typeface="Arial"/>
                <a:ea typeface="Arial"/>
                <a:cs typeface="Arial"/>
              </a:defRPr>
            </a:pPr>
            <a:r>
              <a:rPr sz="2025" b="1">
                <a:solidFill>
                  <a:srgbClr val="126B76"/>
                </a:solidFill>
                <a:latin typeface="Arial"/>
                <a:ea typeface="Arial"/>
                <a:cs typeface="Arial"/>
              </a:rPr>
              <a:t>What the receiver is looking for</a:t>
            </a:r>
          </a:p>
        </p:txBody>
      </p:sp>
      <p:sp>
        <p:nvSpPr>
          <p:cNvPr id="4" name="">
            <a:extLst xmlns:a="http://schemas.openxmlformats.org/drawingml/2006/main">
              <a:ext uri="{FF2B5EF4-FFF2-40B4-BE49-F238E27FC236}">
                <a16:creationId xmlns:a16="http://schemas.microsoft.com/office/drawing/2014/main" id="{96EB0913-3785-4FDD-A9D1-2C0ED9AF1BE6}"/>
              </a:ext>
            </a:extLst>
          </p:cNvPr>
          <p:cNvSpPr>
            <a:spLocks xmlns:a="http://schemas.openxmlformats.org/drawingml/2006/main" noGrp="1"/>
          </p:cNvSpPr>
          <p:nvPr/>
        </p:nvSpPr>
        <p:spPr>
          <a:xfrm xmlns:a="http://schemas.openxmlformats.org/drawingml/2006/main">
            <a:off x="628650" y="2162175"/>
            <a:ext cx="6724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800" b="0">
                <a:solidFill>
                  <a:srgbClr val="153246"/>
                </a:solidFill>
                <a:latin typeface="Arial"/>
                <a:ea typeface="Arial"/>
                <a:cs typeface="Arial"/>
              </a:defRPr>
            </a:defPPr>
          </a:lstStyle>
          <a:p xmlns:a="http://schemas.openxmlformats.org/drawingml/2006/main">
            <a:pPr>
              <a:defRPr sz="1800" b="0">
                <a:solidFill>
                  <a:srgbClr val="153246"/>
                </a:solidFill>
                <a:latin typeface="Arial"/>
                <a:ea typeface="Arial"/>
                <a:cs typeface="Arial"/>
              </a:defRPr>
            </a:pPr>
            <a:r>
              <a:rPr sz="1800" b="0">
                <a:solidFill>
                  <a:srgbClr val="153246"/>
                </a:solidFill>
                <a:latin typeface="Arial"/>
                <a:ea typeface="Arial"/>
                <a:cs typeface="Arial"/>
              </a:rPr>
              <a:t>Gas molecules remove different amounts of power at different frequencies. We estimate how much the known CH₃CN absorption pattern has increased between two acquisitions.</a:t>
            </a:r>
          </a:p>
        </p:txBody>
      </p:sp>
      <p:sp>
        <p:nvSpPr>
          <p:cNvPr id="5" name="">
            <a:extLst xmlns:a="http://schemas.openxmlformats.org/drawingml/2006/main">
              <a:ext uri="{FF2B5EF4-FFF2-40B4-BE49-F238E27FC236}">
                <a16:creationId xmlns:a16="http://schemas.microsoft.com/office/drawing/2014/main" id="{F1275E4C-6EB9-4928-8EB0-76C6480F5496}"/>
              </a:ext>
            </a:extLst>
          </p:cNvPr>
          <p:cNvSpPr>
            <a:spLocks xmlns:a="http://schemas.openxmlformats.org/drawingml/2006/main" noGrp="1"/>
          </p:cNvSpPr>
          <p:nvPr/>
        </p:nvSpPr>
        <p:spPr>
          <a:xfrm xmlns:a="http://schemas.openxmlformats.org/drawingml/2006/main">
            <a:off x="628650" y="3400425"/>
            <a:ext cx="67246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800" b="0">
                <a:solidFill>
                  <a:srgbClr val="153246"/>
                </a:solidFill>
                <a:latin typeface="Arial"/>
                <a:ea typeface="Arial"/>
                <a:cs typeface="Arial"/>
              </a:defRPr>
            </a:defPPr>
          </a:lstStyle>
          <a:p xmlns:a="http://schemas.openxmlformats.org/drawingml/2006/main">
            <a:pPr>
              <a:defRPr sz="1800" b="0">
                <a:solidFill>
                  <a:srgbClr val="153246"/>
                </a:solidFill>
                <a:latin typeface="Arial"/>
                <a:ea typeface="Arial"/>
                <a:cs typeface="Arial"/>
              </a:defRPr>
            </a:pPr>
            <a:r>
              <a:rPr sz="1800" b="0">
                <a:solidFill>
                  <a:srgbClr val="153246"/>
                </a:solidFill>
                <a:latin typeface="Arial"/>
                <a:ea typeface="Arial"/>
                <a:cs typeface="Arial"/>
              </a:rPr>
              <a:t>The reference is the baseline channel. The sample is the channel with an added gas column. Other atmospheric changes are assumed corrected or absent.</a:t>
            </a:r>
          </a:p>
        </p:txBody>
      </p:sp>
      <p:pic>
        <p:nvPicPr>
          <p:cNvPr id="6" name="">
            <a:extLst xmlns:a="http://schemas.openxmlformats.org/drawingml/2006/main">
              <a:ext uri="{FF2B5EF4-FFF2-40B4-BE49-F238E27FC236}">
                <a16:creationId xmlns:a16="http://schemas.microsoft.com/office/drawing/2014/main" id="{992D6C8C-CA1E-4486-85AD-C068D3AADCB4}"/>
              </a:ext>
            </a:extLst>
          </p:cNvPr>
          <p:cNvPicPr>
            <a:picLocks xmlns:a="http://schemas.openxmlformats.org/drawingml/2006/main" noChangeAspect="1"/>
          </p:cNvPicPr>
          <p:nvPr/>
        </p:nvPicPr>
        <p:blipFill>
          <a:blip xmlns:r="http://schemas.openxmlformats.org/officeDocument/2006/relationships" xmlns:a="http://schemas.openxmlformats.org/drawingml/2006/main" r:embed="Ra2d527478a514727">
            <a:extLst>
              <a:ext uri="{96DAC541-7B7A-43D3-8B79-37D633B846F1}">
                <asvg:svgBlip xmlns:asvg="http://schemas.microsoft.com/office/drawing/2016/SVG/main" r:embed="R9d409ca18b284409"/>
              </a:ext>
            </a:extLst>
          </a:blip>
          <a:stretch xmlns:a="http://schemas.openxmlformats.org/drawingml/2006/main"/>
        </p:blipFill>
        <p:spPr>
          <a:xfrm xmlns:a="http://schemas.openxmlformats.org/drawingml/2006/main">
            <a:off x="628650" y="4429017"/>
            <a:ext cx="3093840" cy="533616"/>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1754D4C8-E585-444A-95A5-6DADE14B7F7F}"/>
              </a:ext>
            </a:extLst>
          </p:cNvPr>
          <p:cNvSpPr>
            <a:spLocks xmlns:a="http://schemas.openxmlformats.org/drawingml/2006/main" noGrp="1"/>
          </p:cNvSpPr>
          <p:nvPr/>
        </p:nvSpPr>
        <p:spPr>
          <a:xfrm xmlns:a="http://schemas.openxmlformats.org/drawingml/2006/main">
            <a:off x="628650" y="5143500"/>
            <a:ext cx="67246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800" b="0">
                <a:solidFill>
                  <a:srgbClr val="153246"/>
                </a:solidFill>
                <a:latin typeface="Arial"/>
                <a:ea typeface="Arial"/>
                <a:cs typeface="Arial"/>
              </a:defRPr>
            </a:defPPr>
          </a:lstStyle>
          <a:p xmlns:a="http://schemas.openxmlformats.org/drawingml/2006/main">
            <a:pPr>
              <a:defRPr sz="1800" b="0">
                <a:solidFill>
                  <a:srgbClr val="153246"/>
                </a:solidFill>
                <a:latin typeface="Arial"/>
                <a:ea typeface="Arial"/>
                <a:cs typeface="Arial"/>
              </a:defRPr>
            </a:pPr>
            <a:r>
              <a:rPr sz="1800" b="0">
                <a:solidFill>
                  <a:srgbClr val="153246"/>
                </a:solidFill>
                <a:latin typeface="Arial"/>
                <a:ea typeface="Arial"/>
                <a:cs typeface="Arial"/>
              </a:rPr>
              <a:t>q is the surface equivalent increase in mass concentration (µg/m³). Fixing the 1,500 m profile shape lets one scalar describe the column. One ray cannot recover a concentration at every height.</a:t>
            </a:r>
          </a:p>
        </p:txBody>
      </p:sp>
      <p:sp>
        <p:nvSpPr>
          <p:cNvPr id="8" name="">
            <a:extLst xmlns:a="http://schemas.openxmlformats.org/drawingml/2006/main">
              <a:ext uri="{FF2B5EF4-FFF2-40B4-BE49-F238E27FC236}">
                <a16:creationId xmlns:a16="http://schemas.microsoft.com/office/drawing/2014/main" id="{74B66004-ACA8-4AEB-9683-5FF3761A444D}"/>
              </a:ext>
            </a:extLst>
          </p:cNvPr>
          <p:cNvSpPr>
            <a:spLocks xmlns:a="http://schemas.openxmlformats.org/drawingml/2006/main" noGrp="1"/>
          </p:cNvSpPr>
          <p:nvPr/>
        </p:nvSpPr>
        <p:spPr>
          <a:xfrm xmlns:a="http://schemas.openxmlformats.org/drawingml/2006/main">
            <a:off x="628650" y="6391275"/>
            <a:ext cx="67246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Worked input: q = 50.5814 µg/m³. At 1,500 m the enhancement is 18.6079 µg/m³. The receiver must estimate q without knowing that input.</a:t>
            </a:r>
          </a:p>
        </p:txBody>
      </p:sp>
      <p:sp>
        <p:nvSpPr>
          <p:cNvPr id="9" name="">
            <a:extLst xmlns:a="http://schemas.openxmlformats.org/drawingml/2006/main">
              <a:ext uri="{FF2B5EF4-FFF2-40B4-BE49-F238E27FC236}">
                <a16:creationId xmlns:a16="http://schemas.microsoft.com/office/drawing/2014/main" id="{9548CEE1-1310-46BD-874D-179AE89A2E3F}"/>
              </a:ext>
            </a:extLst>
          </p:cNvPr>
          <p:cNvSpPr>
            <a:spLocks xmlns:a="http://schemas.openxmlformats.org/drawingml/2006/main" noGrp="1"/>
          </p:cNvSpPr>
          <p:nvPr/>
        </p:nvSpPr>
        <p:spPr>
          <a:xfrm xmlns:a="http://schemas.openxmlformats.org/drawingml/2006/main">
            <a:off x="7905750" y="1752600"/>
            <a:ext cx="6715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2025" b="1">
                <a:solidFill>
                  <a:srgbClr val="126B76"/>
                </a:solidFill>
                <a:latin typeface="Arial"/>
                <a:ea typeface="Arial"/>
                <a:cs typeface="Arial"/>
              </a:defRPr>
            </a:defPPr>
          </a:lstStyle>
          <a:p xmlns:a="http://schemas.openxmlformats.org/drawingml/2006/main">
            <a:pPr>
              <a:defRPr sz="2025" b="1">
                <a:solidFill>
                  <a:srgbClr val="126B76"/>
                </a:solidFill>
                <a:latin typeface="Arial"/>
                <a:ea typeface="Arial"/>
                <a:cs typeface="Arial"/>
              </a:defRPr>
            </a:pPr>
            <a:r>
              <a:rPr sz="2025" b="1">
                <a:solidFill>
                  <a:srgbClr val="126B76"/>
                </a:solidFill>
                <a:latin typeface="Arial"/>
                <a:ea typeface="Arial"/>
                <a:cs typeface="Arial"/>
              </a:rPr>
              <a:t>The specified link</a:t>
            </a:r>
          </a:p>
        </p:txBody>
      </p:sp>
      <p:graphicFrame>
        <p:nvGraphicFramePr>
          <p:cNvPr id="10" name="">
            <a:extLst xmlns:a="http://schemas.openxmlformats.org/drawingml/2006/main">
              <a:ext uri="{FF2B5EF4-FFF2-40B4-BE49-F238E27FC236}">
                <a16:creationId xmlns:a16="http://schemas.microsoft.com/office/drawing/2014/main" id="{88600513-4A53-4289-9E7C-7DB5AFBF1113}"/>
              </a:ext>
            </a:extLst>
          </p:cNvPr>
          <p:cNvGraphicFramePr/>
          <p:nvPr/>
        </p:nvGraphicFramePr>
        <p:xfrm>
          <a:off xmlns:a="http://schemas.openxmlformats.org/drawingml/2006/main" x="7905750" y="2162175"/>
          <a:ext xmlns:a="http://schemas.openxmlformats.org/drawingml/2006/main" cx="6705600" cy="4067175"/>
        </p:xfrm>
        <a:graphic xmlns:a="http://schemas.openxmlformats.org/drawingml/2006/main">
          <a:graphicData uri="http://schemas.openxmlformats.org/drawingml/2006/table">
            <a:tbl>
              <a:tblPr/>
              <a:tblGrid>
                <a:gridCol w="2145792"/>
                <a:gridCol w="4559808"/>
              </a:tblGrid>
              <a:tr h="581025">
                <a:tc>
                  <a:txBody>
                    <a:bodyPr/>
                    <a:lstStyle/>
                    <a:p>
                      <a:r>
                        <a:rPr sz="1725" b="1">
                          <a:solidFill>
                            <a:srgbClr val="FFFFFF"/>
                          </a:solidFill>
                          <a:latin typeface="Arial"/>
                          <a:ea typeface="Arial"/>
                          <a:cs typeface="Arial"/>
                        </a:rPr>
                        <a:t>Setting</a:t>
                      </a:r>
                    </a:p>
                  </a:txBody>
                  <a:tcPr marL="104775" marR="104775" marT="57150" marB="57150" anchor="ctr">
                    <a:solidFill>
                      <a:srgbClr val="153246"/>
                    </a:solidFill>
                  </a:tcPr>
                </a:tc>
                <a:tc>
                  <a:txBody>
                    <a:bodyPr/>
                    <a:lstStyle/>
                    <a:p>
                      <a:r>
                        <a:rPr sz="1725" b="1">
                          <a:solidFill>
                            <a:srgbClr val="FFFFFF"/>
                          </a:solidFill>
                          <a:latin typeface="Arial"/>
                          <a:ea typeface="Arial"/>
                          <a:cs typeface="Arial"/>
                        </a:rPr>
                        <a:t>Value and meaning</a:t>
                      </a:r>
                    </a:p>
                  </a:txBody>
                  <a:tcPr marL="104775" marR="104775" marT="57150" marB="57150" anchor="ctr">
                    <a:solidFill>
                      <a:srgbClr val="153246"/>
                    </a:solidFill>
                  </a:tcPr>
                </a:tc>
              </a:tr>
              <a:tr h="581025">
                <a:tc>
                  <a:txBody>
                    <a:bodyPr/>
                    <a:lstStyle/>
                    <a:p>
                      <a:r>
                        <a:rPr sz="1725" b="0">
                          <a:solidFill>
                            <a:srgbClr val="153246"/>
                          </a:solidFill>
                          <a:latin typeface="Arial"/>
                          <a:ea typeface="Arial"/>
                          <a:cs typeface="Arial"/>
                        </a:rPr>
                        <a:t>Elevation</a:t>
                      </a:r>
                    </a:p>
                  </a:txBody>
                  <a:tcPr marL="104775" marR="104775" marT="57150" marB="57150" anchor="ctr">
                    <a:solidFill>
                      <a:srgbClr val="F0F5F7"/>
                    </a:solidFill>
                  </a:tcPr>
                </a:tc>
                <a:tc>
                  <a:txBody>
                    <a:bodyPr/>
                    <a:lstStyle/>
                    <a:p>
                      <a:r>
                        <a:rPr sz="1725" b="0">
                          <a:solidFill>
                            <a:srgbClr val="153246"/>
                          </a:solidFill>
                          <a:latin typeface="Arial"/>
                          <a:ea typeface="Arial"/>
                          <a:cs typeface="Arial"/>
                        </a:rPr>
                        <a:t>90° at the receiver, shortest geometric path</a:t>
                      </a:r>
                    </a:p>
                  </a:txBody>
                  <a:tcPr marL="104775" marR="104775" marT="57150" marB="57150" anchor="ctr">
                    <a:solidFill>
                      <a:srgbClr val="F0F5F7"/>
                    </a:solidFill>
                  </a:tcPr>
                </a:tc>
              </a:tr>
              <a:tr h="581025">
                <a:tc>
                  <a:txBody>
                    <a:bodyPr/>
                    <a:lstStyle/>
                    <a:p>
                      <a:r>
                        <a:rPr sz="1725" b="0">
                          <a:solidFill>
                            <a:srgbClr val="153246"/>
                          </a:solidFill>
                          <a:latin typeface="Arial"/>
                          <a:ea typeface="Arial"/>
                          <a:cs typeface="Arial"/>
                        </a:rPr>
                        <a:t>Band and tones</a:t>
                      </a:r>
                    </a:p>
                  </a:txBody>
                  <a:tcPr marL="104775" marR="104775" marT="57150" marB="57150" anchor="ctr">
                    <a:solidFill>
                      <a:srgbClr val="FFFFFF"/>
                    </a:solidFill>
                  </a:tcPr>
                </a:tc>
                <a:tc>
                  <a:txBody>
                    <a:bodyPr/>
                    <a:lstStyle/>
                    <a:p>
                      <a:r>
                        <a:rPr sz="1725" b="0">
                          <a:solidFill>
                            <a:srgbClr val="153246"/>
                          </a:solidFill>
                          <a:latin typeface="Arial"/>
                          <a:ea typeface="Arial"/>
                          <a:cs typeface="Arial"/>
                        </a:rPr>
                        <a:t>230–240 GHz across 1,024 tones</a:t>
                      </a:r>
                    </a:p>
                  </a:txBody>
                  <a:tcPr marL="104775" marR="104775" marT="57150" marB="57150" anchor="ctr">
                    <a:solidFill>
                      <a:srgbClr val="FFFFFF"/>
                    </a:solidFill>
                  </a:tcPr>
                </a:tc>
              </a:tr>
              <a:tr h="581025">
                <a:tc>
                  <a:txBody>
                    <a:bodyPr/>
                    <a:lstStyle/>
                    <a:p>
                      <a:r>
                        <a:rPr sz="1725" b="0">
                          <a:solidFill>
                            <a:srgbClr val="153246"/>
                          </a:solidFill>
                          <a:latin typeface="Arial"/>
                          <a:ea typeface="Arial"/>
                          <a:cs typeface="Arial"/>
                        </a:rPr>
                        <a:t>RF power</a:t>
                      </a:r>
                    </a:p>
                  </a:txBody>
                  <a:tcPr marL="104775" marR="104775" marT="57150" marB="57150" anchor="ctr">
                    <a:solidFill>
                      <a:srgbClr val="F0F5F7"/>
                    </a:solidFill>
                  </a:tcPr>
                </a:tc>
                <a:tc>
                  <a:txBody>
                    <a:bodyPr/>
                    <a:lstStyle/>
                    <a:p>
                      <a:r>
                        <a:rPr sz="1725" b="0">
                          <a:solidFill>
                            <a:srgbClr val="153246"/>
                          </a:solidFill>
                          <a:latin typeface="Arial"/>
                          <a:ea typeface="Arial"/>
                          <a:cs typeface="Arial"/>
                        </a:rPr>
                        <a:t>25 dBm total average power across the band</a:t>
                      </a:r>
                    </a:p>
                  </a:txBody>
                  <a:tcPr marL="104775" marR="104775" marT="57150" marB="57150" anchor="ctr">
                    <a:solidFill>
                      <a:srgbClr val="F0F5F7"/>
                    </a:solidFill>
                  </a:tcPr>
                </a:tc>
              </a:tr>
              <a:tr h="581025">
                <a:tc>
                  <a:txBody>
                    <a:bodyPr/>
                    <a:lstStyle/>
                    <a:p>
                      <a:r>
                        <a:rPr sz="1725" b="0">
                          <a:solidFill>
                            <a:srgbClr val="153246"/>
                          </a:solidFill>
                          <a:latin typeface="Arial"/>
                          <a:ea typeface="Arial"/>
                          <a:cs typeface="Arial"/>
                        </a:rPr>
                        <a:t>Apertures</a:t>
                      </a:r>
                    </a:p>
                  </a:txBody>
                  <a:tcPr marL="104775" marR="104775" marT="57150" marB="57150" anchor="ctr">
                    <a:solidFill>
                      <a:srgbClr val="FFFFFF"/>
                    </a:solidFill>
                  </a:tcPr>
                </a:tc>
                <a:tc>
                  <a:txBody>
                    <a:bodyPr/>
                    <a:lstStyle/>
                    <a:p>
                      <a:r>
                        <a:rPr sz="1725" b="0">
                          <a:solidFill>
                            <a:srgbClr val="153246"/>
                          </a:solidFill>
                          <a:latin typeface="Arial"/>
                          <a:ea typeface="Arial"/>
                          <a:cs typeface="Arial"/>
                        </a:rPr>
                        <a:t>0.10 m transmit / 1.0 m receive, efficiency 0.65</a:t>
                      </a:r>
                    </a:p>
                  </a:txBody>
                  <a:tcPr marL="104775" marR="104775" marT="57150" marB="57150" anchor="ctr">
                    <a:solidFill>
                      <a:srgbClr val="FFFFFF"/>
                    </a:solidFill>
                  </a:tcPr>
                </a:tc>
              </a:tr>
              <a:tr h="581025">
                <a:tc>
                  <a:txBody>
                    <a:bodyPr/>
                    <a:lstStyle/>
                    <a:p>
                      <a:r>
                        <a:rPr sz="1725" b="0">
                          <a:solidFill>
                            <a:srgbClr val="153246"/>
                          </a:solidFill>
                          <a:latin typeface="Arial"/>
                          <a:ea typeface="Arial"/>
                          <a:cs typeface="Arial"/>
                        </a:rPr>
                        <a:t>Receiver</a:t>
                      </a:r>
                    </a:p>
                  </a:txBody>
                  <a:tcPr marL="104775" marR="104775" marT="57150" marB="57150" anchor="ctr">
                    <a:solidFill>
                      <a:srgbClr val="F0F5F7"/>
                    </a:solidFill>
                  </a:tcPr>
                </a:tc>
                <a:tc>
                  <a:txBody>
                    <a:bodyPr/>
                    <a:lstStyle/>
                    <a:p>
                      <a:r>
                        <a:rPr sz="1725" b="0">
                          <a:solidFill>
                            <a:srgbClr val="153246"/>
                          </a:solidFill>
                          <a:latin typeface="Arial"/>
                          <a:ea typeface="Arial"/>
                          <a:cs typeface="Arial"/>
                        </a:rPr>
                        <a:t>7 dB noise figure, 5 dB implementation loss</a:t>
                      </a:r>
                    </a:p>
                  </a:txBody>
                  <a:tcPr marL="104775" marR="104775" marT="57150" marB="57150" anchor="ctr">
                    <a:solidFill>
                      <a:srgbClr val="F0F5F7"/>
                    </a:solidFill>
                  </a:tcPr>
                </a:tc>
              </a:tr>
              <a:tr h="581025">
                <a:tc>
                  <a:txBody>
                    <a:bodyPr/>
                    <a:lstStyle/>
                    <a:p>
                      <a:r>
                        <a:rPr sz="1725" b="0">
                          <a:solidFill>
                            <a:srgbClr val="153246"/>
                          </a:solidFill>
                          <a:latin typeface="Arial"/>
                          <a:ea typeface="Arial"/>
                          <a:cs typeface="Arial"/>
                        </a:rPr>
                        <a:t>Acquisition</a:t>
                      </a:r>
                    </a:p>
                  </a:txBody>
                  <a:tcPr marL="104775" marR="104775" marT="57150" marB="57150" anchor="ctr">
                    <a:solidFill>
                      <a:srgbClr val="FFFFFF"/>
                    </a:solidFill>
                  </a:tcPr>
                </a:tc>
                <a:tc>
                  <a:txBody>
                    <a:bodyPr/>
                    <a:lstStyle/>
                    <a:p>
                      <a:r>
                        <a:rPr sz="1725" b="0">
                          <a:solidFill>
                            <a:srgbClr val="153246"/>
                          </a:solidFill>
                          <a:latin typeface="Arial"/>
                          <a:ea typeface="Arial"/>
                          <a:cs typeface="Arial"/>
                        </a:rPr>
                        <a:t>10 s reference + 10 s sample</a:t>
                      </a:r>
                    </a:p>
                  </a:txBody>
                  <a:tcPr marL="104775" marR="104775" marT="57150" marB="57150" anchor="ctr">
                    <a:solidFill>
                      <a:srgbClr val="FFFFFF"/>
                    </a:solidFill>
                  </a:tcPr>
                </a:tc>
              </a:tr>
            </a:tbl>
          </a:graphicData>
        </a:graphic>
      </p:graphicFrame>
      <p:sp>
        <p:nvSpPr>
          <p:cNvPr id="11" name="">
            <a:extLst xmlns:a="http://schemas.openxmlformats.org/drawingml/2006/main">
              <a:ext uri="{FF2B5EF4-FFF2-40B4-BE49-F238E27FC236}">
                <a16:creationId xmlns:a16="http://schemas.microsoft.com/office/drawing/2014/main" id="{425D9D0C-AABA-4F84-A74C-64AF5DCCB6C2}"/>
              </a:ext>
            </a:extLst>
          </p:cNvPr>
          <p:cNvSpPr>
            <a:spLocks xmlns:a="http://schemas.openxmlformats.org/drawingml/2006/main" noGrp="1"/>
          </p:cNvSpPr>
          <p:nvPr/>
        </p:nvSpPr>
        <p:spPr>
          <a:xfrm xmlns:a="http://schemas.openxmlformats.org/drawingml/2006/main">
            <a:off x="7905750" y="6381750"/>
            <a:ext cx="6705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LEO is a useful example for the full method. This is a single compound absorption test along one ray. Multiple rays and additional assumptions would be needed for a 3D image.</a:t>
            </a:r>
          </a:p>
        </p:txBody>
      </p:sp>
      <p:sp>
        <p:nvSpPr>
          <p:cNvPr id="12" name="">
            <a:extLst xmlns:a="http://schemas.openxmlformats.org/drawingml/2006/main">
              <a:ext uri="{FF2B5EF4-FFF2-40B4-BE49-F238E27FC236}">
                <a16:creationId xmlns:a16="http://schemas.microsoft.com/office/drawing/2014/main" id="{60661F61-A734-4B7A-895B-C91E0A527957}"/>
              </a:ext>
            </a:extLst>
          </p:cNvPr>
          <p:cNvSpPr>
            <a:spLocks xmlns:a="http://schemas.openxmlformats.org/drawingml/2006/main" noGrp="1"/>
          </p:cNvSpPr>
          <p:nvPr/>
        </p:nvSpPr>
        <p:spPr>
          <a:xfrm xmlns:a="http://schemas.openxmlformats.org/drawingml/2006/main">
            <a:off x="628650" y="7486650"/>
            <a:ext cx="13982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463" b="0">
                <a:solidFill>
                  <a:srgbClr val="9F3343"/>
                </a:solidFill>
                <a:latin typeface="Arial"/>
                <a:ea typeface="Arial"/>
                <a:cs typeface="Arial"/>
              </a:defRPr>
            </a:defPPr>
          </a:lstStyle>
          <a:p xmlns:a="http://schemas.openxmlformats.org/drawingml/2006/main">
            <a:pPr>
              <a:defRPr sz="1463" b="0">
                <a:solidFill>
                  <a:srgbClr val="9F3343"/>
                </a:solidFill>
                <a:latin typeface="Arial"/>
                <a:ea typeface="Arial"/>
                <a:cs typeface="Arial"/>
              </a:defRPr>
            </a:pPr>
            <a:r>
              <a:rPr sz="1463" b="0">
                <a:solidFill>
                  <a:srgbClr val="9F3343"/>
                </a:solidFill>
                <a:latin typeface="Arial"/>
                <a:ea typeface="Arial"/>
                <a:cs typeface="Arial"/>
              </a:rPr>
              <a:t>Actual HITRAN data and ITU atmosphere models support the calculation. The gas profile, hardware and receiver observations are modeled.</a:t>
            </a:r>
          </a:p>
        </p:txBody>
      </p:sp>
      <p:sp>
        <p:nvSpPr>
          <p:cNvPr id="13" name="">
            <a:extLst xmlns:a="http://schemas.openxmlformats.org/drawingml/2006/main">
              <a:ext uri="{FF2B5EF4-FFF2-40B4-BE49-F238E27FC236}">
                <a16:creationId xmlns:a16="http://schemas.microsoft.com/office/drawing/2014/main" id="{3265482A-B028-4D8E-94D0-971937AB40D0}"/>
              </a:ext>
            </a:extLst>
          </p:cNvPr>
          <p:cNvSpPr>
            <a:spLocks xmlns:a="http://schemas.openxmlformats.org/drawingml/2006/main" noGrp="1"/>
          </p:cNvSpPr>
          <p:nvPr/>
        </p:nvSpPr>
        <p:spPr>
          <a:xfrm xmlns:a="http://schemas.openxmlformats.org/drawingml/2006/main">
            <a:off x="628650" y="8153400"/>
            <a:ext cx="781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Sources</a:t>
            </a:r>
          </a:p>
        </p:txBody>
      </p:sp>
      <p:sp>
        <p:nvSpPr>
          <p:cNvPr id="14" name="">
            <a:extLst xmlns:a="http://schemas.openxmlformats.org/drawingml/2006/main">
              <a:ext uri="{FF2B5EF4-FFF2-40B4-BE49-F238E27FC236}">
                <a16:creationId xmlns:a16="http://schemas.microsoft.com/office/drawing/2014/main" id="{EE328AF2-6AE9-451F-AEBA-2C6BAF4E98D2}"/>
              </a:ext>
            </a:extLst>
          </p:cNvPr>
          <p:cNvSpPr>
            <a:spLocks xmlns:a="http://schemas.openxmlformats.org/drawingml/2006/main" noGrp="1"/>
          </p:cNvSpPr>
          <p:nvPr/>
        </p:nvSpPr>
        <p:spPr>
          <a:xfrm xmlns:a="http://schemas.openxmlformats.org/drawingml/2006/main">
            <a:off x="1476375" y="8153400"/>
            <a:ext cx="2876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Hardware audit</a:t>
            </a:r>
          </a:p>
        </p:txBody>
      </p:sp>
      <p:sp>
        <p:nvSpPr>
          <p:cNvPr id="15" name="">
            <a:extLst xmlns:a="http://schemas.openxmlformats.org/drawingml/2006/main">
              <a:ext uri="{FF2B5EF4-FFF2-40B4-BE49-F238E27FC236}">
                <a16:creationId xmlns:a16="http://schemas.microsoft.com/office/drawing/2014/main" id="{848FF601-0790-43DB-BFAB-3043B3C845AE}"/>
              </a:ext>
            </a:extLst>
          </p:cNvPr>
          <p:cNvSpPr>
            <a:spLocks xmlns:a="http://schemas.openxmlformats.org/drawingml/2006/main" noGrp="1"/>
          </p:cNvSpPr>
          <p:nvPr/>
        </p:nvSpPr>
        <p:spPr>
          <a:xfrm xmlns:a="http://schemas.openxmlformats.org/drawingml/2006/main">
            <a:off x="4429125" y="8153400"/>
            <a:ext cx="2876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P.835</a:t>
            </a:r>
          </a:p>
        </p:txBody>
      </p:sp>
      <p:sp>
        <p:nvSpPr>
          <p:cNvPr id="16" name="">
            <a:extLst xmlns:a="http://schemas.openxmlformats.org/drawingml/2006/main">
              <a:ext uri="{FF2B5EF4-FFF2-40B4-BE49-F238E27FC236}">
                <a16:creationId xmlns:a16="http://schemas.microsoft.com/office/drawing/2014/main" id="{65AE1209-773B-43C2-8F43-039817D4D8FF}"/>
              </a:ext>
            </a:extLst>
          </p:cNvPr>
          <p:cNvSpPr>
            <a:spLocks xmlns:a="http://schemas.openxmlformats.org/drawingml/2006/main" noGrp="1"/>
          </p:cNvSpPr>
          <p:nvPr/>
        </p:nvSpPr>
        <p:spPr>
          <a:xfrm xmlns:a="http://schemas.openxmlformats.org/drawingml/2006/main">
            <a:off x="7381875" y="8153400"/>
            <a:ext cx="2876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P.676</a:t>
            </a:r>
          </a:p>
        </p:txBody>
      </p:sp>
      <p:sp>
        <p:nvSpPr>
          <p:cNvPr id="17" name="">
            <a:extLst xmlns:a="http://schemas.openxmlformats.org/drawingml/2006/main">
              <a:ext uri="{FF2B5EF4-FFF2-40B4-BE49-F238E27FC236}">
                <a16:creationId xmlns:a16="http://schemas.microsoft.com/office/drawing/2014/main" id="{B828663A-49D7-45C1-BF07-01A248E5AFA1}"/>
              </a:ext>
            </a:extLst>
          </p:cNvPr>
          <p:cNvSpPr>
            <a:spLocks xmlns:a="http://schemas.openxmlformats.org/drawingml/2006/main" noGrp="1"/>
          </p:cNvSpPr>
          <p:nvPr/>
        </p:nvSpPr>
        <p:spPr>
          <a:xfrm xmlns:a="http://schemas.openxmlformats.org/drawingml/2006/main">
            <a:off x="10334625" y="8153400"/>
            <a:ext cx="2876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Numerical steps</a:t>
            </a:r>
          </a:p>
        </p:txBody>
      </p:sp>
      <p:sp>
        <p:nvSpPr>
          <p:cNvPr id="18" name="">
            <a:extLst xmlns:a="http://schemas.openxmlformats.org/drawingml/2006/main">
              <a:ext uri="{FF2B5EF4-FFF2-40B4-BE49-F238E27FC236}">
                <a16:creationId xmlns:a16="http://schemas.microsoft.com/office/drawing/2014/main" id="{750C45B1-4339-41FB-B16D-CB92D5C42C7C}"/>
              </a:ext>
            </a:extLst>
          </p:cNvPr>
          <p:cNvSpPr>
            <a:spLocks xmlns:a="http://schemas.openxmlformats.org/drawingml/2006/main" noGrp="1"/>
          </p:cNvSpPr>
          <p:nvPr/>
        </p:nvSpPr>
        <p:spPr>
          <a:xfrm xmlns:a="http://schemas.openxmlformats.org/drawingml/2006/main">
            <a:off x="13982700" y="8115300"/>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500" b="0">
                <a:solidFill>
                  <a:srgbClr val="496071"/>
                </a:solidFill>
                <a:latin typeface="Arial"/>
                <a:ea typeface="Arial"/>
                <a:cs typeface="Arial"/>
              </a:defRPr>
            </a:defPPr>
          </a:lstStyle>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1/7</a:t>
            </a:r>
          </a:p>
        </p:txBody>
      </p:sp>
    </p:spTree>
    <p:extLst>
      <p:ext uri="{BB962C8B-B14F-4D97-AF65-F5344CB8AC3E}">
        <p14:creationId xmlns:p14="http://schemas.microsoft.com/office/powerpoint/2010/main" val="69641633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F79B6B1-BA46-4660-BF5D-D98622EEF9AD}"/>
              </a:ext>
            </a:extLst>
          </p:cNvPr>
          <p:cNvSpPr>
            <a:spLocks xmlns:a="http://schemas.openxmlformats.org/drawingml/2006/main" noGrp="1"/>
          </p:cNvSpPr>
          <p:nvPr/>
        </p:nvSpPr>
        <p:spPr>
          <a:xfrm xmlns:a="http://schemas.openxmlformats.org/drawingml/2006/main">
            <a:off x="571500" y="285750"/>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3300" b="1">
                <a:solidFill>
                  <a:srgbClr val="153246"/>
                </a:solidFill>
                <a:latin typeface="Arial"/>
                <a:ea typeface="Arial"/>
                <a:cs typeface="Arial"/>
              </a:defRPr>
            </a:defPPr>
          </a:lstStyle>
          <a:p xmlns:a="http://schemas.openxmlformats.org/drawingml/2006/main">
            <a:pPr>
              <a:defRPr sz="3300" b="1">
                <a:solidFill>
                  <a:srgbClr val="153246"/>
                </a:solidFill>
                <a:latin typeface="Arial"/>
                <a:ea typeface="Arial"/>
                <a:cs typeface="Arial"/>
              </a:defRPr>
            </a:pPr>
            <a:r>
              <a:rPr sz="3300" b="1">
                <a:solidFill>
                  <a:srgbClr val="153246"/>
                </a:solidFill>
                <a:latin typeface="Arial"/>
                <a:ea typeface="Arial"/>
                <a:cs typeface="Arial"/>
              </a:rPr>
              <a:t>2. Molecules, height and optical depth</a:t>
            </a:r>
          </a:p>
        </p:txBody>
      </p:sp>
      <p:sp>
        <p:nvSpPr>
          <p:cNvPr id="2" name="">
            <a:extLst xmlns:a="http://schemas.openxmlformats.org/drawingml/2006/main">
              <a:ext uri="{FF2B5EF4-FFF2-40B4-BE49-F238E27FC236}">
                <a16:creationId xmlns:a16="http://schemas.microsoft.com/office/drawing/2014/main" id="{C0234D25-4F33-435C-B710-210A54F084A4}"/>
              </a:ext>
            </a:extLst>
          </p:cNvPr>
          <p:cNvSpPr>
            <a:spLocks xmlns:a="http://schemas.openxmlformats.org/drawingml/2006/main" noGrp="1"/>
          </p:cNvSpPr>
          <p:nvPr/>
        </p:nvSpPr>
        <p:spPr>
          <a:xfrm xmlns:a="http://schemas.openxmlformats.org/drawingml/2006/main">
            <a:off x="628650" y="1009650"/>
            <a:ext cx="13982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875" b="0">
                <a:solidFill>
                  <a:srgbClr val="496071"/>
                </a:solidFill>
                <a:latin typeface="Arial"/>
                <a:ea typeface="Arial"/>
                <a:cs typeface="Arial"/>
              </a:defRPr>
            </a:defPPr>
          </a:lstStyle>
          <a:p xmlns:a="http://schemas.openxmlformats.org/drawingml/2006/main">
            <a:pPr>
              <a:defRPr sz="1875" b="0">
                <a:solidFill>
                  <a:srgbClr val="496071"/>
                </a:solidFill>
                <a:latin typeface="Arial"/>
                <a:ea typeface="Arial"/>
                <a:cs typeface="Arial"/>
              </a:defRPr>
            </a:pPr>
            <a:r>
              <a:rPr sz="1875" b="0">
                <a:solidFill>
                  <a:srgbClr val="496071"/>
                </a:solidFill>
                <a:latin typeface="Arial"/>
                <a:ea typeface="Arial"/>
                <a:cs typeface="Arial"/>
              </a:rPr>
              <a:t>The forward model adds the absorption of each altitude layer. Its inputs are a concentration profile and spectral line parameters.</a:t>
            </a:r>
          </a:p>
        </p:txBody>
      </p:sp>
      <p:sp>
        <p:nvSpPr>
          <p:cNvPr id="3" name="">
            <a:extLst xmlns:a="http://schemas.openxmlformats.org/drawingml/2006/main">
              <a:ext uri="{FF2B5EF4-FFF2-40B4-BE49-F238E27FC236}">
                <a16:creationId xmlns:a16="http://schemas.microsoft.com/office/drawing/2014/main" id="{615A8B77-F3A7-41BE-84D7-D5A043333F30}"/>
              </a:ext>
            </a:extLst>
          </p:cNvPr>
          <p:cNvSpPr>
            <a:spLocks xmlns:a="http://schemas.openxmlformats.org/drawingml/2006/main" noGrp="1"/>
          </p:cNvSpPr>
          <p:nvPr/>
        </p:nvSpPr>
        <p:spPr>
          <a:xfrm xmlns:a="http://schemas.openxmlformats.org/drawingml/2006/main">
            <a:off x="628650" y="1733550"/>
            <a:ext cx="6715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2025" b="1">
                <a:solidFill>
                  <a:srgbClr val="126B76"/>
                </a:solidFill>
                <a:latin typeface="Arial"/>
                <a:ea typeface="Arial"/>
                <a:cs typeface="Arial"/>
              </a:defRPr>
            </a:defPPr>
          </a:lstStyle>
          <a:p xmlns:a="http://schemas.openxmlformats.org/drawingml/2006/main">
            <a:pPr>
              <a:defRPr sz="2025" b="1">
                <a:solidFill>
                  <a:srgbClr val="126B76"/>
                </a:solidFill>
                <a:latin typeface="Arial"/>
                <a:ea typeface="Arial"/>
                <a:cs typeface="Arial"/>
              </a:defRPr>
            </a:pPr>
            <a:r>
              <a:rPr sz="2025" b="1">
                <a:solidFill>
                  <a:srgbClr val="126B76"/>
                </a:solidFill>
                <a:latin typeface="Arial"/>
                <a:ea typeface="Arial"/>
                <a:cs typeface="Arial"/>
              </a:rPr>
              <a:t>What each quantity means</a:t>
            </a:r>
          </a:p>
        </p:txBody>
      </p:sp>
      <p:sp>
        <p:nvSpPr>
          <p:cNvPr id="4" name="">
            <a:extLst xmlns:a="http://schemas.openxmlformats.org/drawingml/2006/main">
              <a:ext uri="{FF2B5EF4-FFF2-40B4-BE49-F238E27FC236}">
                <a16:creationId xmlns:a16="http://schemas.microsoft.com/office/drawing/2014/main" id="{AFCDF183-493F-43EA-BE28-1B87E943A6FC}"/>
              </a:ext>
            </a:extLst>
          </p:cNvPr>
          <p:cNvSpPr>
            <a:spLocks xmlns:a="http://schemas.openxmlformats.org/drawingml/2006/main" noGrp="1"/>
          </p:cNvSpPr>
          <p:nvPr/>
        </p:nvSpPr>
        <p:spPr>
          <a:xfrm xmlns:a="http://schemas.openxmlformats.org/drawingml/2006/main">
            <a:off x="628650" y="2143125"/>
            <a:ext cx="6762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800" b="0">
                <a:solidFill>
                  <a:srgbClr val="153246"/>
                </a:solidFill>
                <a:latin typeface="Arial"/>
                <a:ea typeface="Arial"/>
                <a:cs typeface="Arial"/>
              </a:defRPr>
            </a:defPPr>
          </a:lstStyle>
          <a:p xmlns:a="http://schemas.openxmlformats.org/drawingml/2006/main">
            <a:pPr>
              <a:defRPr sz="1800" b="0">
                <a:solidFill>
                  <a:srgbClr val="153246"/>
                </a:solidFill>
                <a:latin typeface="Arial"/>
                <a:ea typeface="Arial"/>
                <a:cs typeface="Arial"/>
              </a:defRPr>
            </a:pPr>
            <a:r>
              <a:rPr sz="1800" b="0">
                <a:solidFill>
                  <a:srgbClr val="153246"/>
                </a:solidFill>
                <a:latin typeface="Arial"/>
                <a:ea typeface="Arial"/>
                <a:cs typeface="Arial"/>
              </a:rPr>
              <a:t>n(z) counts absorbing molecules per volume. For 1 µg/m³, n(0) = (10⁻⁶ / 41.053) Nₐ = 1.46692 × 10¹⁶ m⁻³, with Nₐ = 6.02214 × 10²³ mol⁻¹. The profile decreases with height.</a:t>
            </a:r>
          </a:p>
        </p:txBody>
      </p:sp>
      <p:sp>
        <p:nvSpPr>
          <p:cNvPr id="5" name="">
            <a:extLst xmlns:a="http://schemas.openxmlformats.org/drawingml/2006/main">
              <a:ext uri="{FF2B5EF4-FFF2-40B4-BE49-F238E27FC236}">
                <a16:creationId xmlns:a16="http://schemas.microsoft.com/office/drawing/2014/main" id="{A2DE0390-FAED-4DB1-B634-4D40874F8E9F}"/>
              </a:ext>
            </a:extLst>
          </p:cNvPr>
          <p:cNvSpPr>
            <a:spLocks xmlns:a="http://schemas.openxmlformats.org/drawingml/2006/main" noGrp="1"/>
          </p:cNvSpPr>
          <p:nvPr/>
        </p:nvSpPr>
        <p:spPr>
          <a:xfrm xmlns:a="http://schemas.openxmlformats.org/drawingml/2006/main">
            <a:off x="628650" y="3505200"/>
            <a:ext cx="6762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800" b="0">
                <a:solidFill>
                  <a:srgbClr val="153246"/>
                </a:solidFill>
                <a:latin typeface="Arial"/>
                <a:ea typeface="Arial"/>
                <a:cs typeface="Arial"/>
              </a:defRPr>
            </a:defPPr>
          </a:lstStyle>
          <a:p xmlns:a="http://schemas.openxmlformats.org/drawingml/2006/main">
            <a:pPr>
              <a:defRPr sz="1800" b="0">
                <a:solidFill>
                  <a:srgbClr val="153246"/>
                </a:solidFill>
                <a:latin typeface="Arial"/>
                <a:ea typeface="Arial"/>
                <a:cs typeface="Arial"/>
              </a:defRPr>
            </a:pPr>
            <a:r>
              <a:rPr sz="1800" b="0">
                <a:solidFill>
                  <a:srgbClr val="153246"/>
                </a:solidFill>
                <a:latin typeface="Arial"/>
                <a:ea typeface="Arial"/>
                <a:cs typeface="Arial"/>
              </a:rPr>
              <a:t>σ(f,z) is effective absorption area per molecule. Each line contributes S × V: S is its integrated strength and V its shape across frequency. Temperature changes S and V. Pressure broadens and shifts V.</a:t>
            </a:r>
          </a:p>
        </p:txBody>
      </p:sp>
      <p:pic>
        <p:nvPicPr>
          <p:cNvPr id="6" name="">
            <a:extLst xmlns:a="http://schemas.openxmlformats.org/drawingml/2006/main">
              <a:ext uri="{FF2B5EF4-FFF2-40B4-BE49-F238E27FC236}">
                <a16:creationId xmlns:a16="http://schemas.microsoft.com/office/drawing/2014/main" id="{27E9116B-8C57-4EB0-84A6-EB0148AB6FE0}"/>
              </a:ext>
            </a:extLst>
          </p:cNvPr>
          <p:cNvPicPr>
            <a:picLocks xmlns:a="http://schemas.openxmlformats.org/drawingml/2006/main" noChangeAspect="1"/>
          </p:cNvPicPr>
          <p:nvPr/>
        </p:nvPicPr>
        <p:blipFill>
          <a:blip xmlns:r="http://schemas.openxmlformats.org/officeDocument/2006/relationships" xmlns:a="http://schemas.openxmlformats.org/drawingml/2006/main" r:embed="Rdccb7abf8ff64dfb">
            <a:extLst>
              <a:ext uri="{96DAC541-7B7A-43D3-8B79-37D633B846F1}">
                <asvg:svgBlip xmlns:asvg="http://schemas.microsoft.com/office/drawing/2016/SVG/main" r:embed="R2f27e003862d4b9c"/>
              </a:ext>
            </a:extLst>
          </a:blip>
          <a:stretch xmlns:a="http://schemas.openxmlformats.org/drawingml/2006/main"/>
        </p:blipFill>
        <p:spPr>
          <a:xfrm xmlns:a="http://schemas.openxmlformats.org/drawingml/2006/main">
            <a:off x="628650" y="4991100"/>
            <a:ext cx="5395049" cy="7810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ADA1970B-BA24-4C80-A686-36FE424513AB}"/>
              </a:ext>
            </a:extLst>
          </p:cNvPr>
          <p:cNvSpPr>
            <a:spLocks xmlns:a="http://schemas.openxmlformats.org/drawingml/2006/main" noGrp="1"/>
          </p:cNvSpPr>
          <p:nvPr/>
        </p:nvSpPr>
        <p:spPr>
          <a:xfrm xmlns:a="http://schemas.openxmlformats.org/drawingml/2006/main">
            <a:off x="628650" y="5895975"/>
            <a:ext cx="67627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800" b="0">
                <a:solidFill>
                  <a:srgbClr val="153246"/>
                </a:solidFill>
                <a:latin typeface="Arial"/>
                <a:ea typeface="Arial"/>
                <a:cs typeface="Arial"/>
              </a:defRPr>
            </a:defPPr>
          </a:lstStyle>
          <a:p xmlns:a="http://schemas.openxmlformats.org/drawingml/2006/main">
            <a:pPr>
              <a:defRPr sz="1800" b="0">
                <a:solidFill>
                  <a:srgbClr val="153246"/>
                </a:solidFill>
                <a:latin typeface="Arial"/>
                <a:ea typeface="Arial"/>
                <a:cs typeface="Arial"/>
              </a:defRPr>
            </a:pPr>
            <a:r>
              <a:rPr sz="1800" b="0">
                <a:solidFill>
                  <a:srgbClr val="153246"/>
                </a:solidFill>
                <a:latin typeface="Arial"/>
                <a:ea typeface="Arial"/>
                <a:cs typeface="Arial"/>
              </a:rPr>
              <a:t>α is absorption per unit distance. Optical depth τ adds it along the ray and has no units. Power transmission is exp(−τ). At τ = 1, 36.8% survives. Height enters through n, temperature, pressure and the endpoints.</a:t>
            </a:r>
          </a:p>
        </p:txBody>
      </p:sp>
      <p:sp>
        <p:nvSpPr>
          <p:cNvPr id="8" name="">
            <a:extLst xmlns:a="http://schemas.openxmlformats.org/drawingml/2006/main">
              <a:ext uri="{FF2B5EF4-FFF2-40B4-BE49-F238E27FC236}">
                <a16:creationId xmlns:a16="http://schemas.microsoft.com/office/drawing/2014/main" id="{84B9527C-5A01-4719-90E1-AD23D810B8E8}"/>
              </a:ext>
            </a:extLst>
          </p:cNvPr>
          <p:cNvSpPr>
            <a:spLocks xmlns:a="http://schemas.openxmlformats.org/drawingml/2006/main" noGrp="1"/>
          </p:cNvSpPr>
          <p:nvPr/>
        </p:nvSpPr>
        <p:spPr>
          <a:xfrm xmlns:a="http://schemas.openxmlformats.org/drawingml/2006/main">
            <a:off x="7905750" y="1733550"/>
            <a:ext cx="6715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2025" b="1">
                <a:solidFill>
                  <a:srgbClr val="126B76"/>
                </a:solidFill>
                <a:latin typeface="Arial"/>
                <a:ea typeface="Arial"/>
                <a:cs typeface="Arial"/>
              </a:defRPr>
            </a:defPPr>
          </a:lstStyle>
          <a:p xmlns:a="http://schemas.openxmlformats.org/drawingml/2006/main">
            <a:pPr>
              <a:defRPr sz="2025" b="1">
                <a:solidFill>
                  <a:srgbClr val="126B76"/>
                </a:solidFill>
                <a:latin typeface="Arial"/>
                <a:ea typeface="Arial"/>
                <a:cs typeface="Arial"/>
              </a:defRPr>
            </a:pPr>
            <a:r>
              <a:rPr sz="2025" b="1">
                <a:solidFill>
                  <a:srgbClr val="126B76"/>
                </a:solidFill>
                <a:latin typeface="Arial"/>
                <a:ea typeface="Arial"/>
                <a:cs typeface="Arial"/>
              </a:rPr>
              <a:t>Actual calculation at the first tone</a:t>
            </a:r>
          </a:p>
        </p:txBody>
      </p:sp>
      <p:sp>
        <p:nvSpPr>
          <p:cNvPr id="9" name="">
            <a:extLst xmlns:a="http://schemas.openxmlformats.org/drawingml/2006/main">
              <a:ext uri="{FF2B5EF4-FFF2-40B4-BE49-F238E27FC236}">
                <a16:creationId xmlns:a16="http://schemas.microsoft.com/office/drawing/2014/main" id="{9E027963-1522-43D8-AA3C-D27BFEAE4897}"/>
              </a:ext>
            </a:extLst>
          </p:cNvPr>
          <p:cNvSpPr>
            <a:spLocks xmlns:a="http://schemas.openxmlformats.org/drawingml/2006/main" noGrp="1"/>
          </p:cNvSpPr>
          <p:nvPr/>
        </p:nvSpPr>
        <p:spPr>
          <a:xfrm xmlns:a="http://schemas.openxmlformats.org/drawingml/2006/main">
            <a:off x="7905750" y="2143125"/>
            <a:ext cx="6705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f₀ = 230.004883 GHz. At z = 16.8826 m, T = 288.0403 K and p = 101,122.35 Pa:</a:t>
            </a:r>
          </a:p>
        </p:txBody>
      </p:sp>
      <p:graphicFrame>
        <p:nvGraphicFramePr>
          <p:cNvPr id="10" name="">
            <a:extLst xmlns:a="http://schemas.openxmlformats.org/drawingml/2006/main">
              <a:ext uri="{FF2B5EF4-FFF2-40B4-BE49-F238E27FC236}">
                <a16:creationId xmlns:a16="http://schemas.microsoft.com/office/drawing/2014/main" id="{EB2F301F-5F02-4612-ACF6-D366A09F7822}"/>
              </a:ext>
            </a:extLst>
          </p:cNvPr>
          <p:cNvGraphicFramePr/>
          <p:nvPr/>
        </p:nvGraphicFramePr>
        <p:xfrm>
          <a:off xmlns:a="http://schemas.openxmlformats.org/drawingml/2006/main" x="7905750" y="2905125"/>
          <a:ext xmlns:a="http://schemas.openxmlformats.org/drawingml/2006/main" cx="6705600" cy="3733800"/>
        </p:xfrm>
        <a:graphic xmlns:a="http://schemas.openxmlformats.org/drawingml/2006/main">
          <a:graphicData uri="http://schemas.openxmlformats.org/drawingml/2006/table">
            <a:tbl>
              <a:tblPr/>
              <a:tblGrid>
                <a:gridCol w="3017520"/>
                <a:gridCol w="3688080"/>
              </a:tblGrid>
              <a:tr h="428625">
                <a:tc>
                  <a:txBody>
                    <a:bodyPr/>
                    <a:lstStyle/>
                    <a:p>
                      <a:r>
                        <a:rPr sz="1710" b="1">
                          <a:solidFill>
                            <a:srgbClr val="FFFFFF"/>
                          </a:solidFill>
                          <a:latin typeface="Arial"/>
                          <a:ea typeface="Arial"/>
                          <a:cs typeface="Arial"/>
                        </a:rPr>
                        <a:t>Calculation</a:t>
                      </a:r>
                    </a:p>
                  </a:txBody>
                  <a:tcPr marL="104775" marR="104775" marT="57150" marB="57150" anchor="ctr">
                    <a:solidFill>
                      <a:srgbClr val="153246"/>
                    </a:solidFill>
                  </a:tcPr>
                </a:tc>
                <a:tc>
                  <a:txBody>
                    <a:bodyPr/>
                    <a:lstStyle/>
                    <a:p>
                      <a:r>
                        <a:rPr sz="1710" b="1">
                          <a:solidFill>
                            <a:srgbClr val="FFFFFF"/>
                          </a:solidFill>
                          <a:latin typeface="Arial"/>
                          <a:ea typeface="Arial"/>
                          <a:cs typeface="Arial"/>
                        </a:rPr>
                        <a:t>Numerical value</a:t>
                      </a:r>
                    </a:p>
                  </a:txBody>
                  <a:tcPr marL="104775" marR="104775" marT="57150" marB="57150" anchor="ctr">
                    <a:solidFill>
                      <a:srgbClr val="153246"/>
                    </a:solidFill>
                  </a:tcPr>
                </a:tc>
              </a:tr>
              <a:tr h="657225">
                <a:tc>
                  <a:txBody>
                    <a:bodyPr/>
                    <a:lstStyle/>
                    <a:p>
                      <a:r>
                        <a:rPr sz="1710" b="0">
                          <a:solidFill>
                            <a:srgbClr val="153246"/>
                          </a:solidFill>
                          <a:latin typeface="Arial"/>
                          <a:ea typeface="Arial"/>
                          <a:cs typeface="Arial"/>
                        </a:rPr>
                        <a:t>One transition: σ = S(T) × V</a:t>
                      </a:r>
                    </a:p>
                  </a:txBody>
                  <a:tcPr marL="104775" marR="104775" marT="57150" marB="57150" anchor="ctr">
                    <a:solidFill>
                      <a:srgbClr val="F0F5F7"/>
                    </a:solidFill>
                  </a:tcPr>
                </a:tc>
                <a:tc>
                  <a:txBody>
                    <a:bodyPr/>
                    <a:lstStyle/>
                    <a:p>
                      <a:r>
                        <a:rPr sz="1710" b="0">
                          <a:solidFill>
                            <a:srgbClr val="153246"/>
                          </a:solidFill>
                          <a:latin typeface="Arial"/>
                          <a:ea typeface="Arial"/>
                          <a:cs typeface="Arial"/>
                        </a:rPr>
                        <a:t>(2.845759 × 10⁻²¹) × 0.4334214 = 1.233413 × 10⁻²¹ cm²</a:t>
                      </a:r>
                    </a:p>
                  </a:txBody>
                  <a:tcPr marL="104775" marR="104775" marT="57150" marB="57150" anchor="ctr">
                    <a:solidFill>
                      <a:srgbClr val="F0F5F7"/>
                    </a:solidFill>
                  </a:tcPr>
                </a:tc>
              </a:tr>
              <a:tr h="476250">
                <a:tc>
                  <a:txBody>
                    <a:bodyPr/>
                    <a:lstStyle/>
                    <a:p>
                      <a:r>
                        <a:rPr sz="1710" b="0">
                          <a:solidFill>
                            <a:srgbClr val="153246"/>
                          </a:solidFill>
                          <a:latin typeface="Arial"/>
                          <a:ea typeface="Arial"/>
                          <a:cs typeface="Arial"/>
                        </a:rPr>
                        <a:t>All retained transitions</a:t>
                      </a:r>
                    </a:p>
                  </a:txBody>
                  <a:tcPr marL="104775" marR="104775" marT="57150" marB="57150" anchor="ctr">
                    <a:solidFill>
                      <a:srgbClr val="FFFFFF"/>
                    </a:solidFill>
                  </a:tcPr>
                </a:tc>
                <a:tc>
                  <a:txBody>
                    <a:bodyPr/>
                    <a:lstStyle/>
                    <a:p>
                      <a:r>
                        <a:rPr sz="1710" b="0">
                          <a:solidFill>
                            <a:srgbClr val="153246"/>
                          </a:solidFill>
                          <a:latin typeface="Arial"/>
                          <a:ea typeface="Arial"/>
                          <a:cs typeface="Arial"/>
                        </a:rPr>
                        <a:t>σ₀ = 2.642246 × 10⁻²⁰ cm²/molecule</a:t>
                      </a:r>
                    </a:p>
                  </a:txBody>
                  <a:tcPr marL="104775" marR="104775" marT="57150" marB="57150" anchor="ctr">
                    <a:solidFill>
                      <a:srgbClr val="FFFFFF"/>
                    </a:solidFill>
                  </a:tcPr>
                </a:tc>
              </a:tr>
              <a:tr h="657225">
                <a:tc>
                  <a:txBody>
                    <a:bodyPr/>
                    <a:lstStyle/>
                    <a:p>
                      <a:r>
                        <a:rPr sz="1710" b="0">
                          <a:solidFill>
                            <a:srgbClr val="153246"/>
                          </a:solidFill>
                          <a:latin typeface="Arial"/>
                          <a:ea typeface="Arial"/>
                          <a:cs typeface="Arial"/>
                        </a:rPr>
                        <a:t>Density for 1 µg/m³</a:t>
                      </a:r>
                    </a:p>
                  </a:txBody>
                  <a:tcPr marL="104775" marR="104775" marT="57150" marB="57150" anchor="ctr">
                    <a:solidFill>
                      <a:srgbClr val="F0F5F7"/>
                    </a:solidFill>
                  </a:tcPr>
                </a:tc>
                <a:tc>
                  <a:txBody>
                    <a:bodyPr/>
                    <a:lstStyle/>
                    <a:p>
                      <a:r>
                        <a:rPr sz="1710" b="0">
                          <a:solidFill>
                            <a:srgbClr val="153246"/>
                          </a:solidFill>
                          <a:latin typeface="Arial"/>
                          <a:ea typeface="Arial"/>
                          <a:cs typeface="Arial"/>
                        </a:rPr>
                        <a:t>n₁(z) = 1.450501 × 10¹⁰ molecules/cm³</a:t>
                      </a:r>
                    </a:p>
                  </a:txBody>
                  <a:tcPr marL="104775" marR="104775" marT="57150" marB="57150" anchor="ctr">
                    <a:solidFill>
                      <a:srgbClr val="F0F5F7"/>
                    </a:solidFill>
                  </a:tcPr>
                </a:tc>
              </a:tr>
              <a:tr h="428625">
                <a:tc>
                  <a:txBody>
                    <a:bodyPr/>
                    <a:lstStyle/>
                    <a:p>
                      <a:r>
                        <a:rPr sz="1710" b="0">
                          <a:solidFill>
                            <a:srgbClr val="153246"/>
                          </a:solidFill>
                          <a:latin typeface="Arial"/>
                          <a:ea typeface="Arial"/>
                          <a:cs typeface="Arial"/>
                        </a:rPr>
                        <a:t>Integration weight</a:t>
                      </a:r>
                    </a:p>
                  </a:txBody>
                  <a:tcPr marL="104775" marR="104775" marT="57150" marB="57150" anchor="ctr">
                    <a:solidFill>
                      <a:srgbClr val="FFFFFF"/>
                    </a:solidFill>
                  </a:tcPr>
                </a:tc>
                <a:tc>
                  <a:txBody>
                    <a:bodyPr/>
                    <a:lstStyle/>
                    <a:p>
                      <a:r>
                        <a:rPr sz="1710" b="0">
                          <a:solidFill>
                            <a:srgbClr val="153246"/>
                          </a:solidFill>
                          <a:latin typeface="Arial"/>
                          <a:ea typeface="Arial"/>
                          <a:cs typeface="Arial"/>
                        </a:rPr>
                        <a:t>w = 4,283.1123 cm</a:t>
                      </a:r>
                    </a:p>
                  </a:txBody>
                  <a:tcPr marL="104775" marR="104775" marT="57150" marB="57150" anchor="ctr">
                    <a:solidFill>
                      <a:srgbClr val="FFFFFF"/>
                    </a:solidFill>
                  </a:tcPr>
                </a:tc>
              </a:tr>
              <a:tr h="428625">
                <a:tc>
                  <a:txBody>
                    <a:bodyPr/>
                    <a:lstStyle/>
                    <a:p>
                      <a:r>
                        <a:rPr sz="1710" b="0">
                          <a:solidFill>
                            <a:srgbClr val="153246"/>
                          </a:solidFill>
                          <a:latin typeface="Arial"/>
                          <a:ea typeface="Arial"/>
                          <a:cs typeface="Arial"/>
                        </a:rPr>
                        <a:t>This node: δτ = σ₀ n₁ w</a:t>
                      </a:r>
                    </a:p>
                  </a:txBody>
                  <a:tcPr marL="104775" marR="104775" marT="57150" marB="57150" anchor="ctr">
                    <a:solidFill>
                      <a:srgbClr val="F0F5F7"/>
                    </a:solidFill>
                  </a:tcPr>
                </a:tc>
                <a:tc>
                  <a:txBody>
                    <a:bodyPr/>
                    <a:lstStyle/>
                    <a:p>
                      <a:r>
                        <a:rPr sz="1710" b="0">
                          <a:solidFill>
                            <a:srgbClr val="153246"/>
                          </a:solidFill>
                          <a:latin typeface="Arial"/>
                          <a:ea typeface="Arial"/>
                          <a:cs typeface="Arial"/>
                        </a:rPr>
                        <a:t>δτ = 1.641537 × 10⁻⁶</a:t>
                      </a:r>
                    </a:p>
                  </a:txBody>
                  <a:tcPr marL="104775" marR="104775" marT="57150" marB="57150" anchor="ctr">
                    <a:solidFill>
                      <a:srgbClr val="F0F5F7"/>
                    </a:solidFill>
                  </a:tcPr>
                </a:tc>
              </a:tr>
              <a:tr h="657225">
                <a:tc>
                  <a:txBody>
                    <a:bodyPr/>
                    <a:lstStyle/>
                    <a:p>
                      <a:r>
                        <a:rPr sz="1710" b="0">
                          <a:solidFill>
                            <a:srgbClr val="153246"/>
                          </a:solidFill>
                          <a:latin typeface="Arial"/>
                          <a:ea typeface="Arial"/>
                          <a:cs typeface="Arial"/>
                        </a:rPr>
                        <a:t>Sum all 114 altitude nodes</a:t>
                      </a:r>
                    </a:p>
                  </a:txBody>
                  <a:tcPr marL="104775" marR="104775" marT="57150" marB="57150" anchor="ctr">
                    <a:solidFill>
                      <a:srgbClr val="FFFFFF"/>
                    </a:solidFill>
                  </a:tcPr>
                </a:tc>
                <a:tc>
                  <a:txBody>
                    <a:bodyPr/>
                    <a:lstStyle/>
                    <a:p>
                      <a:r>
                        <a:rPr sz="1710" b="0">
                          <a:solidFill>
                            <a:srgbClr val="153246"/>
                          </a:solidFill>
                          <a:latin typeface="Arial"/>
                          <a:ea typeface="Arial"/>
                          <a:cs typeface="Arial"/>
                        </a:rPr>
                        <a:t>τ₀,₁ = 5.545084 × 10⁻⁵ for 1 µg/m³</a:t>
                      </a:r>
                    </a:p>
                  </a:txBody>
                  <a:tcPr marL="104775" marR="104775" marT="57150" marB="57150" anchor="ctr">
                    <a:solidFill>
                      <a:srgbClr val="FFFFFF"/>
                    </a:solidFill>
                  </a:tcPr>
                </a:tc>
              </a:tr>
            </a:tbl>
          </a:graphicData>
        </a:graphic>
      </p:graphicFrame>
      <p:sp>
        <p:nvSpPr>
          <p:cNvPr id="11" name="">
            <a:extLst xmlns:a="http://schemas.openxmlformats.org/drawingml/2006/main">
              <a:ext uri="{FF2B5EF4-FFF2-40B4-BE49-F238E27FC236}">
                <a16:creationId xmlns:a16="http://schemas.microsoft.com/office/drawing/2014/main" id="{B3CB916D-41C2-49CA-833A-830E52A36529}"/>
              </a:ext>
            </a:extLst>
          </p:cNvPr>
          <p:cNvSpPr>
            <a:spLocks xmlns:a="http://schemas.openxmlformats.org/drawingml/2006/main" noGrp="1"/>
          </p:cNvSpPr>
          <p:nvPr/>
        </p:nvSpPr>
        <p:spPr>
          <a:xfrm xmlns:a="http://schemas.openxmlformats.org/drawingml/2006/main">
            <a:off x="7905750" y="6762750"/>
            <a:ext cx="6705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97.17% of τ comes from below 5 km. Extra satellite height mainly adds free space loss.</a:t>
            </a:r>
          </a:p>
        </p:txBody>
      </p:sp>
      <p:sp>
        <p:nvSpPr>
          <p:cNvPr id="12" name="">
            <a:extLst xmlns:a="http://schemas.openxmlformats.org/drawingml/2006/main">
              <a:ext uri="{FF2B5EF4-FFF2-40B4-BE49-F238E27FC236}">
                <a16:creationId xmlns:a16="http://schemas.microsoft.com/office/drawing/2014/main" id="{5AEEF2C3-D103-48C4-BF33-BD489565F703}"/>
              </a:ext>
            </a:extLst>
          </p:cNvPr>
          <p:cNvSpPr>
            <a:spLocks xmlns:a="http://schemas.openxmlformats.org/drawingml/2006/main" noGrp="1"/>
          </p:cNvSpPr>
          <p:nvPr/>
        </p:nvSpPr>
        <p:spPr>
          <a:xfrm xmlns:a="http://schemas.openxmlformats.org/drawingml/2006/main">
            <a:off x="628650" y="7486650"/>
            <a:ext cx="13982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463" b="0">
                <a:solidFill>
                  <a:srgbClr val="9F3343"/>
                </a:solidFill>
                <a:latin typeface="Arial"/>
                <a:ea typeface="Arial"/>
                <a:cs typeface="Arial"/>
              </a:defRPr>
            </a:defPPr>
          </a:lstStyle>
          <a:p xmlns:a="http://schemas.openxmlformats.org/drawingml/2006/main">
            <a:pPr>
              <a:defRPr sz="1463" b="0">
                <a:solidFill>
                  <a:srgbClr val="9F3343"/>
                </a:solidFill>
                <a:latin typeface="Arial"/>
                <a:ea typeface="Arial"/>
                <a:cs typeface="Arial"/>
              </a:defRPr>
            </a:pPr>
            <a:r>
              <a:rPr sz="1463" b="0">
                <a:solidFill>
                  <a:srgbClr val="9F3343"/>
                </a:solidFill>
                <a:latin typeface="Arial"/>
                <a:ea typeface="Arial"/>
                <a:cs typeface="Arial"/>
              </a:rPr>
              <a:t>The height fractions and cross sections depend on the assumed profile, frequency and atmosphere. They are calculated values.</a:t>
            </a:r>
          </a:p>
        </p:txBody>
      </p:sp>
      <p:sp>
        <p:nvSpPr>
          <p:cNvPr id="13" name="">
            <a:extLst xmlns:a="http://schemas.openxmlformats.org/drawingml/2006/main">
              <a:ext uri="{FF2B5EF4-FFF2-40B4-BE49-F238E27FC236}">
                <a16:creationId xmlns:a16="http://schemas.microsoft.com/office/drawing/2014/main" id="{68B0F5C6-D771-44D8-A365-A939CB44B38E}"/>
              </a:ext>
            </a:extLst>
          </p:cNvPr>
          <p:cNvSpPr>
            <a:spLocks xmlns:a="http://schemas.openxmlformats.org/drawingml/2006/main" noGrp="1"/>
          </p:cNvSpPr>
          <p:nvPr/>
        </p:nvSpPr>
        <p:spPr>
          <a:xfrm xmlns:a="http://schemas.openxmlformats.org/drawingml/2006/main">
            <a:off x="628650" y="8153400"/>
            <a:ext cx="781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Sources</a:t>
            </a:r>
          </a:p>
        </p:txBody>
      </p:sp>
      <p:sp>
        <p:nvSpPr>
          <p:cNvPr id="14" name="">
            <a:extLst xmlns:a="http://schemas.openxmlformats.org/drawingml/2006/main">
              <a:ext uri="{FF2B5EF4-FFF2-40B4-BE49-F238E27FC236}">
                <a16:creationId xmlns:a16="http://schemas.microsoft.com/office/drawing/2014/main" id="{4F444776-1047-4290-9B89-72340EFB8FEA}"/>
              </a:ext>
            </a:extLst>
          </p:cNvPr>
          <p:cNvSpPr>
            <a:spLocks xmlns:a="http://schemas.openxmlformats.org/drawingml/2006/main" noGrp="1"/>
          </p:cNvSpPr>
          <p:nvPr/>
        </p:nvSpPr>
        <p:spPr>
          <a:xfrm xmlns:a="http://schemas.openxmlformats.org/drawingml/2006/main">
            <a:off x="1476375" y="81534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HITRAN</a:t>
            </a:r>
          </a:p>
        </p:txBody>
      </p:sp>
      <p:sp>
        <p:nvSpPr>
          <p:cNvPr id="15" name="">
            <a:extLst xmlns:a="http://schemas.openxmlformats.org/drawingml/2006/main">
              <a:ext uri="{FF2B5EF4-FFF2-40B4-BE49-F238E27FC236}">
                <a16:creationId xmlns:a16="http://schemas.microsoft.com/office/drawing/2014/main" id="{88C64781-EE0E-4A63-9841-3096CA617CA2}"/>
              </a:ext>
            </a:extLst>
          </p:cNvPr>
          <p:cNvSpPr>
            <a:spLocks xmlns:a="http://schemas.openxmlformats.org/drawingml/2006/main" noGrp="1"/>
          </p:cNvSpPr>
          <p:nvPr/>
        </p:nvSpPr>
        <p:spPr>
          <a:xfrm xmlns:a="http://schemas.openxmlformats.org/drawingml/2006/main">
            <a:off x="3838575" y="81534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HAPI</a:t>
            </a:r>
          </a:p>
        </p:txBody>
      </p:sp>
      <p:sp>
        <p:nvSpPr>
          <p:cNvPr id="16" name="">
            <a:extLst xmlns:a="http://schemas.openxmlformats.org/drawingml/2006/main">
              <a:ext uri="{FF2B5EF4-FFF2-40B4-BE49-F238E27FC236}">
                <a16:creationId xmlns:a16="http://schemas.microsoft.com/office/drawing/2014/main" id="{93A9E21F-CDFC-4981-8EB5-5298AB462C4B}"/>
              </a:ext>
            </a:extLst>
          </p:cNvPr>
          <p:cNvSpPr>
            <a:spLocks xmlns:a="http://schemas.openxmlformats.org/drawingml/2006/main" noGrp="1"/>
          </p:cNvSpPr>
          <p:nvPr/>
        </p:nvSpPr>
        <p:spPr>
          <a:xfrm xmlns:a="http://schemas.openxmlformats.org/drawingml/2006/main">
            <a:off x="6200775" y="81534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P.835</a:t>
            </a:r>
          </a:p>
        </p:txBody>
      </p:sp>
      <p:sp>
        <p:nvSpPr>
          <p:cNvPr id="17" name="">
            <a:extLst xmlns:a="http://schemas.openxmlformats.org/drawingml/2006/main">
              <a:ext uri="{FF2B5EF4-FFF2-40B4-BE49-F238E27FC236}">
                <a16:creationId xmlns:a16="http://schemas.microsoft.com/office/drawing/2014/main" id="{C8C871C8-B873-40B9-8F6E-1C0F4EA8E3D5}"/>
              </a:ext>
            </a:extLst>
          </p:cNvPr>
          <p:cNvSpPr>
            <a:spLocks xmlns:a="http://schemas.openxmlformats.org/drawingml/2006/main" noGrp="1"/>
          </p:cNvSpPr>
          <p:nvPr/>
        </p:nvSpPr>
        <p:spPr>
          <a:xfrm xmlns:a="http://schemas.openxmlformats.org/drawingml/2006/main">
            <a:off x="8562975" y="81534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Height contributions</a:t>
            </a:r>
          </a:p>
        </p:txBody>
      </p:sp>
      <p:sp>
        <p:nvSpPr>
          <p:cNvPr id="18" name="">
            <a:extLst xmlns:a="http://schemas.openxmlformats.org/drawingml/2006/main">
              <a:ext uri="{FF2B5EF4-FFF2-40B4-BE49-F238E27FC236}">
                <a16:creationId xmlns:a16="http://schemas.microsoft.com/office/drawing/2014/main" id="{C526D78F-D4D6-4613-BFE9-9C9C2F7EFFC2}"/>
              </a:ext>
            </a:extLst>
          </p:cNvPr>
          <p:cNvSpPr>
            <a:spLocks xmlns:a="http://schemas.openxmlformats.org/drawingml/2006/main" noGrp="1"/>
          </p:cNvSpPr>
          <p:nvPr/>
        </p:nvSpPr>
        <p:spPr>
          <a:xfrm xmlns:a="http://schemas.openxmlformats.org/drawingml/2006/main">
            <a:off x="10925175" y="81534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Numerical steps</a:t>
            </a:r>
          </a:p>
        </p:txBody>
      </p:sp>
      <p:sp>
        <p:nvSpPr>
          <p:cNvPr id="19" name="">
            <a:extLst xmlns:a="http://schemas.openxmlformats.org/drawingml/2006/main">
              <a:ext uri="{FF2B5EF4-FFF2-40B4-BE49-F238E27FC236}">
                <a16:creationId xmlns:a16="http://schemas.microsoft.com/office/drawing/2014/main" id="{771BF012-DAD8-443E-B789-8145D57C3E6A}"/>
              </a:ext>
            </a:extLst>
          </p:cNvPr>
          <p:cNvSpPr>
            <a:spLocks xmlns:a="http://schemas.openxmlformats.org/drawingml/2006/main" noGrp="1"/>
          </p:cNvSpPr>
          <p:nvPr/>
        </p:nvSpPr>
        <p:spPr>
          <a:xfrm xmlns:a="http://schemas.openxmlformats.org/drawingml/2006/main">
            <a:off x="13982700" y="8115300"/>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500" b="0">
                <a:solidFill>
                  <a:srgbClr val="496071"/>
                </a:solidFill>
                <a:latin typeface="Arial"/>
                <a:ea typeface="Arial"/>
                <a:cs typeface="Arial"/>
              </a:defRPr>
            </a:defPPr>
          </a:lstStyle>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2/7</a:t>
            </a:r>
          </a:p>
        </p:txBody>
      </p:sp>
    </p:spTree>
    <p:extLst>
      <p:ext uri="{BB962C8B-B14F-4D97-AF65-F5344CB8AC3E}">
        <p14:creationId xmlns:p14="http://schemas.microsoft.com/office/powerpoint/2010/main" val="139296847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73A7205-BA94-4AF8-B3AF-2A31857A5A32}"/>
              </a:ext>
            </a:extLst>
          </p:cNvPr>
          <p:cNvSpPr>
            <a:spLocks xmlns:a="http://schemas.openxmlformats.org/drawingml/2006/main" noGrp="1"/>
          </p:cNvSpPr>
          <p:nvPr/>
        </p:nvSpPr>
        <p:spPr>
          <a:xfrm xmlns:a="http://schemas.openxmlformats.org/drawingml/2006/main">
            <a:off x="571500" y="285750"/>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3300" b="1">
                <a:solidFill>
                  <a:srgbClr val="153246"/>
                </a:solidFill>
                <a:latin typeface="Arial"/>
                <a:ea typeface="Arial"/>
                <a:cs typeface="Arial"/>
              </a:defRPr>
            </a:defPPr>
          </a:lstStyle>
          <a:p xmlns:a="http://schemas.openxmlformats.org/drawingml/2006/main">
            <a:pPr>
              <a:defRPr sz="3300" b="1">
                <a:solidFill>
                  <a:srgbClr val="153246"/>
                </a:solidFill>
                <a:latin typeface="Arial"/>
                <a:ea typeface="Arial"/>
                <a:cs typeface="Arial"/>
              </a:defRPr>
            </a:pPr>
            <a:r>
              <a:rPr sz="3300" b="1">
                <a:solidFill>
                  <a:srgbClr val="153246"/>
                </a:solidFill>
                <a:latin typeface="Arial"/>
                <a:ea typeface="Arial"/>
                <a:cs typeface="Arial"/>
              </a:rPr>
              <a:t>3. The four numbers in the example</a:t>
            </a:r>
          </a:p>
        </p:txBody>
      </p:sp>
      <p:sp>
        <p:nvSpPr>
          <p:cNvPr id="2" name="">
            <a:extLst xmlns:a="http://schemas.openxmlformats.org/drawingml/2006/main">
              <a:ext uri="{FF2B5EF4-FFF2-40B4-BE49-F238E27FC236}">
                <a16:creationId xmlns:a16="http://schemas.microsoft.com/office/drawing/2014/main" id="{150CB1DF-1757-4C54-8094-54DC5BC83A34}"/>
              </a:ext>
            </a:extLst>
          </p:cNvPr>
          <p:cNvSpPr>
            <a:spLocks xmlns:a="http://schemas.openxmlformats.org/drawingml/2006/main" noGrp="1"/>
          </p:cNvSpPr>
          <p:nvPr/>
        </p:nvSpPr>
        <p:spPr>
          <a:xfrm xmlns:a="http://schemas.openxmlformats.org/drawingml/2006/main">
            <a:off x="628650" y="1009650"/>
            <a:ext cx="13982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875" b="0">
                <a:solidFill>
                  <a:srgbClr val="496071"/>
                </a:solidFill>
                <a:latin typeface="Arial"/>
                <a:ea typeface="Arial"/>
                <a:cs typeface="Arial"/>
              </a:defRPr>
            </a:defPPr>
          </a:lstStyle>
          <a:p xmlns:a="http://schemas.openxmlformats.org/drawingml/2006/main">
            <a:pPr>
              <a:defRPr sz="1875" b="0">
                <a:solidFill>
                  <a:srgbClr val="496071"/>
                </a:solidFill>
                <a:latin typeface="Arial"/>
                <a:ea typeface="Arial"/>
                <a:cs typeface="Arial"/>
              </a:defRPr>
            </a:pPr>
            <a:r>
              <a:rPr sz="1875" b="0">
                <a:solidFill>
                  <a:srgbClr val="496071"/>
                </a:solidFill>
                <a:latin typeface="Arial"/>
                <a:ea typeface="Arial"/>
                <a:cs typeface="Arial"/>
              </a:rPr>
              <a:t>With the profile fixed, q scales the extra optical depth. The predicted channel change follows from that accumulated absorption.</a:t>
            </a:r>
          </a:p>
        </p:txBody>
      </p:sp>
      <p:sp>
        <p:nvSpPr>
          <p:cNvPr id="3" name="">
            <a:extLst xmlns:a="http://schemas.openxmlformats.org/drawingml/2006/main">
              <a:ext uri="{FF2B5EF4-FFF2-40B4-BE49-F238E27FC236}">
                <a16:creationId xmlns:a16="http://schemas.microsoft.com/office/drawing/2014/main" id="{16BA0208-6A4E-4C6B-B60A-A63BDECF134E}"/>
              </a:ext>
            </a:extLst>
          </p:cNvPr>
          <p:cNvSpPr>
            <a:spLocks xmlns:a="http://schemas.openxmlformats.org/drawingml/2006/main" noGrp="1"/>
          </p:cNvSpPr>
          <p:nvPr/>
        </p:nvSpPr>
        <p:spPr>
          <a:xfrm xmlns:a="http://schemas.openxmlformats.org/drawingml/2006/main">
            <a:off x="628650" y="1733550"/>
            <a:ext cx="6715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2025" b="1">
                <a:solidFill>
                  <a:srgbClr val="126B76"/>
                </a:solidFill>
                <a:latin typeface="Arial"/>
                <a:ea typeface="Arial"/>
                <a:cs typeface="Arial"/>
              </a:defRPr>
            </a:defPPr>
          </a:lstStyle>
          <a:p xmlns:a="http://schemas.openxmlformats.org/drawingml/2006/main">
            <a:pPr>
              <a:defRPr sz="2025" b="1">
                <a:solidFill>
                  <a:srgbClr val="126B76"/>
                </a:solidFill>
                <a:latin typeface="Arial"/>
                <a:ea typeface="Arial"/>
                <a:cs typeface="Arial"/>
              </a:defRPr>
            </a:pPr>
            <a:r>
              <a:rPr sz="2025" b="1">
                <a:solidFill>
                  <a:srgbClr val="126B76"/>
                </a:solidFill>
                <a:latin typeface="Arial"/>
                <a:ea typeface="Arial"/>
                <a:cs typeface="Arial"/>
              </a:rPr>
              <a:t>Numerical chain at 230.004883 GHz</a:t>
            </a:r>
          </a:p>
        </p:txBody>
      </p:sp>
      <p:graphicFrame>
        <p:nvGraphicFramePr>
          <p:cNvPr id="4" name="">
            <a:extLst xmlns:a="http://schemas.openxmlformats.org/drawingml/2006/main">
              <a:ext uri="{FF2B5EF4-FFF2-40B4-BE49-F238E27FC236}">
                <a16:creationId xmlns:a16="http://schemas.microsoft.com/office/drawing/2014/main" id="{F1FE145A-60F1-4DB5-9B21-6403E5AB196C}"/>
              </a:ext>
            </a:extLst>
          </p:cNvPr>
          <p:cNvGraphicFramePr/>
          <p:nvPr/>
        </p:nvGraphicFramePr>
        <p:xfrm>
          <a:off xmlns:a="http://schemas.openxmlformats.org/drawingml/2006/main" x="628650" y="2181225"/>
          <a:ext xmlns:a="http://schemas.openxmlformats.org/drawingml/2006/main" cx="6762750" cy="3390900"/>
        </p:xfrm>
        <a:graphic xmlns:a="http://schemas.openxmlformats.org/drawingml/2006/main">
          <a:graphicData uri="http://schemas.openxmlformats.org/drawingml/2006/table">
            <a:tbl>
              <a:tblPr/>
              <a:tblGrid>
                <a:gridCol w="2502218"/>
                <a:gridCol w="4260533"/>
              </a:tblGrid>
              <a:tr h="419100">
                <a:tc>
                  <a:txBody>
                    <a:bodyPr/>
                    <a:lstStyle/>
                    <a:p>
                      <a:r>
                        <a:rPr sz="1725" b="1">
                          <a:solidFill>
                            <a:srgbClr val="FFFFFF"/>
                          </a:solidFill>
                          <a:latin typeface="Arial"/>
                          <a:ea typeface="Arial"/>
                          <a:cs typeface="Arial"/>
                        </a:rPr>
                        <a:t>Quantity</a:t>
                      </a:r>
                    </a:p>
                  </a:txBody>
                  <a:tcPr marL="104775" marR="104775" marT="57150" marB="57150" anchor="ctr">
                    <a:solidFill>
                      <a:srgbClr val="153246"/>
                    </a:solidFill>
                  </a:tcPr>
                </a:tc>
                <a:tc>
                  <a:txBody>
                    <a:bodyPr/>
                    <a:lstStyle/>
                    <a:p>
                      <a:r>
                        <a:rPr sz="1725" b="1">
                          <a:solidFill>
                            <a:srgbClr val="FFFFFF"/>
                          </a:solidFill>
                          <a:latin typeface="Arial"/>
                          <a:ea typeface="Arial"/>
                          <a:cs typeface="Arial"/>
                        </a:rPr>
                        <a:t>Calculation and result</a:t>
                      </a:r>
                    </a:p>
                  </a:txBody>
                  <a:tcPr marL="104775" marR="104775" marT="57150" marB="57150" anchor="ctr">
                    <a:solidFill>
                      <a:srgbClr val="153246"/>
                    </a:solidFill>
                  </a:tcPr>
                </a:tc>
              </a:tr>
              <a:tr h="647700">
                <a:tc>
                  <a:txBody>
                    <a:bodyPr/>
                    <a:lstStyle/>
                    <a:p>
                      <a:r>
                        <a:rPr sz="1725" b="0">
                          <a:solidFill>
                            <a:srgbClr val="153246"/>
                          </a:solidFill>
                          <a:latin typeface="Arial"/>
                          <a:ea typeface="Arial"/>
                          <a:cs typeface="Arial"/>
                        </a:rPr>
                        <a:t>Chosen gas enhancement</a:t>
                      </a:r>
                    </a:p>
                  </a:txBody>
                  <a:tcPr marL="104775" marR="104775" marT="57150" marB="57150" anchor="ctr">
                    <a:solidFill>
                      <a:srgbClr val="F0F5F7"/>
                    </a:solidFill>
                  </a:tcPr>
                </a:tc>
                <a:tc>
                  <a:txBody>
                    <a:bodyPr/>
                    <a:lstStyle/>
                    <a:p>
                      <a:r>
                        <a:rPr sz="1725" b="0">
                          <a:solidFill>
                            <a:srgbClr val="153246"/>
                          </a:solidFill>
                          <a:latin typeface="Arial"/>
                          <a:ea typeface="Arial"/>
                          <a:cs typeface="Arial"/>
                        </a:rPr>
                        <a:t>q = 50.5813966 µg/m³</a:t>
                      </a:r>
                    </a:p>
                  </a:txBody>
                  <a:tcPr marL="104775" marR="104775" marT="57150" marB="57150" anchor="ctr">
                    <a:solidFill>
                      <a:srgbClr val="F0F5F7"/>
                    </a:solidFill>
                  </a:tcPr>
                </a:tc>
              </a:tr>
              <a:tr h="647700">
                <a:tc>
                  <a:txBody>
                    <a:bodyPr/>
                    <a:lstStyle/>
                    <a:p>
                      <a:r>
                        <a:rPr sz="1725" b="0">
                          <a:solidFill>
                            <a:srgbClr val="153246"/>
                          </a:solidFill>
                          <a:latin typeface="Arial"/>
                          <a:ea typeface="Arial"/>
                          <a:cs typeface="Arial"/>
                        </a:rPr>
                        <a:t>Extra optical depth</a:t>
                      </a:r>
                    </a:p>
                  </a:txBody>
                  <a:tcPr marL="104775" marR="104775" marT="57150" marB="57150" anchor="ctr">
                    <a:solidFill>
                      <a:srgbClr val="FFFFFF"/>
                    </a:solidFill>
                  </a:tcPr>
                </a:tc>
                <a:tc>
                  <a:txBody>
                    <a:bodyPr/>
                    <a:lstStyle/>
                    <a:p>
                      <a:r>
                        <a:rPr sz="1725" b="0">
                          <a:solidFill>
                            <a:srgbClr val="153246"/>
                          </a:solidFill>
                          <a:latin typeface="Arial"/>
                          <a:ea typeface="Arial"/>
                          <a:cs typeface="Arial"/>
                        </a:rPr>
                        <a:t>τ₀ = q × 5.5450845 × 10⁻⁵ = 0.0028047812</a:t>
                      </a:r>
                    </a:p>
                  </a:txBody>
                  <a:tcPr marL="104775" marR="104775" marT="57150" marB="57150" anchor="ctr">
                    <a:solidFill>
                      <a:srgbClr val="FFFFFF"/>
                    </a:solidFill>
                  </a:tcPr>
                </a:tc>
              </a:tr>
              <a:tr h="514350">
                <a:tc>
                  <a:txBody>
                    <a:bodyPr/>
                    <a:lstStyle/>
                    <a:p>
                      <a:r>
                        <a:rPr sz="1725" b="0">
                          <a:solidFill>
                            <a:srgbClr val="153246"/>
                          </a:solidFill>
                          <a:latin typeface="Arial"/>
                          <a:ea typeface="Arial"/>
                          <a:cs typeface="Arial"/>
                        </a:rPr>
                        <a:t>Extra molecular loss</a:t>
                      </a:r>
                    </a:p>
                  </a:txBody>
                  <a:tcPr marL="104775" marR="104775" marT="57150" marB="57150" anchor="ctr">
                    <a:solidFill>
                      <a:srgbClr val="F0F5F7"/>
                    </a:solidFill>
                  </a:tcPr>
                </a:tc>
                <a:tc>
                  <a:txBody>
                    <a:bodyPr/>
                    <a:lstStyle/>
                    <a:p>
                      <a:r>
                        <a:rPr sz="1725" b="0">
                          <a:solidFill>
                            <a:srgbClr val="153246"/>
                          </a:solidFill>
                          <a:latin typeface="Arial"/>
                          <a:ea typeface="Arial"/>
                          <a:cs typeface="Arial"/>
                        </a:rPr>
                        <a:t>ΔA₀ = (10 / ln 10) τ₀ = 0.0121810098 dB</a:t>
                      </a:r>
                    </a:p>
                  </a:txBody>
                  <a:tcPr marL="104775" marR="104775" marT="57150" marB="57150" anchor="ctr">
                    <a:solidFill>
                      <a:srgbClr val="F0F5F7"/>
                    </a:solidFill>
                  </a:tcPr>
                </a:tc>
              </a:tr>
              <a:tr h="647700">
                <a:tc>
                  <a:txBody>
                    <a:bodyPr/>
                    <a:lstStyle/>
                    <a:p>
                      <a:r>
                        <a:rPr sz="1725" b="0">
                          <a:solidFill>
                            <a:srgbClr val="153246"/>
                          </a:solidFill>
                          <a:latin typeface="Arial"/>
                          <a:ea typeface="Arial"/>
                          <a:cs typeface="Arial"/>
                        </a:rPr>
                        <a:t>Sample/reference amplitude</a:t>
                      </a:r>
                    </a:p>
                  </a:txBody>
                  <a:tcPr marL="104775" marR="104775" marT="57150" marB="57150" anchor="ctr">
                    <a:solidFill>
                      <a:srgbClr val="FFFFFF"/>
                    </a:solidFill>
                  </a:tcPr>
                </a:tc>
                <a:tc>
                  <a:txBody>
                    <a:bodyPr/>
                    <a:lstStyle/>
                    <a:p>
                      <a:r>
                        <a:rPr sz="1725" b="0">
                          <a:solidFill>
                            <a:srgbClr val="153246"/>
                          </a:solidFill>
                          <a:latin typeface="Arial"/>
                          <a:ea typeface="Arial"/>
                          <a:cs typeface="Arial"/>
                        </a:rPr>
                        <a:t>exp(−τ₀/2) = 0.9985985923</a:t>
                      </a:r>
                    </a:p>
                  </a:txBody>
                  <a:tcPr marL="104775" marR="104775" marT="57150" marB="57150" anchor="ctr">
                    <a:solidFill>
                      <a:srgbClr val="FFFFFF"/>
                    </a:solidFill>
                  </a:tcPr>
                </a:tc>
              </a:tr>
              <a:tr h="514350">
                <a:tc>
                  <a:txBody>
                    <a:bodyPr/>
                    <a:lstStyle/>
                    <a:p>
                      <a:r>
                        <a:rPr sz="1725" b="0">
                          <a:solidFill>
                            <a:srgbClr val="153246"/>
                          </a:solidFill>
                          <a:latin typeface="Arial"/>
                          <a:ea typeface="Arial"/>
                          <a:cs typeface="Arial"/>
                        </a:rPr>
                        <a:t>Amplitude reduction</a:t>
                      </a:r>
                    </a:p>
                  </a:txBody>
                  <a:tcPr marL="104775" marR="104775" marT="57150" marB="57150" anchor="ctr">
                    <a:solidFill>
                      <a:srgbClr val="F0F5F7"/>
                    </a:solidFill>
                  </a:tcPr>
                </a:tc>
                <a:tc>
                  <a:txBody>
                    <a:bodyPr/>
                    <a:lstStyle/>
                    <a:p>
                      <a:r>
                        <a:rPr sz="1725" b="0">
                          <a:solidFill>
                            <a:srgbClr val="153246"/>
                          </a:solidFill>
                          <a:latin typeface="Arial"/>
                          <a:ea typeface="Arial"/>
                          <a:cs typeface="Arial"/>
                        </a:rPr>
                        <a:t>100 × (1 − 0.9985985923) = 0.1401408%</a:t>
                      </a:r>
                    </a:p>
                  </a:txBody>
                  <a:tcPr marL="104775" marR="104775" marT="57150" marB="57150" anchor="ctr">
                    <a:solidFill>
                      <a:srgbClr val="F0F5F7"/>
                    </a:solidFill>
                  </a:tcPr>
                </a:tc>
              </a:tr>
            </a:tbl>
          </a:graphicData>
        </a:graphic>
      </p:graphicFrame>
      <p:pic>
        <p:nvPicPr>
          <p:cNvPr id="5" name="">
            <a:extLst xmlns:a="http://schemas.openxmlformats.org/drawingml/2006/main">
              <a:ext uri="{FF2B5EF4-FFF2-40B4-BE49-F238E27FC236}">
                <a16:creationId xmlns:a16="http://schemas.microsoft.com/office/drawing/2014/main" id="{D29DA0F5-B59E-4EA1-951E-62DC701C0D35}"/>
              </a:ext>
            </a:extLst>
          </p:cNvPr>
          <p:cNvPicPr>
            <a:picLocks xmlns:a="http://schemas.openxmlformats.org/drawingml/2006/main" noChangeAspect="1"/>
          </p:cNvPicPr>
          <p:nvPr/>
        </p:nvPicPr>
        <p:blipFill>
          <a:blip xmlns:r="http://schemas.openxmlformats.org/officeDocument/2006/relationships" xmlns:a="http://schemas.openxmlformats.org/drawingml/2006/main" r:embed="R8b42a2abf5aa4093">
            <a:extLst>
              <a:ext uri="{96DAC541-7B7A-43D3-8B79-37D633B846F1}">
                <asvg:svgBlip xmlns:asvg="http://schemas.microsoft.com/office/drawing/2016/SVG/main" r:embed="R6e26625aab834263"/>
              </a:ext>
            </a:extLst>
          </a:blip>
          <a:stretch xmlns:a="http://schemas.openxmlformats.org/drawingml/2006/main"/>
        </p:blipFill>
        <p:spPr>
          <a:xfrm xmlns:a="http://schemas.openxmlformats.org/drawingml/2006/main">
            <a:off x="628650" y="5770387"/>
            <a:ext cx="6762750" cy="546451"/>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EA3E7B5-B67A-4523-A875-2AAC21051FB6}"/>
              </a:ext>
            </a:extLst>
          </p:cNvPr>
          <p:cNvSpPr>
            <a:spLocks xmlns:a="http://schemas.openxmlformats.org/drawingml/2006/main" noGrp="1"/>
          </p:cNvSpPr>
          <p:nvPr/>
        </p:nvSpPr>
        <p:spPr>
          <a:xfrm xmlns:a="http://schemas.openxmlformats.org/drawingml/2006/main">
            <a:off x="628650" y="6457950"/>
            <a:ext cx="676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aₖ means the extra loss produced by 1 µg/m³ with this profile. It varies with frequency because each tone samples a different part of the gas spectrum.</a:t>
            </a:r>
          </a:p>
        </p:txBody>
      </p:sp>
      <p:sp>
        <p:nvSpPr>
          <p:cNvPr id="7" name="">
            <a:extLst xmlns:a="http://schemas.openxmlformats.org/drawingml/2006/main">
              <a:ext uri="{FF2B5EF4-FFF2-40B4-BE49-F238E27FC236}">
                <a16:creationId xmlns:a16="http://schemas.microsoft.com/office/drawing/2014/main" id="{BBB40AA1-2D0F-4993-B449-2D9467E7E5E2}"/>
              </a:ext>
            </a:extLst>
          </p:cNvPr>
          <p:cNvSpPr>
            <a:spLocks xmlns:a="http://schemas.openxmlformats.org/drawingml/2006/main" noGrp="1"/>
          </p:cNvSpPr>
          <p:nvPr/>
        </p:nvSpPr>
        <p:spPr>
          <a:xfrm xmlns:a="http://schemas.openxmlformats.org/drawingml/2006/main">
            <a:off x="7905750" y="1733550"/>
            <a:ext cx="6715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2025" b="1">
                <a:solidFill>
                  <a:srgbClr val="126B76"/>
                </a:solidFill>
                <a:latin typeface="Arial"/>
                <a:ea typeface="Arial"/>
                <a:cs typeface="Arial"/>
              </a:defRPr>
            </a:defPPr>
          </a:lstStyle>
          <a:p xmlns:a="http://schemas.openxmlformats.org/drawingml/2006/main">
            <a:pPr>
              <a:defRPr sz="2025" b="1">
                <a:solidFill>
                  <a:srgbClr val="126B76"/>
                </a:solidFill>
                <a:latin typeface="Arial"/>
                <a:ea typeface="Arial"/>
                <a:cs typeface="Arial"/>
              </a:defRPr>
            </a:pPr>
            <a:r>
              <a:rPr sz="2025" b="1">
                <a:solidFill>
                  <a:srgbClr val="126B76"/>
                </a:solidFill>
                <a:latin typeface="Arial"/>
                <a:ea typeface="Arial"/>
                <a:cs typeface="Arial"/>
              </a:rPr>
              <a:t>The detector uses a pattern across frequency</a:t>
            </a:r>
          </a:p>
        </p:txBody>
      </p:sp>
      <p:graphicFrame>
        <p:nvGraphicFramePr>
          <p:cNvPr id="8" name="Chart">
            <a:extLst xmlns:a="http://schemas.openxmlformats.org/drawingml/2006/main">
              <a:ext uri="{FF2B5EF4-FFF2-40B4-BE49-F238E27FC236}">
                <a16:creationId xmlns:a16="http://schemas.microsoft.com/office/drawing/2014/main" id="{D9FB298E-BB16-40EB-BA2D-CB44FC66B056}"/>
              </a:ext>
            </a:extLst>
          </p:cNvPr>
          <p:cNvGraphicFramePr/>
          <p:nvPr/>
        </p:nvGraphicFramePr>
        <p:xfrm>
          <a:off xmlns:a="http://schemas.openxmlformats.org/drawingml/2006/main" x="7905750" y="2181225"/>
          <a:ext xmlns:a="http://schemas.openxmlformats.org/drawingml/2006/main" cx="6705600" cy="3371850"/>
        </p:xfrm>
        <a:graphic xmlns:a="http://schemas.openxmlformats.org/drawingml/2006/main">
          <a:graphicData uri="http://schemas.openxmlformats.org/drawingml/2006/chart">
            <c:chart xmlns:r="http://schemas.openxmlformats.org/officeDocument/2006/relationships" xmlns:c="http://schemas.openxmlformats.org/drawingml/2006/chart" r:id="Ra898b3ceb5584548"/>
          </a:graphicData>
        </a:graphic>
      </p:graphicFrame>
      <p:sp>
        <p:nvSpPr>
          <p:cNvPr id="9" name="">
            <a:extLst xmlns:a="http://schemas.openxmlformats.org/drawingml/2006/main">
              <a:ext uri="{FF2B5EF4-FFF2-40B4-BE49-F238E27FC236}">
                <a16:creationId xmlns:a16="http://schemas.microsoft.com/office/drawing/2014/main" id="{5A38F826-1DBB-40E0-892E-9E6C94773220}"/>
              </a:ext>
            </a:extLst>
          </p:cNvPr>
          <p:cNvSpPr>
            <a:spLocks xmlns:a="http://schemas.openxmlformats.org/drawingml/2006/main" noGrp="1"/>
          </p:cNvSpPr>
          <p:nvPr/>
        </p:nvSpPr>
        <p:spPr>
          <a:xfrm xmlns:a="http://schemas.openxmlformats.org/drawingml/2006/main">
            <a:off x="7905750" y="5705475"/>
            <a:ext cx="67056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The power transmission is exp(−τ₀) = 0.99719915: the added gas removes 0.2801% of the power. The amplitude change is smaller because power is proportional to magnitude squared.</a:t>
            </a:r>
          </a:p>
        </p:txBody>
      </p:sp>
      <p:sp>
        <p:nvSpPr>
          <p:cNvPr id="10" name="">
            <a:extLst xmlns:a="http://schemas.openxmlformats.org/drawingml/2006/main">
              <a:ext uri="{FF2B5EF4-FFF2-40B4-BE49-F238E27FC236}">
                <a16:creationId xmlns:a16="http://schemas.microsoft.com/office/drawing/2014/main" id="{24D99502-47E5-40D2-A8CB-5C1B6F502330}"/>
              </a:ext>
            </a:extLst>
          </p:cNvPr>
          <p:cNvSpPr>
            <a:spLocks xmlns:a="http://schemas.openxmlformats.org/drawingml/2006/main" noGrp="1"/>
          </p:cNvSpPr>
          <p:nvPr/>
        </p:nvSpPr>
        <p:spPr>
          <a:xfrm xmlns:a="http://schemas.openxmlformats.org/drawingml/2006/main">
            <a:off x="7905750" y="6867525"/>
            <a:ext cx="67056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Baseline oxygen/water loss at tone 0: 4.5477 dB.</a:t>
            </a:r>
          </a:p>
        </p:txBody>
      </p:sp>
      <p:sp>
        <p:nvSpPr>
          <p:cNvPr id="11" name="">
            <a:extLst xmlns:a="http://schemas.openxmlformats.org/drawingml/2006/main">
              <a:ext uri="{FF2B5EF4-FFF2-40B4-BE49-F238E27FC236}">
                <a16:creationId xmlns:a16="http://schemas.microsoft.com/office/drawing/2014/main" id="{F4FD32D5-E647-4312-A486-A1EE4A4B576D}"/>
              </a:ext>
            </a:extLst>
          </p:cNvPr>
          <p:cNvSpPr>
            <a:spLocks xmlns:a="http://schemas.openxmlformats.org/drawingml/2006/main" noGrp="1"/>
          </p:cNvSpPr>
          <p:nvPr/>
        </p:nvSpPr>
        <p:spPr>
          <a:xfrm xmlns:a="http://schemas.openxmlformats.org/drawingml/2006/main">
            <a:off x="628650" y="7486650"/>
            <a:ext cx="13982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463" b="0">
                <a:solidFill>
                  <a:srgbClr val="9F3343"/>
                </a:solidFill>
                <a:latin typeface="Arial"/>
                <a:ea typeface="Arial"/>
                <a:cs typeface="Arial"/>
              </a:defRPr>
            </a:defPPr>
          </a:lstStyle>
          <a:p xmlns:a="http://schemas.openxmlformats.org/drawingml/2006/main">
            <a:pPr>
              <a:defRPr sz="1463" b="0">
                <a:solidFill>
                  <a:srgbClr val="9F3343"/>
                </a:solidFill>
                <a:latin typeface="Arial"/>
                <a:ea typeface="Arial"/>
                <a:cs typeface="Arial"/>
              </a:defRPr>
            </a:pPr>
            <a:r>
              <a:rPr sz="1463" b="0">
                <a:solidFill>
                  <a:srgbClr val="9F3343"/>
                </a:solidFill>
                <a:latin typeface="Arial"/>
                <a:ea typeface="Arial"/>
                <a:cs typeface="Arial"/>
              </a:rPr>
              <a:t>These are noiseless predictions for a chosen enhancement. The next page adds the modeled receiver errors.</a:t>
            </a:r>
          </a:p>
        </p:txBody>
      </p:sp>
      <p:sp>
        <p:nvSpPr>
          <p:cNvPr id="12" name="">
            <a:extLst xmlns:a="http://schemas.openxmlformats.org/drawingml/2006/main">
              <a:ext uri="{FF2B5EF4-FFF2-40B4-BE49-F238E27FC236}">
                <a16:creationId xmlns:a16="http://schemas.microsoft.com/office/drawing/2014/main" id="{B2125A76-1F6C-4919-8562-43ECE6C4C177}"/>
              </a:ext>
            </a:extLst>
          </p:cNvPr>
          <p:cNvSpPr>
            <a:spLocks xmlns:a="http://schemas.openxmlformats.org/drawingml/2006/main" noGrp="1"/>
          </p:cNvSpPr>
          <p:nvPr/>
        </p:nvSpPr>
        <p:spPr>
          <a:xfrm xmlns:a="http://schemas.openxmlformats.org/drawingml/2006/main">
            <a:off x="628650" y="8153400"/>
            <a:ext cx="781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Sources</a:t>
            </a:r>
          </a:p>
        </p:txBody>
      </p:sp>
      <p:sp>
        <p:nvSpPr>
          <p:cNvPr id="13" name="">
            <a:extLst xmlns:a="http://schemas.openxmlformats.org/drawingml/2006/main">
              <a:ext uri="{FF2B5EF4-FFF2-40B4-BE49-F238E27FC236}">
                <a16:creationId xmlns:a16="http://schemas.microsoft.com/office/drawing/2014/main" id="{2A33F024-428D-4AC1-9095-08583CC0CB87}"/>
              </a:ext>
            </a:extLst>
          </p:cNvPr>
          <p:cNvSpPr>
            <a:spLocks xmlns:a="http://schemas.openxmlformats.org/drawingml/2006/main" noGrp="1"/>
          </p:cNvSpPr>
          <p:nvPr/>
        </p:nvSpPr>
        <p:spPr>
          <a:xfrm xmlns:a="http://schemas.openxmlformats.org/drawingml/2006/main">
            <a:off x="1476375" y="8153400"/>
            <a:ext cx="5829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Numerical steps</a:t>
            </a:r>
          </a:p>
        </p:txBody>
      </p:sp>
      <p:sp>
        <p:nvSpPr>
          <p:cNvPr id="14" name="">
            <a:extLst xmlns:a="http://schemas.openxmlformats.org/drawingml/2006/main">
              <a:ext uri="{FF2B5EF4-FFF2-40B4-BE49-F238E27FC236}">
                <a16:creationId xmlns:a16="http://schemas.microsoft.com/office/drawing/2014/main" id="{078414BE-C0B0-4C30-87FA-F29F2F1AE5D8}"/>
              </a:ext>
            </a:extLst>
          </p:cNvPr>
          <p:cNvSpPr>
            <a:spLocks xmlns:a="http://schemas.openxmlformats.org/drawingml/2006/main" noGrp="1"/>
          </p:cNvSpPr>
          <p:nvPr/>
        </p:nvSpPr>
        <p:spPr>
          <a:xfrm xmlns:a="http://schemas.openxmlformats.org/drawingml/2006/main">
            <a:off x="7381875" y="8153400"/>
            <a:ext cx="5829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HITRAN</a:t>
            </a:r>
          </a:p>
        </p:txBody>
      </p:sp>
      <p:sp>
        <p:nvSpPr>
          <p:cNvPr id="15" name="">
            <a:extLst xmlns:a="http://schemas.openxmlformats.org/drawingml/2006/main">
              <a:ext uri="{FF2B5EF4-FFF2-40B4-BE49-F238E27FC236}">
                <a16:creationId xmlns:a16="http://schemas.microsoft.com/office/drawing/2014/main" id="{B10B934E-A520-4B92-9017-7C108F68F5D9}"/>
              </a:ext>
            </a:extLst>
          </p:cNvPr>
          <p:cNvSpPr>
            <a:spLocks xmlns:a="http://schemas.openxmlformats.org/drawingml/2006/main" noGrp="1"/>
          </p:cNvSpPr>
          <p:nvPr/>
        </p:nvSpPr>
        <p:spPr>
          <a:xfrm xmlns:a="http://schemas.openxmlformats.org/drawingml/2006/main">
            <a:off x="13982700" y="8115300"/>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500" b="0">
                <a:solidFill>
                  <a:srgbClr val="496071"/>
                </a:solidFill>
                <a:latin typeface="Arial"/>
                <a:ea typeface="Arial"/>
                <a:cs typeface="Arial"/>
              </a:defRPr>
            </a:defPPr>
          </a:lstStyle>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3/7</a:t>
            </a:r>
          </a:p>
        </p:txBody>
      </p:sp>
    </p:spTree>
    <p:extLst>
      <p:ext uri="{BB962C8B-B14F-4D97-AF65-F5344CB8AC3E}">
        <p14:creationId xmlns:p14="http://schemas.microsoft.com/office/powerpoint/2010/main" val="161708779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42E15A42-FFA6-4AE5-8E50-B360CD95F855}"/>
              </a:ext>
            </a:extLst>
          </p:cNvPr>
          <p:cNvSpPr>
            <a:spLocks xmlns:a="http://schemas.openxmlformats.org/drawingml/2006/main" noGrp="1"/>
          </p:cNvSpPr>
          <p:nvPr/>
        </p:nvSpPr>
        <p:spPr>
          <a:xfrm xmlns:a="http://schemas.openxmlformats.org/drawingml/2006/main">
            <a:off x="571500" y="285750"/>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3300" b="1">
                <a:solidFill>
                  <a:srgbClr val="153246"/>
                </a:solidFill>
                <a:latin typeface="Arial"/>
                <a:ea typeface="Arial"/>
                <a:cs typeface="Arial"/>
              </a:defRPr>
            </a:defPPr>
          </a:lstStyle>
          <a:p xmlns:a="http://schemas.openxmlformats.org/drawingml/2006/main">
            <a:pPr>
              <a:defRPr sz="3300" b="1">
                <a:solidFill>
                  <a:srgbClr val="153246"/>
                </a:solidFill>
                <a:latin typeface="Arial"/>
                <a:ea typeface="Arial"/>
                <a:cs typeface="Arial"/>
              </a:defRPr>
            </a:pPr>
            <a:r>
              <a:rPr sz="3300" b="1">
                <a:solidFill>
                  <a:srgbClr val="153246"/>
                </a:solidFill>
                <a:latin typeface="Arial"/>
                <a:ea typeface="Arial"/>
                <a:cs typeface="Arial"/>
              </a:rPr>
              <a:t>4. Pilots: known symbols that reveal the channel</a:t>
            </a:r>
          </a:p>
        </p:txBody>
      </p:sp>
      <p:sp>
        <p:nvSpPr>
          <p:cNvPr id="2" name="">
            <a:extLst xmlns:a="http://schemas.openxmlformats.org/drawingml/2006/main">
              <a:ext uri="{FF2B5EF4-FFF2-40B4-BE49-F238E27FC236}">
                <a16:creationId xmlns:a16="http://schemas.microsoft.com/office/drawing/2014/main" id="{3121875A-11C0-41CD-A322-35CDEA5ECC2E}"/>
              </a:ext>
            </a:extLst>
          </p:cNvPr>
          <p:cNvSpPr>
            <a:spLocks xmlns:a="http://schemas.openxmlformats.org/drawingml/2006/main" noGrp="1"/>
          </p:cNvSpPr>
          <p:nvPr/>
        </p:nvSpPr>
        <p:spPr>
          <a:xfrm xmlns:a="http://schemas.openxmlformats.org/drawingml/2006/main">
            <a:off x="628650" y="1009650"/>
            <a:ext cx="13982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875" b="0">
                <a:solidFill>
                  <a:srgbClr val="496071"/>
                </a:solidFill>
                <a:latin typeface="Arial"/>
                <a:ea typeface="Arial"/>
                <a:cs typeface="Arial"/>
              </a:defRPr>
            </a:defPPr>
          </a:lstStyle>
          <a:p xmlns:a="http://schemas.openxmlformats.org/drawingml/2006/main">
            <a:pPr>
              <a:defRPr sz="1875" b="0">
                <a:solidFill>
                  <a:srgbClr val="496071"/>
                </a:solidFill>
                <a:latin typeface="Arial"/>
                <a:ea typeface="Arial"/>
                <a:cs typeface="Arial"/>
              </a:defRPr>
            </a:pPr>
            <a:r>
              <a:rPr sz="1875" b="0">
                <a:solidFill>
                  <a:srgbClr val="496071"/>
                </a:solidFill>
                <a:latin typeface="Arial"/>
                <a:ea typeface="Arial"/>
                <a:cs typeface="Arial"/>
              </a:rPr>
              <a:t>A pilot is a transmitted complex symbol whose value the receiver already knows. It provides a reference for estimating channel gain.</a:t>
            </a:r>
          </a:p>
        </p:txBody>
      </p:sp>
      <p:sp>
        <p:nvSpPr>
          <p:cNvPr id="3" name="">
            <a:extLst xmlns:a="http://schemas.openxmlformats.org/drawingml/2006/main">
              <a:ext uri="{FF2B5EF4-FFF2-40B4-BE49-F238E27FC236}">
                <a16:creationId xmlns:a16="http://schemas.microsoft.com/office/drawing/2014/main" id="{20C70E82-B8D5-44E8-8C71-C4E868BF120A}"/>
              </a:ext>
            </a:extLst>
          </p:cNvPr>
          <p:cNvSpPr>
            <a:spLocks xmlns:a="http://schemas.openxmlformats.org/drawingml/2006/main" noGrp="1"/>
          </p:cNvSpPr>
          <p:nvPr/>
        </p:nvSpPr>
        <p:spPr>
          <a:xfrm xmlns:a="http://schemas.openxmlformats.org/drawingml/2006/main">
            <a:off x="628650" y="1733550"/>
            <a:ext cx="6715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2025" b="1">
                <a:solidFill>
                  <a:srgbClr val="126B76"/>
                </a:solidFill>
                <a:latin typeface="Arial"/>
                <a:ea typeface="Arial"/>
                <a:cs typeface="Arial"/>
              </a:defRPr>
            </a:defPPr>
          </a:lstStyle>
          <a:p xmlns:a="http://schemas.openxmlformats.org/drawingml/2006/main">
            <a:pPr>
              <a:defRPr sz="2025" b="1">
                <a:solidFill>
                  <a:srgbClr val="126B76"/>
                </a:solidFill>
                <a:latin typeface="Arial"/>
                <a:ea typeface="Arial"/>
                <a:cs typeface="Arial"/>
              </a:defRPr>
            </a:pPr>
            <a:r>
              <a:rPr sz="2025" b="1">
                <a:solidFill>
                  <a:srgbClr val="126B76"/>
                </a:solidFill>
                <a:latin typeface="Arial"/>
                <a:ea typeface="Arial"/>
                <a:cs typeface="Arial"/>
              </a:rPr>
              <a:t>How one known symbol becomes a measurement</a:t>
            </a:r>
          </a:p>
        </p:txBody>
      </p:sp>
      <p:sp>
        <p:nvSpPr>
          <p:cNvPr id="4" name="">
            <a:extLst xmlns:a="http://schemas.openxmlformats.org/drawingml/2006/main">
              <a:ext uri="{FF2B5EF4-FFF2-40B4-BE49-F238E27FC236}">
                <a16:creationId xmlns:a16="http://schemas.microsoft.com/office/drawing/2014/main" id="{45CEDF43-3A7C-47B7-8A6B-75AF71A438E0}"/>
              </a:ext>
            </a:extLst>
          </p:cNvPr>
          <p:cNvSpPr>
            <a:spLocks xmlns:a="http://schemas.openxmlformats.org/drawingml/2006/main" noGrp="1"/>
          </p:cNvSpPr>
          <p:nvPr/>
        </p:nvSpPr>
        <p:spPr>
          <a:xfrm xmlns:a="http://schemas.openxmlformats.org/drawingml/2006/main">
            <a:off x="628650" y="2143125"/>
            <a:ext cx="6762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X is a known unit magnitude pilot, R the received symbol, h the channel and W thermal noise. k labels the tone and m the repetition. Divide out X before averaging:</a:t>
            </a:r>
          </a:p>
        </p:txBody>
      </p:sp>
      <p:pic>
        <p:nvPicPr>
          <p:cNvPr id="5" name="">
            <a:extLst xmlns:a="http://schemas.openxmlformats.org/drawingml/2006/main">
              <a:ext uri="{FF2B5EF4-FFF2-40B4-BE49-F238E27FC236}">
                <a16:creationId xmlns:a16="http://schemas.microsoft.com/office/drawing/2014/main" id="{F22B1A52-9849-4116-8E76-841F72BA7C22}"/>
              </a:ext>
            </a:extLst>
          </p:cNvPr>
          <p:cNvPicPr>
            <a:picLocks xmlns:a="http://schemas.openxmlformats.org/drawingml/2006/main" noChangeAspect="1"/>
          </p:cNvPicPr>
          <p:nvPr/>
        </p:nvPicPr>
        <p:blipFill>
          <a:blip xmlns:r="http://schemas.openxmlformats.org/officeDocument/2006/relationships" xmlns:a="http://schemas.openxmlformats.org/drawingml/2006/main" r:embed="Rd7f9e2fb212140ab">
            <a:extLst>
              <a:ext uri="{96DAC541-7B7A-43D3-8B79-37D633B846F1}">
                <asvg:svgBlip xmlns:asvg="http://schemas.microsoft.com/office/drawing/2016/SVG/main" r:embed="Rd94d2f04f89442ec"/>
              </a:ext>
            </a:extLst>
          </a:blip>
          <a:stretch xmlns:a="http://schemas.openxmlformats.org/drawingml/2006/main"/>
        </p:blipFill>
        <p:spPr>
          <a:xfrm xmlns:a="http://schemas.openxmlformats.org/drawingml/2006/main">
            <a:off x="628650" y="3095625"/>
            <a:ext cx="3410714" cy="9334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22778DA-6287-4A19-93BE-7EEF6FB5FDB0}"/>
              </a:ext>
            </a:extLst>
          </p:cNvPr>
          <p:cNvSpPr>
            <a:spLocks xmlns:a="http://schemas.openxmlformats.org/drawingml/2006/main" noGrp="1"/>
          </p:cNvSpPr>
          <p:nvPr/>
        </p:nvSpPr>
        <p:spPr>
          <a:xfrm xmlns:a="http://schemas.openxmlformats.org/drawingml/2006/main">
            <a:off x="628650" y="4095750"/>
            <a:ext cx="676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Noiseless illustration with h = 0.9985986:</a:t>
            </a:r>
          </a:p>
        </p:txBody>
      </p:sp>
      <p:graphicFrame>
        <p:nvGraphicFramePr>
          <p:cNvPr id="7" name="">
            <a:extLst xmlns:a="http://schemas.openxmlformats.org/drawingml/2006/main">
              <a:ext uri="{FF2B5EF4-FFF2-40B4-BE49-F238E27FC236}">
                <a16:creationId xmlns:a16="http://schemas.microsoft.com/office/drawing/2014/main" id="{0D8BA83D-1EB3-42E2-B837-B45FFA4F7113}"/>
              </a:ext>
            </a:extLst>
          </p:cNvPr>
          <p:cNvGraphicFramePr/>
          <p:nvPr/>
        </p:nvGraphicFramePr>
        <p:xfrm>
          <a:off xmlns:a="http://schemas.openxmlformats.org/drawingml/2006/main" x="628650" y="4476750"/>
          <a:ext xmlns:a="http://schemas.openxmlformats.org/drawingml/2006/main" cx="6762750" cy="1371600"/>
        </p:xfrm>
        <a:graphic xmlns:a="http://schemas.openxmlformats.org/drawingml/2006/main">
          <a:graphicData uri="http://schemas.openxmlformats.org/drawingml/2006/table">
            <a:tbl>
              <a:tblPr/>
              <a:tblGrid>
                <a:gridCol w="1758315"/>
                <a:gridCol w="2637473"/>
                <a:gridCol w="2366962"/>
              </a:tblGrid>
              <a:tr h="457200">
                <a:tc>
                  <a:txBody>
                    <a:bodyPr/>
                    <a:lstStyle/>
                    <a:p>
                      <a:r>
                        <a:rPr sz="1725" b="1">
                          <a:solidFill>
                            <a:srgbClr val="FFFFFF"/>
                          </a:solidFill>
                          <a:latin typeface="Arial"/>
                          <a:ea typeface="Arial"/>
                          <a:cs typeface="Arial"/>
                        </a:rPr>
                        <a:t>Known X</a:t>
                      </a:r>
                    </a:p>
                  </a:txBody>
                  <a:tcPr marL="104775" marR="104775" marT="57150" marB="57150" anchor="ctr">
                    <a:solidFill>
                      <a:srgbClr val="153246"/>
                    </a:solidFill>
                  </a:tcPr>
                </a:tc>
                <a:tc>
                  <a:txBody>
                    <a:bodyPr/>
                    <a:lstStyle/>
                    <a:p>
                      <a:r>
                        <a:rPr sz="1725" b="1">
                          <a:solidFill>
                            <a:srgbClr val="FFFFFF"/>
                          </a:solidFill>
                          <a:latin typeface="Arial"/>
                          <a:ea typeface="Arial"/>
                          <a:cs typeface="Arial"/>
                        </a:rPr>
                        <a:t>Received R</a:t>
                      </a:r>
                    </a:p>
                  </a:txBody>
                  <a:tcPr marL="104775" marR="104775" marT="57150" marB="57150" anchor="ctr">
                    <a:solidFill>
                      <a:srgbClr val="153246"/>
                    </a:solidFill>
                  </a:tcPr>
                </a:tc>
                <a:tc>
                  <a:txBody>
                    <a:bodyPr/>
                    <a:lstStyle/>
                    <a:p>
                      <a:r>
                        <a:rPr sz="1725" b="1">
                          <a:solidFill>
                            <a:srgbClr val="FFFFFF"/>
                          </a:solidFill>
                          <a:latin typeface="Arial"/>
                          <a:ea typeface="Arial"/>
                          <a:cs typeface="Arial"/>
                        </a:rPr>
                        <a:t>R / X</a:t>
                      </a:r>
                    </a:p>
                  </a:txBody>
                  <a:tcPr marL="104775" marR="104775" marT="57150" marB="57150" anchor="ctr">
                    <a:solidFill>
                      <a:srgbClr val="153246"/>
                    </a:solidFill>
                  </a:tcPr>
                </a:tc>
              </a:tr>
              <a:tr h="457200">
                <a:tc>
                  <a:txBody>
                    <a:bodyPr/>
                    <a:lstStyle/>
                    <a:p>
                      <a:r>
                        <a:rPr sz="1725" b="0">
                          <a:solidFill>
                            <a:srgbClr val="153246"/>
                          </a:solidFill>
                          <a:latin typeface="Arial"/>
                          <a:ea typeface="Arial"/>
                          <a:cs typeface="Arial"/>
                        </a:rPr>
                        <a:t>1</a:t>
                      </a:r>
                    </a:p>
                  </a:txBody>
                  <a:tcPr marL="104775" marR="104775" marT="57150" marB="57150" anchor="ctr">
                    <a:solidFill>
                      <a:srgbClr val="F0F5F7"/>
                    </a:solidFill>
                  </a:tcPr>
                </a:tc>
                <a:tc>
                  <a:txBody>
                    <a:bodyPr/>
                    <a:lstStyle/>
                    <a:p>
                      <a:r>
                        <a:rPr sz="1725" b="0">
                          <a:solidFill>
                            <a:srgbClr val="153246"/>
                          </a:solidFill>
                          <a:latin typeface="Arial"/>
                          <a:ea typeface="Arial"/>
                          <a:cs typeface="Arial"/>
                        </a:rPr>
                        <a:t>0.9985986</a:t>
                      </a:r>
                    </a:p>
                  </a:txBody>
                  <a:tcPr marL="104775" marR="104775" marT="57150" marB="57150" anchor="ctr">
                    <a:solidFill>
                      <a:srgbClr val="F0F5F7"/>
                    </a:solidFill>
                  </a:tcPr>
                </a:tc>
                <a:tc>
                  <a:txBody>
                    <a:bodyPr/>
                    <a:lstStyle/>
                    <a:p>
                      <a:r>
                        <a:rPr sz="1725" b="0">
                          <a:solidFill>
                            <a:srgbClr val="153246"/>
                          </a:solidFill>
                          <a:latin typeface="Arial"/>
                          <a:ea typeface="Arial"/>
                          <a:cs typeface="Arial"/>
                        </a:rPr>
                        <a:t>0.9985986</a:t>
                      </a:r>
                    </a:p>
                  </a:txBody>
                  <a:tcPr marL="104775" marR="104775" marT="57150" marB="57150" anchor="ctr">
                    <a:solidFill>
                      <a:srgbClr val="F0F5F7"/>
                    </a:solidFill>
                  </a:tcPr>
                </a:tc>
              </a:tr>
              <a:tr h="457200">
                <a:tc>
                  <a:txBody>
                    <a:bodyPr/>
                    <a:lstStyle/>
                    <a:p>
                      <a:r>
                        <a:rPr sz="1725" b="0">
                          <a:solidFill>
                            <a:srgbClr val="153246"/>
                          </a:solidFill>
                          <a:latin typeface="Arial"/>
                          <a:ea typeface="Arial"/>
                          <a:cs typeface="Arial"/>
                        </a:rPr>
                        <a:t>j</a:t>
                      </a:r>
                    </a:p>
                  </a:txBody>
                  <a:tcPr marL="104775" marR="104775" marT="57150" marB="57150" anchor="ctr">
                    <a:solidFill>
                      <a:srgbClr val="FFFFFF"/>
                    </a:solidFill>
                  </a:tcPr>
                </a:tc>
                <a:tc>
                  <a:txBody>
                    <a:bodyPr/>
                    <a:lstStyle/>
                    <a:p>
                      <a:r>
                        <a:rPr sz="1725" b="0">
                          <a:solidFill>
                            <a:srgbClr val="153246"/>
                          </a:solidFill>
                          <a:latin typeface="Arial"/>
                          <a:ea typeface="Arial"/>
                          <a:cs typeface="Arial"/>
                        </a:rPr>
                        <a:t>0.9985986 j</a:t>
                      </a:r>
                    </a:p>
                  </a:txBody>
                  <a:tcPr marL="104775" marR="104775" marT="57150" marB="57150" anchor="ctr">
                    <a:solidFill>
                      <a:srgbClr val="FFFFFF"/>
                    </a:solidFill>
                  </a:tcPr>
                </a:tc>
                <a:tc>
                  <a:txBody>
                    <a:bodyPr/>
                    <a:lstStyle/>
                    <a:p>
                      <a:r>
                        <a:rPr sz="1725" b="0">
                          <a:solidFill>
                            <a:srgbClr val="153246"/>
                          </a:solidFill>
                          <a:latin typeface="Arial"/>
                          <a:ea typeface="Arial"/>
                          <a:cs typeface="Arial"/>
                        </a:rPr>
                        <a:t>0.9985986</a:t>
                      </a:r>
                    </a:p>
                  </a:txBody>
                  <a:tcPr marL="104775" marR="104775" marT="57150" marB="57150" anchor="ctr">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ECD5315C-30C9-42EE-B7E3-5AA0565CD9E2}"/>
              </a:ext>
            </a:extLst>
          </p:cNvPr>
          <p:cNvSpPr>
            <a:spLocks xmlns:a="http://schemas.openxmlformats.org/drawingml/2006/main" noGrp="1"/>
          </p:cNvSpPr>
          <p:nvPr/>
        </p:nvSpPr>
        <p:spPr>
          <a:xfrm xmlns:a="http://schemas.openxmlformats.org/drawingml/2006/main">
            <a:off x="628650" y="5981700"/>
            <a:ext cx="676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The second pilot rotates by 90°. Dividing by j removes that known rotation. Both pilots reveal the same channel, so their corrected estimates can be averaged.</a:t>
            </a:r>
          </a:p>
        </p:txBody>
      </p:sp>
      <p:sp>
        <p:nvSpPr>
          <p:cNvPr id="9" name="">
            <a:extLst xmlns:a="http://schemas.openxmlformats.org/drawingml/2006/main">
              <a:ext uri="{FF2B5EF4-FFF2-40B4-BE49-F238E27FC236}">
                <a16:creationId xmlns:a16="http://schemas.microsoft.com/office/drawing/2014/main" id="{DB5B761B-E56D-47B3-9E56-6A5AB3620310}"/>
              </a:ext>
            </a:extLst>
          </p:cNvPr>
          <p:cNvSpPr>
            <a:spLocks xmlns:a="http://schemas.openxmlformats.org/drawingml/2006/main" noGrp="1"/>
          </p:cNvSpPr>
          <p:nvPr/>
        </p:nvSpPr>
        <p:spPr>
          <a:xfrm xmlns:a="http://schemas.openxmlformats.org/drawingml/2006/main">
            <a:off x="628650" y="6905625"/>
            <a:ext cx="6762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Independent noise falls as 1/√M in standard deviation. Persistent gain drift survives averaging.</a:t>
            </a:r>
          </a:p>
        </p:txBody>
      </p:sp>
      <p:sp>
        <p:nvSpPr>
          <p:cNvPr id="10" name="">
            <a:extLst xmlns:a="http://schemas.openxmlformats.org/drawingml/2006/main">
              <a:ext uri="{FF2B5EF4-FFF2-40B4-BE49-F238E27FC236}">
                <a16:creationId xmlns:a16="http://schemas.microsoft.com/office/drawing/2014/main" id="{F18305B3-AA9C-4A55-A319-A24752E27F3E}"/>
              </a:ext>
            </a:extLst>
          </p:cNvPr>
          <p:cNvSpPr>
            <a:spLocks xmlns:a="http://schemas.openxmlformats.org/drawingml/2006/main" noGrp="1"/>
          </p:cNvSpPr>
          <p:nvPr/>
        </p:nvSpPr>
        <p:spPr>
          <a:xfrm xmlns:a="http://schemas.openxmlformats.org/drawingml/2006/main">
            <a:off x="7905750" y="1733550"/>
            <a:ext cx="6715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2025" b="1">
                <a:solidFill>
                  <a:srgbClr val="126B76"/>
                </a:solidFill>
                <a:latin typeface="Arial"/>
                <a:ea typeface="Arial"/>
                <a:cs typeface="Arial"/>
              </a:defRPr>
            </a:defPPr>
          </a:lstStyle>
          <a:p xmlns:a="http://schemas.openxmlformats.org/drawingml/2006/main">
            <a:pPr>
              <a:defRPr sz="2025" b="1">
                <a:solidFill>
                  <a:srgbClr val="126B76"/>
                </a:solidFill>
                <a:latin typeface="Arial"/>
                <a:ea typeface="Arial"/>
                <a:cs typeface="Arial"/>
              </a:defRPr>
            </a:pPr>
            <a:r>
              <a:rPr sz="2025" b="1">
                <a:solidFill>
                  <a:srgbClr val="126B76"/>
                </a:solidFill>
                <a:latin typeface="Arial"/>
                <a:ea typeface="Arial"/>
                <a:cs typeface="Arial"/>
              </a:rPr>
              <a:t>The actual allocation and simulated observation</a:t>
            </a:r>
          </a:p>
        </p:txBody>
      </p:sp>
      <p:graphicFrame>
        <p:nvGraphicFramePr>
          <p:cNvPr id="11" name="">
            <a:extLst xmlns:a="http://schemas.openxmlformats.org/drawingml/2006/main">
              <a:ext uri="{FF2B5EF4-FFF2-40B4-BE49-F238E27FC236}">
                <a16:creationId xmlns:a16="http://schemas.microsoft.com/office/drawing/2014/main" id="{FB5A4F1A-1DB3-46A5-90C6-064670C47646}"/>
              </a:ext>
            </a:extLst>
          </p:cNvPr>
          <p:cNvGraphicFramePr/>
          <p:nvPr/>
        </p:nvGraphicFramePr>
        <p:xfrm>
          <a:off xmlns:a="http://schemas.openxmlformats.org/drawingml/2006/main" x="7905750" y="2143125"/>
          <a:ext xmlns:a="http://schemas.openxmlformats.org/drawingml/2006/main" cx="6705600" cy="2857500"/>
        </p:xfrm>
        <a:graphic xmlns:a="http://schemas.openxmlformats.org/drawingml/2006/main">
          <a:graphicData uri="http://schemas.openxmlformats.org/drawingml/2006/table">
            <a:tbl>
              <a:tblPr/>
              <a:tblGrid>
                <a:gridCol w="2548128"/>
                <a:gridCol w="4157472"/>
              </a:tblGrid>
              <a:tr h="419100">
                <a:tc>
                  <a:txBody>
                    <a:bodyPr/>
                    <a:lstStyle/>
                    <a:p>
                      <a:r>
                        <a:rPr sz="1725" b="1">
                          <a:solidFill>
                            <a:srgbClr val="FFFFFF"/>
                          </a:solidFill>
                          <a:latin typeface="Arial"/>
                          <a:ea typeface="Arial"/>
                          <a:cs typeface="Arial"/>
                        </a:rPr>
                        <a:t>Resource</a:t>
                      </a:r>
                    </a:p>
                  </a:txBody>
                  <a:tcPr marL="104775" marR="104775" marT="57150" marB="57150" anchor="ctr">
                    <a:solidFill>
                      <a:srgbClr val="153246"/>
                    </a:solidFill>
                  </a:tcPr>
                </a:tc>
                <a:tc>
                  <a:txBody>
                    <a:bodyPr/>
                    <a:lstStyle/>
                    <a:p>
                      <a:r>
                        <a:rPr sz="1725" b="1">
                          <a:solidFill>
                            <a:srgbClr val="FFFFFF"/>
                          </a:solidFill>
                          <a:latin typeface="Arial"/>
                          <a:ea typeface="Arial"/>
                          <a:cs typeface="Arial"/>
                        </a:rPr>
                        <a:t>Value in this example</a:t>
                      </a:r>
                    </a:p>
                  </a:txBody>
                  <a:tcPr marL="104775" marR="104775" marT="57150" marB="57150" anchor="ctr">
                    <a:solidFill>
                      <a:srgbClr val="153246"/>
                    </a:solidFill>
                  </a:tcPr>
                </a:tc>
              </a:tr>
              <a:tr h="609600">
                <a:tc>
                  <a:txBody>
                    <a:bodyPr/>
                    <a:lstStyle/>
                    <a:p>
                      <a:r>
                        <a:rPr sz="1725" b="0">
                          <a:solidFill>
                            <a:srgbClr val="153246"/>
                          </a:solidFill>
                          <a:latin typeface="Arial"/>
                          <a:ea typeface="Arial"/>
                          <a:cs typeface="Arial"/>
                        </a:rPr>
                        <a:t>One OFDM symbol</a:t>
                      </a:r>
                    </a:p>
                  </a:txBody>
                  <a:tcPr marL="104775" marR="104775" marT="57150" marB="57150" anchor="ctr">
                    <a:solidFill>
                      <a:srgbClr val="F0F5F7"/>
                    </a:solidFill>
                  </a:tcPr>
                </a:tc>
                <a:tc>
                  <a:txBody>
                    <a:bodyPr/>
                    <a:lstStyle/>
                    <a:p>
                      <a:r>
                        <a:rPr sz="1725" b="0">
                          <a:solidFill>
                            <a:srgbClr val="153246"/>
                          </a:solidFill>
                          <a:latin typeface="Arial"/>
                          <a:ea typeface="Arial"/>
                          <a:cs typeface="Arial"/>
                        </a:rPr>
                        <a:t>102.4 ns useful + 10 ns CP = 112.4 ns</a:t>
                      </a:r>
                    </a:p>
                  </a:txBody>
                  <a:tcPr marL="104775" marR="104775" marT="57150" marB="57150" anchor="ctr">
                    <a:solidFill>
                      <a:srgbClr val="F0F5F7"/>
                    </a:solidFill>
                  </a:tcPr>
                </a:tc>
              </a:tr>
              <a:tr h="609600">
                <a:tc>
                  <a:txBody>
                    <a:bodyPr/>
                    <a:lstStyle/>
                    <a:p>
                      <a:r>
                        <a:rPr sz="1725" b="0">
                          <a:solidFill>
                            <a:srgbClr val="153246"/>
                          </a:solidFill>
                          <a:latin typeface="Arial"/>
                          <a:ea typeface="Arial"/>
                          <a:cs typeface="Arial"/>
                        </a:rPr>
                        <a:t>Pilot allocation</a:t>
                      </a:r>
                    </a:p>
                  </a:txBody>
                  <a:tcPr marL="104775" marR="104775" marT="57150" marB="57150" anchor="ctr">
                    <a:solidFill>
                      <a:srgbClr val="FFFFFF"/>
                    </a:solidFill>
                  </a:tcPr>
                </a:tc>
                <a:tc>
                  <a:txBody>
                    <a:bodyPr/>
                    <a:lstStyle/>
                    <a:p>
                      <a:r>
                        <a:rPr sz="1725" b="0">
                          <a:solidFill>
                            <a:srgbClr val="153246"/>
                          </a:solidFill>
                          <a:latin typeface="Arial"/>
                          <a:ea typeface="Arial"/>
                          <a:cs typeface="Arial"/>
                        </a:rPr>
                        <a:t>30 full pilot symbols per 10,000 symbols (0.3%)</a:t>
                      </a:r>
                    </a:p>
                  </a:txBody>
                  <a:tcPr marL="104775" marR="104775" marT="57150" marB="57150" anchor="ctr">
                    <a:solidFill>
                      <a:srgbClr val="FFFFFF"/>
                    </a:solidFill>
                  </a:tcPr>
                </a:tc>
              </a:tr>
              <a:tr h="609600">
                <a:tc>
                  <a:txBody>
                    <a:bodyPr/>
                    <a:lstStyle/>
                    <a:p>
                      <a:r>
                        <a:rPr sz="1725" b="0">
                          <a:solidFill>
                            <a:srgbClr val="153246"/>
                          </a:solidFill>
                          <a:latin typeface="Arial"/>
                          <a:ea typeface="Arial"/>
                          <a:cs typeface="Arial"/>
                        </a:rPr>
                        <a:t>Every tone, each 10 s</a:t>
                      </a:r>
                    </a:p>
                  </a:txBody>
                  <a:tcPr marL="104775" marR="104775" marT="57150" marB="57150" anchor="ctr">
                    <a:solidFill>
                      <a:srgbClr val="F0F5F7"/>
                    </a:solidFill>
                  </a:tcPr>
                </a:tc>
                <a:tc>
                  <a:txBody>
                    <a:bodyPr/>
                    <a:lstStyle/>
                    <a:p>
                      <a:r>
                        <a:rPr sz="1725" b="0">
                          <a:solidFill>
                            <a:srgbClr val="153246"/>
                          </a:solidFill>
                          <a:latin typeface="Arial"/>
                          <a:ea typeface="Arial"/>
                          <a:cs typeface="Arial"/>
                        </a:rPr>
                        <a:t>8,896 frames × 30 = M = 266,880 pilots</a:t>
                      </a:r>
                    </a:p>
                  </a:txBody>
                  <a:tcPr marL="104775" marR="104775" marT="57150" marB="57150" anchor="ctr">
                    <a:solidFill>
                      <a:srgbClr val="F0F5F7"/>
                    </a:solidFill>
                  </a:tcPr>
                </a:tc>
              </a:tr>
              <a:tr h="609600">
                <a:tc>
                  <a:txBody>
                    <a:bodyPr/>
                    <a:lstStyle/>
                    <a:p>
                      <a:r>
                        <a:rPr sz="1725" b="0">
                          <a:solidFill>
                            <a:srgbClr val="153246"/>
                          </a:solidFill>
                          <a:latin typeface="Arial"/>
                          <a:ea typeface="Arial"/>
                          <a:cs typeface="Arial"/>
                        </a:rPr>
                        <a:t>Thermal variance of ĥ₀</a:t>
                      </a:r>
                    </a:p>
                  </a:txBody>
                  <a:tcPr marL="104775" marR="104775" marT="57150" marB="57150" anchor="ctr">
                    <a:solidFill>
                      <a:srgbClr val="FFFFFF"/>
                    </a:solidFill>
                  </a:tcPr>
                </a:tc>
                <a:tc>
                  <a:txBody>
                    <a:bodyPr/>
                    <a:lstStyle/>
                    <a:p>
                      <a:r>
                        <a:rPr sz="1725" b="0">
                          <a:solidFill>
                            <a:srgbClr val="153246"/>
                          </a:solidFill>
                          <a:latin typeface="Arial"/>
                          <a:ea typeface="Arial"/>
                          <a:cs typeface="Arial"/>
                        </a:rPr>
                        <a:t>1 / (Mρ₀) = 3.89892 × 10⁻⁶</a:t>
                      </a:r>
                    </a:p>
                    <a:p>
                      <a:r>
                        <a:rPr sz="1725" b="0">
                          <a:solidFill>
                            <a:srgbClr val="153246"/>
                          </a:solidFill>
                          <a:latin typeface="Arial"/>
                          <a:ea typeface="Arial"/>
                          <a:cs typeface="Arial"/>
                        </a:rPr>
                        <a:t>Pilot SNR ρ₀ = 0.961036</a:t>
                      </a:r>
                    </a:p>
                  </a:txBody>
                  <a:tcPr marL="104775" marR="104775" marT="57150" marB="57150" anchor="ctr">
                    <a:solidFill>
                      <a:srgbClr val="FFFFFF"/>
                    </a:solidFill>
                  </a:tcPr>
                </a:tc>
              </a:tr>
            </a:tbl>
          </a:graphicData>
        </a:graphic>
      </p:graphicFrame>
      <p:sp>
        <p:nvSpPr>
          <p:cNvPr id="12" name="">
            <a:extLst xmlns:a="http://schemas.openxmlformats.org/drawingml/2006/main">
              <a:ext uri="{FF2B5EF4-FFF2-40B4-BE49-F238E27FC236}">
                <a16:creationId xmlns:a16="http://schemas.microsoft.com/office/drawing/2014/main" id="{B8996889-B805-43C5-B815-CD7EBA5D83FB}"/>
              </a:ext>
            </a:extLst>
          </p:cNvPr>
          <p:cNvSpPr>
            <a:spLocks xmlns:a="http://schemas.openxmlformats.org/drawingml/2006/main" noGrp="1"/>
          </p:cNvSpPr>
          <p:nvPr/>
        </p:nvSpPr>
        <p:spPr>
          <a:xfrm xmlns:a="http://schemas.openxmlformats.org/drawingml/2006/main">
            <a:off x="7905750" y="5114925"/>
            <a:ext cx="6705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After tracking and normalization, tone 0 gives reference ĥ₀ and sample ĥ₁:</a:t>
            </a:r>
          </a:p>
        </p:txBody>
      </p:sp>
      <p:pic>
        <p:nvPicPr>
          <p:cNvPr id="13" name="">
            <a:extLst xmlns:a="http://schemas.openxmlformats.org/drawingml/2006/main">
              <a:ext uri="{FF2B5EF4-FFF2-40B4-BE49-F238E27FC236}">
                <a16:creationId xmlns:a16="http://schemas.microsoft.com/office/drawing/2014/main" id="{6576E823-57F1-4F8E-A42E-966C18E5E357}"/>
              </a:ext>
            </a:extLst>
          </p:cNvPr>
          <p:cNvPicPr>
            <a:picLocks xmlns:a="http://schemas.openxmlformats.org/drawingml/2006/main" noChangeAspect="1"/>
          </p:cNvPicPr>
          <p:nvPr/>
        </p:nvPicPr>
        <p:blipFill>
          <a:blip xmlns:r="http://schemas.openxmlformats.org/officeDocument/2006/relationships" xmlns:a="http://schemas.openxmlformats.org/drawingml/2006/main" r:embed="Rc1dbcd1726f342eb">
            <a:extLst>
              <a:ext uri="{96DAC541-7B7A-43D3-8B79-37D633B846F1}">
                <asvg:svgBlip xmlns:asvg="http://schemas.microsoft.com/office/drawing/2016/SVG/main" r:embed="R80cf343ef1c64244"/>
              </a:ext>
            </a:extLst>
          </a:blip>
          <a:stretch xmlns:a="http://schemas.openxmlformats.org/drawingml/2006/main"/>
        </p:blipFill>
        <p:spPr>
          <a:xfrm xmlns:a="http://schemas.openxmlformats.org/drawingml/2006/main">
            <a:off x="7905750" y="5695950"/>
            <a:ext cx="3978039" cy="885825"/>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1B7A6D72-7345-4A24-92EE-1CED65BCA698}"/>
              </a:ext>
            </a:extLst>
          </p:cNvPr>
          <p:cNvPicPr>
            <a:picLocks xmlns:a="http://schemas.openxmlformats.org/drawingml/2006/main" noChangeAspect="1"/>
          </p:cNvPicPr>
          <p:nvPr/>
        </p:nvPicPr>
        <p:blipFill>
          <a:blip xmlns:r="http://schemas.openxmlformats.org/officeDocument/2006/relationships" xmlns:a="http://schemas.openxmlformats.org/drawingml/2006/main" r:embed="R3837ae15e2a042d9">
            <a:extLst>
              <a:ext uri="{96DAC541-7B7A-43D3-8B79-37D633B846F1}">
                <asvg:svgBlip xmlns:asvg="http://schemas.microsoft.com/office/drawing/2016/SVG/main" r:embed="R5889c38f708a4bb5"/>
              </a:ext>
            </a:extLst>
          </a:blip>
          <a:stretch xmlns:a="http://schemas.openxmlformats.org/drawingml/2006/main"/>
        </p:blipFill>
        <p:spPr>
          <a:xfrm xmlns:a="http://schemas.openxmlformats.org/drawingml/2006/main">
            <a:off x="7905750" y="6696075"/>
            <a:ext cx="5759396" cy="638175"/>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1EE33BFE-B06C-4596-968C-11D82CC1C86C}"/>
              </a:ext>
            </a:extLst>
          </p:cNvPr>
          <p:cNvSpPr>
            <a:spLocks xmlns:a="http://schemas.openxmlformats.org/drawingml/2006/main" noGrp="1"/>
          </p:cNvSpPr>
          <p:nvPr/>
        </p:nvSpPr>
        <p:spPr>
          <a:xfrm xmlns:a="http://schemas.openxmlformats.org/drawingml/2006/main">
            <a:off x="628650" y="7486650"/>
            <a:ext cx="13982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463" b="0">
                <a:solidFill>
                  <a:srgbClr val="9F3343"/>
                </a:solidFill>
                <a:latin typeface="Arial"/>
                <a:ea typeface="Arial"/>
                <a:cs typeface="Arial"/>
              </a:defRPr>
            </a:defPPr>
          </a:lstStyle>
          <a:p xmlns:a="http://schemas.openxmlformats.org/drawingml/2006/main">
            <a:pPr>
              <a:defRPr sz="1463" b="0">
                <a:solidFill>
                  <a:srgbClr val="9F3343"/>
                </a:solidFill>
                <a:latin typeface="Arial"/>
                <a:ea typeface="Arial"/>
                <a:cs typeface="Arial"/>
              </a:defRPr>
            </a:pPr>
            <a:r>
              <a:rPr sz="1463" b="0">
                <a:solidFill>
                  <a:srgbClr val="9F3343"/>
                </a:solidFill>
                <a:latin typeface="Arial"/>
                <a:ea typeface="Arial"/>
                <a:cs typeface="Arial"/>
              </a:rPr>
              <a:t>Conditional example: ideal tracking, matched background, 20 s total and an assumed, unmeasured 0.001 dB calibration residual.</a:t>
            </a:r>
          </a:p>
        </p:txBody>
      </p:sp>
      <p:sp>
        <p:nvSpPr>
          <p:cNvPr id="16" name="">
            <a:extLst xmlns:a="http://schemas.openxmlformats.org/drawingml/2006/main">
              <a:ext uri="{FF2B5EF4-FFF2-40B4-BE49-F238E27FC236}">
                <a16:creationId xmlns:a16="http://schemas.microsoft.com/office/drawing/2014/main" id="{6F0FAF66-F9C4-4A57-85F3-D59BC6981351}"/>
              </a:ext>
            </a:extLst>
          </p:cNvPr>
          <p:cNvSpPr>
            <a:spLocks xmlns:a="http://schemas.openxmlformats.org/drawingml/2006/main" noGrp="1"/>
          </p:cNvSpPr>
          <p:nvPr/>
        </p:nvSpPr>
        <p:spPr>
          <a:xfrm xmlns:a="http://schemas.openxmlformats.org/drawingml/2006/main">
            <a:off x="628650" y="8153400"/>
            <a:ext cx="781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Sources</a:t>
            </a:r>
          </a:p>
        </p:txBody>
      </p:sp>
      <p:sp>
        <p:nvSpPr>
          <p:cNvPr id="17" name="">
            <a:extLst xmlns:a="http://schemas.openxmlformats.org/drawingml/2006/main">
              <a:ext uri="{FF2B5EF4-FFF2-40B4-BE49-F238E27FC236}">
                <a16:creationId xmlns:a16="http://schemas.microsoft.com/office/drawing/2014/main" id="{679FB66F-6141-426F-88DE-46F1CADA2298}"/>
              </a:ext>
            </a:extLst>
          </p:cNvPr>
          <p:cNvSpPr>
            <a:spLocks xmlns:a="http://schemas.openxmlformats.org/drawingml/2006/main" noGrp="1"/>
          </p:cNvSpPr>
          <p:nvPr/>
        </p:nvSpPr>
        <p:spPr>
          <a:xfrm xmlns:a="http://schemas.openxmlformats.org/drawingml/2006/main">
            <a:off x="1476375" y="8153400"/>
            <a:ext cx="5829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Observations</a:t>
            </a:r>
          </a:p>
        </p:txBody>
      </p:sp>
      <p:sp>
        <p:nvSpPr>
          <p:cNvPr id="18" name="">
            <a:extLst xmlns:a="http://schemas.openxmlformats.org/drawingml/2006/main">
              <a:ext uri="{FF2B5EF4-FFF2-40B4-BE49-F238E27FC236}">
                <a16:creationId xmlns:a16="http://schemas.microsoft.com/office/drawing/2014/main" id="{E2EDA0D9-EBF8-4AEA-A746-85A99BEB5F28}"/>
              </a:ext>
            </a:extLst>
          </p:cNvPr>
          <p:cNvSpPr>
            <a:spLocks xmlns:a="http://schemas.openxmlformats.org/drawingml/2006/main" noGrp="1"/>
          </p:cNvSpPr>
          <p:nvPr/>
        </p:nvSpPr>
        <p:spPr>
          <a:xfrm xmlns:a="http://schemas.openxmlformats.org/drawingml/2006/main">
            <a:off x="7381875" y="8153400"/>
            <a:ext cx="5829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Numerical steps</a:t>
            </a:r>
          </a:p>
        </p:txBody>
      </p:sp>
      <p:sp>
        <p:nvSpPr>
          <p:cNvPr id="19" name="">
            <a:extLst xmlns:a="http://schemas.openxmlformats.org/drawingml/2006/main">
              <a:ext uri="{FF2B5EF4-FFF2-40B4-BE49-F238E27FC236}">
                <a16:creationId xmlns:a16="http://schemas.microsoft.com/office/drawing/2014/main" id="{4CA9ABFC-33AF-4B34-8E34-B2A02AE7BEA6}"/>
              </a:ext>
            </a:extLst>
          </p:cNvPr>
          <p:cNvSpPr>
            <a:spLocks xmlns:a="http://schemas.openxmlformats.org/drawingml/2006/main" noGrp="1"/>
          </p:cNvSpPr>
          <p:nvPr/>
        </p:nvSpPr>
        <p:spPr>
          <a:xfrm xmlns:a="http://schemas.openxmlformats.org/drawingml/2006/main">
            <a:off x="13982700" y="8115300"/>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500" b="0">
                <a:solidFill>
                  <a:srgbClr val="496071"/>
                </a:solidFill>
                <a:latin typeface="Arial"/>
                <a:ea typeface="Arial"/>
                <a:cs typeface="Arial"/>
              </a:defRPr>
            </a:defPPr>
          </a:lstStyle>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4/7</a:t>
            </a:r>
          </a:p>
        </p:txBody>
      </p:sp>
    </p:spTree>
    <p:extLst>
      <p:ext uri="{BB962C8B-B14F-4D97-AF65-F5344CB8AC3E}">
        <p14:creationId xmlns:p14="http://schemas.microsoft.com/office/powerpoint/2010/main" val="126318539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01CDEE33-9314-4492-B038-BDE4E6FD3503}"/>
              </a:ext>
            </a:extLst>
          </p:cNvPr>
          <p:cNvSpPr>
            <a:spLocks xmlns:a="http://schemas.openxmlformats.org/drawingml/2006/main" noGrp="1"/>
          </p:cNvSpPr>
          <p:nvPr/>
        </p:nvSpPr>
        <p:spPr>
          <a:xfrm xmlns:a="http://schemas.openxmlformats.org/drawingml/2006/main">
            <a:off x="571500" y="285750"/>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3300" b="1">
                <a:solidFill>
                  <a:srgbClr val="153246"/>
                </a:solidFill>
                <a:latin typeface="Arial"/>
                <a:ea typeface="Arial"/>
                <a:cs typeface="Arial"/>
              </a:defRPr>
            </a:defPPr>
          </a:lstStyle>
          <a:p xmlns:a="http://schemas.openxmlformats.org/drawingml/2006/main">
            <a:pPr>
              <a:defRPr sz="3300" b="1">
                <a:solidFill>
                  <a:srgbClr val="153246"/>
                </a:solidFill>
                <a:latin typeface="Arial"/>
                <a:ea typeface="Arial"/>
                <a:cs typeface="Arial"/>
              </a:defRPr>
            </a:pPr>
            <a:r>
              <a:rPr sz="3300" b="1">
                <a:solidFill>
                  <a:srgbClr val="153246"/>
                </a:solidFill>
                <a:latin typeface="Arial"/>
                <a:ea typeface="Arial"/>
                <a:cs typeface="Arial"/>
              </a:rPr>
              <a:t>5. Calibration error: a gain change can imitate gas</a:t>
            </a:r>
          </a:p>
        </p:txBody>
      </p:sp>
      <p:sp>
        <p:nvSpPr>
          <p:cNvPr id="2" name="">
            <a:extLst xmlns:a="http://schemas.openxmlformats.org/drawingml/2006/main">
              <a:ext uri="{FF2B5EF4-FFF2-40B4-BE49-F238E27FC236}">
                <a16:creationId xmlns:a16="http://schemas.microsoft.com/office/drawing/2014/main" id="{D24D3A3A-280D-4555-921E-C237C47E38A8}"/>
              </a:ext>
            </a:extLst>
          </p:cNvPr>
          <p:cNvSpPr>
            <a:spLocks xmlns:a="http://schemas.openxmlformats.org/drawingml/2006/main" noGrp="1"/>
          </p:cNvSpPr>
          <p:nvPr/>
        </p:nvSpPr>
        <p:spPr>
          <a:xfrm xmlns:a="http://schemas.openxmlformats.org/drawingml/2006/main">
            <a:off x="628650" y="1009650"/>
            <a:ext cx="13982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875" b="0">
                <a:solidFill>
                  <a:srgbClr val="496071"/>
                </a:solidFill>
                <a:latin typeface="Arial"/>
                <a:ea typeface="Arial"/>
                <a:cs typeface="Arial"/>
              </a:defRPr>
            </a:defPPr>
          </a:lstStyle>
          <a:p xmlns:a="http://schemas.openxmlformats.org/drawingml/2006/main">
            <a:pPr>
              <a:defRPr sz="1875" b="0">
                <a:solidFill>
                  <a:srgbClr val="496071"/>
                </a:solidFill>
                <a:latin typeface="Arial"/>
                <a:ea typeface="Arial"/>
                <a:cs typeface="Arial"/>
              </a:defRPr>
            </a:pPr>
            <a:r>
              <a:rPr sz="1875" b="0">
                <a:solidFill>
                  <a:srgbClr val="496071"/>
                </a:solidFill>
                <a:latin typeface="Arial"/>
                <a:ea typeface="Arial"/>
                <a:cs typeface="Arial"/>
              </a:rPr>
              <a:t>Calibration estimates and corrects the instrument response. The error is the response change left in the reference/sample comparison.</a:t>
            </a:r>
          </a:p>
        </p:txBody>
      </p:sp>
      <p:sp>
        <p:nvSpPr>
          <p:cNvPr id="3" name="">
            <a:extLst xmlns:a="http://schemas.openxmlformats.org/drawingml/2006/main">
              <a:ext uri="{FF2B5EF4-FFF2-40B4-BE49-F238E27FC236}">
                <a16:creationId xmlns:a16="http://schemas.microsoft.com/office/drawing/2014/main" id="{350EC109-E27A-4647-842A-A5D4E4703518}"/>
              </a:ext>
            </a:extLst>
          </p:cNvPr>
          <p:cNvSpPr>
            <a:spLocks xmlns:a="http://schemas.openxmlformats.org/drawingml/2006/main" noGrp="1"/>
          </p:cNvSpPr>
          <p:nvPr/>
        </p:nvSpPr>
        <p:spPr>
          <a:xfrm xmlns:a="http://schemas.openxmlformats.org/drawingml/2006/main">
            <a:off x="628650" y="1733550"/>
            <a:ext cx="6715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2025" b="1">
                <a:solidFill>
                  <a:srgbClr val="126B76"/>
                </a:solidFill>
                <a:latin typeface="Arial"/>
                <a:ea typeface="Arial"/>
                <a:cs typeface="Arial"/>
              </a:defRPr>
            </a:defPPr>
          </a:lstStyle>
          <a:p xmlns:a="http://schemas.openxmlformats.org/drawingml/2006/main">
            <a:pPr>
              <a:defRPr sz="2025" b="1">
                <a:solidFill>
                  <a:srgbClr val="126B76"/>
                </a:solidFill>
                <a:latin typeface="Arial"/>
                <a:ea typeface="Arial"/>
                <a:cs typeface="Arial"/>
              </a:defRPr>
            </a:pPr>
            <a:r>
              <a:rPr sz="2025" b="1">
                <a:solidFill>
                  <a:srgbClr val="126B76"/>
                </a:solidFill>
                <a:latin typeface="Arial"/>
                <a:ea typeface="Arial"/>
                <a:cs typeface="Arial"/>
              </a:rPr>
              <a:t>Two concrete examples</a:t>
            </a:r>
          </a:p>
        </p:txBody>
      </p:sp>
      <p:sp>
        <p:nvSpPr>
          <p:cNvPr id="4" name="">
            <a:extLst xmlns:a="http://schemas.openxmlformats.org/drawingml/2006/main">
              <a:ext uri="{FF2B5EF4-FFF2-40B4-BE49-F238E27FC236}">
                <a16:creationId xmlns:a16="http://schemas.microsoft.com/office/drawing/2014/main" id="{03229927-BBCB-4940-AAC1-ABA3061F40B5}"/>
              </a:ext>
            </a:extLst>
          </p:cNvPr>
          <p:cNvSpPr>
            <a:spLocks xmlns:a="http://schemas.openxmlformats.org/drawingml/2006/main" noGrp="1"/>
          </p:cNvSpPr>
          <p:nvPr/>
        </p:nvSpPr>
        <p:spPr>
          <a:xfrm xmlns:a="http://schemas.openxmlformats.org/drawingml/2006/main">
            <a:off x="628650" y="2143125"/>
            <a:ext cx="6762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1. Receiver gain drops by 0.001 dB between acquisitions. With unchanged gas, the amplitude ratio becomes 0.9998848774 and the apparent loss is +0.001 dB.</a:t>
            </a:r>
          </a:p>
        </p:txBody>
      </p:sp>
      <p:sp>
        <p:nvSpPr>
          <p:cNvPr id="5" name="">
            <a:extLst xmlns:a="http://schemas.openxmlformats.org/drawingml/2006/main">
              <a:ext uri="{FF2B5EF4-FFF2-40B4-BE49-F238E27FC236}">
                <a16:creationId xmlns:a16="http://schemas.microsoft.com/office/drawing/2014/main" id="{52C235A9-2D2D-40BC-A3D2-B685CD5BB8CF}"/>
              </a:ext>
            </a:extLst>
          </p:cNvPr>
          <p:cNvSpPr>
            <a:spLocks xmlns:a="http://schemas.openxmlformats.org/drawingml/2006/main" noGrp="1"/>
          </p:cNvSpPr>
          <p:nvPr/>
        </p:nvSpPr>
        <p:spPr>
          <a:xfrm xmlns:a="http://schemas.openxmlformats.org/drawingml/2006/main">
            <a:off x="628650" y="3114675"/>
            <a:ext cx="676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At tone 0 alone, this would imply 0.001 / a₀ = 4.15248 µg/m³. If the error is constant across the band, our fit assigns it to gain offset b₀ instead of gas.</a:t>
            </a:r>
          </a:p>
        </p:txBody>
      </p:sp>
      <p:sp>
        <p:nvSpPr>
          <p:cNvPr id="6" name="">
            <a:extLst xmlns:a="http://schemas.openxmlformats.org/drawingml/2006/main">
              <a:ext uri="{FF2B5EF4-FFF2-40B4-BE49-F238E27FC236}">
                <a16:creationId xmlns:a16="http://schemas.microsoft.com/office/drawing/2014/main" id="{9388C713-9A66-4407-B61B-52E125F57142}"/>
              </a:ext>
            </a:extLst>
          </p:cNvPr>
          <p:cNvSpPr>
            <a:spLocks xmlns:a="http://schemas.openxmlformats.org/drawingml/2006/main" noGrp="1"/>
          </p:cNvSpPr>
          <p:nvPr/>
        </p:nvSpPr>
        <p:spPr>
          <a:xfrm xmlns:a="http://schemas.openxmlformats.org/drawingml/2006/main">
            <a:off x="628650" y="4076700"/>
            <a:ext cx="6762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2. An error eₖ = aₖ × 1 µg/m³ has exactly the gas pattern. It imitates that concentration even across all tones. Independent calibration must constrain this ambiguity.</a:t>
            </a:r>
          </a:p>
        </p:txBody>
      </p:sp>
      <p:sp>
        <p:nvSpPr>
          <p:cNvPr id="7" name="">
            <a:extLst xmlns:a="http://schemas.openxmlformats.org/drawingml/2006/main">
              <a:ext uri="{FF2B5EF4-FFF2-40B4-BE49-F238E27FC236}">
                <a16:creationId xmlns:a16="http://schemas.microsoft.com/office/drawing/2014/main" id="{DDF7273B-0E85-4DFA-8520-529F7BC1CC8D}"/>
              </a:ext>
            </a:extLst>
          </p:cNvPr>
          <p:cNvSpPr>
            <a:spLocks xmlns:a="http://schemas.openxmlformats.org/drawingml/2006/main" noGrp="1"/>
          </p:cNvSpPr>
          <p:nvPr/>
        </p:nvSpPr>
        <p:spPr>
          <a:xfrm xmlns:a="http://schemas.openxmlformats.org/drawingml/2006/main">
            <a:off x="628650" y="5095875"/>
            <a:ext cx="6715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2025" b="1">
                <a:solidFill>
                  <a:srgbClr val="126B76"/>
                </a:solidFill>
                <a:latin typeface="Arial"/>
                <a:ea typeface="Arial"/>
                <a:cs typeface="Arial"/>
              </a:defRPr>
            </a:defPPr>
          </a:lstStyle>
          <a:p xmlns:a="http://schemas.openxmlformats.org/drawingml/2006/main">
            <a:pPr>
              <a:defRPr sz="2025" b="1">
                <a:solidFill>
                  <a:srgbClr val="126B76"/>
                </a:solidFill>
                <a:latin typeface="Arial"/>
                <a:ea typeface="Arial"/>
                <a:cs typeface="Arial"/>
              </a:defRPr>
            </a:pPr>
            <a:r>
              <a:rPr sz="2025" b="1">
                <a:solidFill>
                  <a:srgbClr val="126B76"/>
                </a:solidFill>
                <a:latin typeface="Arial"/>
                <a:ea typeface="Arial"/>
                <a:cs typeface="Arial"/>
              </a:rPr>
              <a:t>The residual in the saved simulation</a:t>
            </a:r>
          </a:p>
        </p:txBody>
      </p:sp>
      <p:sp>
        <p:nvSpPr>
          <p:cNvPr id="8" name="">
            <a:extLst xmlns:a="http://schemas.openxmlformats.org/drawingml/2006/main">
              <a:ext uri="{FF2B5EF4-FFF2-40B4-BE49-F238E27FC236}">
                <a16:creationId xmlns:a16="http://schemas.microsoft.com/office/drawing/2014/main" id="{CBF5F1EF-3A52-46A9-B6E3-DDF01E795F17}"/>
              </a:ext>
            </a:extLst>
          </p:cNvPr>
          <p:cNvSpPr>
            <a:spLocks xmlns:a="http://schemas.openxmlformats.org/drawingml/2006/main" noGrp="1"/>
          </p:cNvSpPr>
          <p:nvPr/>
        </p:nvSpPr>
        <p:spPr>
          <a:xfrm xmlns:a="http://schemas.openxmlformats.org/drawingml/2006/main">
            <a:off x="628650" y="5514975"/>
            <a:ext cx="676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Random thermal noise already affects the two pilot means. A separate persistent calibration draw contributes e₀ = −0.0020537566 dB:</a:t>
            </a:r>
          </a:p>
        </p:txBody>
      </p:sp>
      <p:pic>
        <p:nvPicPr>
          <p:cNvPr id="9" name="">
            <a:extLst xmlns:a="http://schemas.openxmlformats.org/drawingml/2006/main">
              <a:ext uri="{FF2B5EF4-FFF2-40B4-BE49-F238E27FC236}">
                <a16:creationId xmlns:a16="http://schemas.microsoft.com/office/drawing/2014/main" id="{82CEDCA0-0064-440A-A7CE-A5CA0C662803}"/>
              </a:ext>
            </a:extLst>
          </p:cNvPr>
          <p:cNvPicPr>
            <a:picLocks xmlns:a="http://schemas.openxmlformats.org/drawingml/2006/main" noChangeAspect="1"/>
          </p:cNvPicPr>
          <p:nvPr/>
        </p:nvPicPr>
        <p:blipFill>
          <a:blip xmlns:r="http://schemas.openxmlformats.org/officeDocument/2006/relationships" xmlns:a="http://schemas.openxmlformats.org/drawingml/2006/main" r:embed="Rfd13c3a60ecb4c94">
            <a:extLst>
              <a:ext uri="{96DAC541-7B7A-43D3-8B79-37D633B846F1}">
                <asvg:svgBlip xmlns:asvg="http://schemas.microsoft.com/office/drawing/2016/SVG/main" r:embed="R5e2bc4050c474eb9"/>
              </a:ext>
            </a:extLst>
          </a:blip>
          <a:stretch xmlns:a="http://schemas.openxmlformats.org/drawingml/2006/main"/>
        </p:blipFill>
        <p:spPr>
          <a:xfrm xmlns:a="http://schemas.openxmlformats.org/drawingml/2006/main">
            <a:off x="628650" y="6464375"/>
            <a:ext cx="6762750" cy="43482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A784236C-CD0A-4F95-8002-DC7921727DBA}"/>
              </a:ext>
            </a:extLst>
          </p:cNvPr>
          <p:cNvSpPr>
            <a:spLocks xmlns:a="http://schemas.openxmlformats.org/drawingml/2006/main" noGrp="1"/>
          </p:cNvSpPr>
          <p:nvPr/>
        </p:nvSpPr>
        <p:spPr>
          <a:xfrm xmlns:a="http://schemas.openxmlformats.org/drawingml/2006/main">
            <a:off x="628650" y="7067550"/>
            <a:ext cx="676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In measured data, calibration error is already present.</a:t>
            </a:r>
          </a:p>
        </p:txBody>
      </p:sp>
      <p:sp>
        <p:nvSpPr>
          <p:cNvPr id="11" name="">
            <a:extLst xmlns:a="http://schemas.openxmlformats.org/drawingml/2006/main">
              <a:ext uri="{FF2B5EF4-FFF2-40B4-BE49-F238E27FC236}">
                <a16:creationId xmlns:a16="http://schemas.microsoft.com/office/drawing/2014/main" id="{B3D9DD2A-E576-4595-BDC0-7AD61CE8F394}"/>
              </a:ext>
            </a:extLst>
          </p:cNvPr>
          <p:cNvSpPr>
            <a:spLocks xmlns:a="http://schemas.openxmlformats.org/drawingml/2006/main" noGrp="1"/>
          </p:cNvSpPr>
          <p:nvPr/>
        </p:nvSpPr>
        <p:spPr>
          <a:xfrm xmlns:a="http://schemas.openxmlformats.org/drawingml/2006/main">
            <a:off x="7905750" y="1733550"/>
            <a:ext cx="6715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2025" b="1">
                <a:solidFill>
                  <a:srgbClr val="126B76"/>
                </a:solidFill>
                <a:latin typeface="Arial"/>
                <a:ea typeface="Arial"/>
                <a:cs typeface="Arial"/>
              </a:defRPr>
            </a:defPPr>
          </a:lstStyle>
          <a:p xmlns:a="http://schemas.openxmlformats.org/drawingml/2006/main">
            <a:pPr>
              <a:defRPr sz="2025" b="1">
                <a:solidFill>
                  <a:srgbClr val="126B76"/>
                </a:solidFill>
                <a:latin typeface="Arial"/>
                <a:ea typeface="Arial"/>
                <a:cs typeface="Arial"/>
              </a:defRPr>
            </a:pPr>
            <a:r>
              <a:rPr sz="2025" b="1">
                <a:solidFill>
                  <a:srgbClr val="126B76"/>
                </a:solidFill>
                <a:latin typeface="Arial"/>
                <a:ea typeface="Arial"/>
                <a:cs typeface="Arial"/>
              </a:rPr>
              <a:t>The fit allows simple gain changes</a:t>
            </a:r>
          </a:p>
        </p:txBody>
      </p:sp>
      <p:pic>
        <p:nvPicPr>
          <p:cNvPr id="12" name="">
            <a:extLst xmlns:a="http://schemas.openxmlformats.org/drawingml/2006/main">
              <a:ext uri="{FF2B5EF4-FFF2-40B4-BE49-F238E27FC236}">
                <a16:creationId xmlns:a16="http://schemas.microsoft.com/office/drawing/2014/main" id="{86857179-F770-4BD1-B6B6-333E9302C926}"/>
              </a:ext>
            </a:extLst>
          </p:cNvPr>
          <p:cNvPicPr>
            <a:picLocks xmlns:a="http://schemas.openxmlformats.org/drawingml/2006/main" noChangeAspect="1"/>
          </p:cNvPicPr>
          <p:nvPr/>
        </p:nvPicPr>
        <p:blipFill>
          <a:blip xmlns:r="http://schemas.openxmlformats.org/officeDocument/2006/relationships" xmlns:a="http://schemas.openxmlformats.org/drawingml/2006/main" r:embed="R33c79c260b84451c">
            <a:extLst>
              <a:ext uri="{96DAC541-7B7A-43D3-8B79-37D633B846F1}">
                <asvg:svgBlip xmlns:asvg="http://schemas.microsoft.com/office/drawing/2016/SVG/main" r:embed="Rd795cd8c97334090"/>
              </a:ext>
            </a:extLst>
          </a:blip>
          <a:stretch xmlns:a="http://schemas.openxmlformats.org/drawingml/2006/main"/>
        </p:blipFill>
        <p:spPr>
          <a:xfrm xmlns:a="http://schemas.openxmlformats.org/drawingml/2006/main">
            <a:off x="7905750" y="2167936"/>
            <a:ext cx="6451963" cy="521878"/>
          </a:xfrm>
          <a:prstGeom xmlns:a="http://schemas.openxmlformats.org/drawingml/2006/main" prst="rect">
            <a:avLst/>
          </a:prstGeom>
        </p:spPr>
      </p:pic>
      <p:graphicFrame>
        <p:nvGraphicFramePr>
          <p:cNvPr id="13" name="">
            <a:extLst xmlns:a="http://schemas.openxmlformats.org/drawingml/2006/main">
              <a:ext uri="{FF2B5EF4-FFF2-40B4-BE49-F238E27FC236}">
                <a16:creationId xmlns:a16="http://schemas.microsoft.com/office/drawing/2014/main" id="{4869D5E9-B2C4-4ECF-8E79-337AB9B99954}"/>
              </a:ext>
            </a:extLst>
          </p:cNvPr>
          <p:cNvGraphicFramePr/>
          <p:nvPr/>
        </p:nvGraphicFramePr>
        <p:xfrm>
          <a:off xmlns:a="http://schemas.openxmlformats.org/drawingml/2006/main" x="7905750" y="2876550"/>
          <a:ext xmlns:a="http://schemas.openxmlformats.org/drawingml/2006/main" cx="6705600" cy="1790700"/>
        </p:xfrm>
        <a:graphic xmlns:a="http://schemas.openxmlformats.org/drawingml/2006/main">
          <a:graphicData uri="http://schemas.openxmlformats.org/drawingml/2006/table">
            <a:tbl>
              <a:tblPr/>
              <a:tblGrid>
                <a:gridCol w="1072896"/>
                <a:gridCol w="2145792"/>
                <a:gridCol w="1475232"/>
                <a:gridCol w="2011680"/>
              </a:tblGrid>
              <a:tr h="447675">
                <a:tc>
                  <a:txBody>
                    <a:bodyPr/>
                    <a:lstStyle/>
                    <a:p>
                      <a:r>
                        <a:rPr sz="1725" b="1">
                          <a:solidFill>
                            <a:srgbClr val="FFFFFF"/>
                          </a:solidFill>
                          <a:latin typeface="Arial"/>
                          <a:ea typeface="Arial"/>
                          <a:cs typeface="Arial"/>
                        </a:rPr>
                        <a:t>Tone k</a:t>
                      </a:r>
                    </a:p>
                  </a:txBody>
                  <a:tcPr marL="104775" marR="104775" marT="57150" marB="57150" anchor="ctr">
                    <a:solidFill>
                      <a:srgbClr val="153246"/>
                    </a:solidFill>
                  </a:tcPr>
                </a:tc>
                <a:tc>
                  <a:txBody>
                    <a:bodyPr/>
                    <a:lstStyle/>
                    <a:p>
                      <a:r>
                        <a:rPr sz="1725" b="1">
                          <a:solidFill>
                            <a:srgbClr val="FFFFFF"/>
                          </a:solidFill>
                          <a:latin typeface="Arial"/>
                          <a:ea typeface="Arial"/>
                          <a:cs typeface="Arial"/>
                        </a:rPr>
                        <a:t>aₖ × 10⁴</a:t>
                      </a:r>
                    </a:p>
                  </a:txBody>
                  <a:tcPr marL="104775" marR="104775" marT="57150" marB="57150" anchor="ctr">
                    <a:solidFill>
                      <a:srgbClr val="153246"/>
                    </a:solidFill>
                  </a:tcPr>
                </a:tc>
                <a:tc>
                  <a:txBody>
                    <a:bodyPr/>
                    <a:lstStyle/>
                    <a:p>
                      <a:r>
                        <a:rPr sz="1725" b="1">
                          <a:solidFill>
                            <a:srgbClr val="FFFFFF"/>
                          </a:solidFill>
                          <a:latin typeface="Arial"/>
                          <a:ea typeface="Arial"/>
                          <a:cs typeface="Arial"/>
                        </a:rPr>
                        <a:t>Offset</a:t>
                      </a:r>
                    </a:p>
                  </a:txBody>
                  <a:tcPr marL="104775" marR="104775" marT="57150" marB="57150" anchor="ctr">
                    <a:solidFill>
                      <a:srgbClr val="153246"/>
                    </a:solidFill>
                  </a:tcPr>
                </a:tc>
                <a:tc>
                  <a:txBody>
                    <a:bodyPr/>
                    <a:lstStyle/>
                    <a:p>
                      <a:r>
                        <a:rPr sz="1725" b="1">
                          <a:solidFill>
                            <a:srgbClr val="FFFFFF"/>
                          </a:solidFill>
                          <a:latin typeface="Arial"/>
                          <a:ea typeface="Arial"/>
                          <a:cs typeface="Arial"/>
                        </a:rPr>
                        <a:t>Slope uₖ</a:t>
                      </a:r>
                    </a:p>
                  </a:txBody>
                  <a:tcPr marL="104775" marR="104775" marT="57150" marB="57150" anchor="ctr">
                    <a:solidFill>
                      <a:srgbClr val="153246"/>
                    </a:solidFill>
                  </a:tcPr>
                </a:tc>
              </a:tr>
              <a:tr h="447675">
                <a:tc>
                  <a:txBody>
                    <a:bodyPr/>
                    <a:lstStyle/>
                    <a:p>
                      <a:r>
                        <a:rPr sz="1725" b="0">
                          <a:solidFill>
                            <a:srgbClr val="153246"/>
                          </a:solidFill>
                          <a:latin typeface="Arial"/>
                          <a:ea typeface="Arial"/>
                          <a:cs typeface="Arial"/>
                        </a:rPr>
                        <a:t>0</a:t>
                      </a:r>
                    </a:p>
                  </a:txBody>
                  <a:tcPr marL="104775" marR="104775" marT="57150" marB="57150" anchor="ctr">
                    <a:solidFill>
                      <a:srgbClr val="F0F5F7"/>
                    </a:solidFill>
                  </a:tcPr>
                </a:tc>
                <a:tc>
                  <a:txBody>
                    <a:bodyPr/>
                    <a:lstStyle/>
                    <a:p>
                      <a:r>
                        <a:rPr sz="1725" b="0">
                          <a:solidFill>
                            <a:srgbClr val="153246"/>
                          </a:solidFill>
                          <a:latin typeface="Arial"/>
                          <a:ea typeface="Arial"/>
                          <a:cs typeface="Arial"/>
                        </a:rPr>
                        <a:t>2.408200</a:t>
                      </a:r>
                    </a:p>
                  </a:txBody>
                  <a:tcPr marL="104775" marR="104775" marT="57150" marB="57150" anchor="ctr">
                    <a:solidFill>
                      <a:srgbClr val="F0F5F7"/>
                    </a:solidFill>
                  </a:tcPr>
                </a:tc>
                <a:tc>
                  <a:txBody>
                    <a:bodyPr/>
                    <a:lstStyle/>
                    <a:p>
                      <a:r>
                        <a:rPr sz="1725" b="0">
                          <a:solidFill>
                            <a:srgbClr val="153246"/>
                          </a:solidFill>
                          <a:latin typeface="Arial"/>
                          <a:ea typeface="Arial"/>
                          <a:cs typeface="Arial"/>
                        </a:rPr>
                        <a:t>1</a:t>
                      </a:r>
                    </a:p>
                  </a:txBody>
                  <a:tcPr marL="104775" marR="104775" marT="57150" marB="57150" anchor="ctr">
                    <a:solidFill>
                      <a:srgbClr val="F0F5F7"/>
                    </a:solidFill>
                  </a:tcPr>
                </a:tc>
                <a:tc>
                  <a:txBody>
                    <a:bodyPr/>
                    <a:lstStyle/>
                    <a:p>
                      <a:r>
                        <a:rPr sz="1725" b="0">
                          <a:solidFill>
                            <a:srgbClr val="153246"/>
                          </a:solidFill>
                          <a:latin typeface="Arial"/>
                          <a:ea typeface="Arial"/>
                          <a:cs typeface="Arial"/>
                        </a:rPr>
                        <a:t>-0.500000</a:t>
                      </a:r>
                    </a:p>
                  </a:txBody>
                  <a:tcPr marL="104775" marR="104775" marT="57150" marB="57150" anchor="ctr">
                    <a:solidFill>
                      <a:srgbClr val="F0F5F7"/>
                    </a:solidFill>
                  </a:tcPr>
                </a:tc>
              </a:tr>
              <a:tr h="447675">
                <a:tc>
                  <a:txBody>
                    <a:bodyPr/>
                    <a:lstStyle/>
                    <a:p>
                      <a:r>
                        <a:rPr sz="1725" b="0">
                          <a:solidFill>
                            <a:srgbClr val="153246"/>
                          </a:solidFill>
                          <a:latin typeface="Arial"/>
                          <a:ea typeface="Arial"/>
                          <a:cs typeface="Arial"/>
                        </a:rPr>
                        <a:t>511</a:t>
                      </a:r>
                    </a:p>
                  </a:txBody>
                  <a:tcPr marL="104775" marR="104775" marT="57150" marB="57150" anchor="ctr">
                    <a:solidFill>
                      <a:srgbClr val="FFFFFF"/>
                    </a:solidFill>
                  </a:tcPr>
                </a:tc>
                <a:tc>
                  <a:txBody>
                    <a:bodyPr/>
                    <a:lstStyle/>
                    <a:p>
                      <a:r>
                        <a:rPr sz="1725" b="0">
                          <a:solidFill>
                            <a:srgbClr val="153246"/>
                          </a:solidFill>
                          <a:latin typeface="Arial"/>
                          <a:ea typeface="Arial"/>
                          <a:cs typeface="Arial"/>
                        </a:rPr>
                        <a:t>4.032712</a:t>
                      </a:r>
                    </a:p>
                  </a:txBody>
                  <a:tcPr marL="104775" marR="104775" marT="57150" marB="57150" anchor="ctr">
                    <a:solidFill>
                      <a:srgbClr val="FFFFFF"/>
                    </a:solidFill>
                  </a:tcPr>
                </a:tc>
                <a:tc>
                  <a:txBody>
                    <a:bodyPr/>
                    <a:lstStyle/>
                    <a:p>
                      <a:r>
                        <a:rPr sz="1725" b="0">
                          <a:solidFill>
                            <a:srgbClr val="153246"/>
                          </a:solidFill>
                          <a:latin typeface="Arial"/>
                          <a:ea typeface="Arial"/>
                          <a:cs typeface="Arial"/>
                        </a:rPr>
                        <a:t>1</a:t>
                      </a:r>
                    </a:p>
                  </a:txBody>
                  <a:tcPr marL="104775" marR="104775" marT="57150" marB="57150" anchor="ctr">
                    <a:solidFill>
                      <a:srgbClr val="FFFFFF"/>
                    </a:solidFill>
                  </a:tcPr>
                </a:tc>
                <a:tc>
                  <a:txBody>
                    <a:bodyPr/>
                    <a:lstStyle/>
                    <a:p>
                      <a:r>
                        <a:rPr sz="1725" b="0">
                          <a:solidFill>
                            <a:srgbClr val="153246"/>
                          </a:solidFill>
                          <a:latin typeface="Arial"/>
                          <a:ea typeface="Arial"/>
                          <a:cs typeface="Arial"/>
                        </a:rPr>
                        <a:t>-0.000489</a:t>
                      </a:r>
                    </a:p>
                  </a:txBody>
                  <a:tcPr marL="104775" marR="104775" marT="57150" marB="57150" anchor="ctr">
                    <a:solidFill>
                      <a:srgbClr val="FFFFFF"/>
                    </a:solidFill>
                  </a:tcPr>
                </a:tc>
              </a:tr>
              <a:tr h="447675">
                <a:tc>
                  <a:txBody>
                    <a:bodyPr/>
                    <a:lstStyle/>
                    <a:p>
                      <a:r>
                        <a:rPr sz="1725" b="0">
                          <a:solidFill>
                            <a:srgbClr val="153246"/>
                          </a:solidFill>
                          <a:latin typeface="Arial"/>
                          <a:ea typeface="Arial"/>
                          <a:cs typeface="Arial"/>
                        </a:rPr>
                        <a:t>1023</a:t>
                      </a:r>
                    </a:p>
                  </a:txBody>
                  <a:tcPr marL="104775" marR="104775" marT="57150" marB="57150" anchor="ctr">
                    <a:solidFill>
                      <a:srgbClr val="F0F5F7"/>
                    </a:solidFill>
                  </a:tcPr>
                </a:tc>
                <a:tc>
                  <a:txBody>
                    <a:bodyPr/>
                    <a:lstStyle/>
                    <a:p>
                      <a:r>
                        <a:rPr sz="1725" b="0">
                          <a:solidFill>
                            <a:srgbClr val="153246"/>
                          </a:solidFill>
                          <a:latin typeface="Arial"/>
                          <a:ea typeface="Arial"/>
                          <a:cs typeface="Arial"/>
                        </a:rPr>
                        <a:t>7.500802</a:t>
                      </a:r>
                    </a:p>
                  </a:txBody>
                  <a:tcPr marL="104775" marR="104775" marT="57150" marB="57150" anchor="ctr">
                    <a:solidFill>
                      <a:srgbClr val="F0F5F7"/>
                    </a:solidFill>
                  </a:tcPr>
                </a:tc>
                <a:tc>
                  <a:txBody>
                    <a:bodyPr/>
                    <a:lstStyle/>
                    <a:p>
                      <a:r>
                        <a:rPr sz="1725" b="0">
                          <a:solidFill>
                            <a:srgbClr val="153246"/>
                          </a:solidFill>
                          <a:latin typeface="Arial"/>
                          <a:ea typeface="Arial"/>
                          <a:cs typeface="Arial"/>
                        </a:rPr>
                        <a:t>1</a:t>
                      </a:r>
                    </a:p>
                  </a:txBody>
                  <a:tcPr marL="104775" marR="104775" marT="57150" marB="57150" anchor="ctr">
                    <a:solidFill>
                      <a:srgbClr val="F0F5F7"/>
                    </a:solidFill>
                  </a:tcPr>
                </a:tc>
                <a:tc>
                  <a:txBody>
                    <a:bodyPr/>
                    <a:lstStyle/>
                    <a:p>
                      <a:r>
                        <a:rPr sz="1725" b="0">
                          <a:solidFill>
                            <a:srgbClr val="153246"/>
                          </a:solidFill>
                          <a:latin typeface="Arial"/>
                          <a:ea typeface="Arial"/>
                          <a:cs typeface="Arial"/>
                        </a:rPr>
                        <a:t>0.500000</a:t>
                      </a:r>
                    </a:p>
                  </a:txBody>
                  <a:tcPr marL="104775" marR="104775" marT="57150" marB="57150" anchor="ctr">
                    <a:solidFill>
                      <a:srgbClr val="F0F5F7"/>
                    </a:solidFill>
                  </a:tcPr>
                </a:tc>
              </a:tr>
            </a:tbl>
          </a:graphicData>
        </a:graphic>
      </p:graphicFrame>
      <p:sp>
        <p:nvSpPr>
          <p:cNvPr id="14" name="">
            <a:extLst xmlns:a="http://schemas.openxmlformats.org/drawingml/2006/main">
              <a:ext uri="{FF2B5EF4-FFF2-40B4-BE49-F238E27FC236}">
                <a16:creationId xmlns:a16="http://schemas.microsoft.com/office/drawing/2014/main" id="{8222EC3E-8A01-488C-8892-52B8CC8CF309}"/>
              </a:ext>
            </a:extLst>
          </p:cNvPr>
          <p:cNvSpPr>
            <a:spLocks xmlns:a="http://schemas.openxmlformats.org/drawingml/2006/main" noGrp="1"/>
          </p:cNvSpPr>
          <p:nvPr/>
        </p:nvSpPr>
        <p:spPr>
          <a:xfrm xmlns:a="http://schemas.openxmlformats.org/drawingml/2006/main">
            <a:off x="7905750" y="4791075"/>
            <a:ext cx="67056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A is 1,024 × 3. aₖ is in dB/(µg/m³). uₖ spans −0.5 to +0.5. b₀ is a common shift, b₁ a spectral tilt. ε contains the remaining thermal and calibration errors.</a:t>
            </a:r>
          </a:p>
        </p:txBody>
      </p:sp>
      <p:pic>
        <p:nvPicPr>
          <p:cNvPr id="15" name="">
            <a:extLst xmlns:a="http://schemas.openxmlformats.org/drawingml/2006/main">
              <a:ext uri="{FF2B5EF4-FFF2-40B4-BE49-F238E27FC236}">
                <a16:creationId xmlns:a16="http://schemas.microsoft.com/office/drawing/2014/main" id="{92F2EFEA-3588-487D-9FE4-847338B874E3}"/>
              </a:ext>
            </a:extLst>
          </p:cNvPr>
          <p:cNvPicPr>
            <a:picLocks xmlns:a="http://schemas.openxmlformats.org/drawingml/2006/main" noChangeAspect="1"/>
          </p:cNvPicPr>
          <p:nvPr/>
        </p:nvPicPr>
        <p:blipFill>
          <a:blip xmlns:r="http://schemas.openxmlformats.org/officeDocument/2006/relationships" xmlns:a="http://schemas.openxmlformats.org/drawingml/2006/main" r:embed="R597078098a1f4858">
            <a:extLst>
              <a:ext uri="{96DAC541-7B7A-43D3-8B79-37D633B846F1}">
                <asvg:svgBlip xmlns:asvg="http://schemas.microsoft.com/office/drawing/2016/SVG/main" r:embed="R45748c22b87544dc"/>
              </a:ext>
            </a:extLst>
          </a:blip>
          <a:stretch xmlns:a="http://schemas.openxmlformats.org/drawingml/2006/main"/>
        </p:blipFill>
        <p:spPr>
          <a:xfrm xmlns:a="http://schemas.openxmlformats.org/drawingml/2006/main">
            <a:off x="7905750" y="5781267"/>
            <a:ext cx="6090774" cy="562792"/>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2E194516-7356-4DE0-9F62-BBE4A3873B8F}"/>
              </a:ext>
            </a:extLst>
          </p:cNvPr>
          <p:cNvSpPr>
            <a:spLocks xmlns:a="http://schemas.openxmlformats.org/drawingml/2006/main" noGrp="1"/>
          </p:cNvSpPr>
          <p:nvPr/>
        </p:nvSpPr>
        <p:spPr>
          <a:xfrm xmlns:a="http://schemas.openxmlformats.org/drawingml/2006/main">
            <a:off x="7905750" y="6477000"/>
            <a:ext cx="67056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vᵢ(0) = (20 / ln 10)² / (Mρ₀ᵢ) includes both acquisitions. C is 1,024 × 1,024 in dB². δᵢⱼ selects the diagonal. The second term models calibration errors shared across frequency.</a:t>
            </a:r>
          </a:p>
        </p:txBody>
      </p:sp>
      <p:sp>
        <p:nvSpPr>
          <p:cNvPr id="17" name="">
            <a:extLst xmlns:a="http://schemas.openxmlformats.org/drawingml/2006/main">
              <a:ext uri="{FF2B5EF4-FFF2-40B4-BE49-F238E27FC236}">
                <a16:creationId xmlns:a16="http://schemas.microsoft.com/office/drawing/2014/main" id="{8D97D274-9258-4793-93CF-F1A60235776C}"/>
              </a:ext>
            </a:extLst>
          </p:cNvPr>
          <p:cNvSpPr>
            <a:spLocks xmlns:a="http://schemas.openxmlformats.org/drawingml/2006/main" noGrp="1"/>
          </p:cNvSpPr>
          <p:nvPr/>
        </p:nvSpPr>
        <p:spPr>
          <a:xfrm xmlns:a="http://schemas.openxmlformats.org/drawingml/2006/main">
            <a:off x="628650" y="7486650"/>
            <a:ext cx="13982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463" b="0">
                <a:solidFill>
                  <a:srgbClr val="9F3343"/>
                </a:solidFill>
                <a:latin typeface="Arial"/>
                <a:ea typeface="Arial"/>
                <a:cs typeface="Arial"/>
              </a:defRPr>
            </a:defPPr>
          </a:lstStyle>
          <a:p xmlns:a="http://schemas.openxmlformats.org/drawingml/2006/main">
            <a:pPr>
              <a:defRPr sz="1463" b="0">
                <a:solidFill>
                  <a:srgbClr val="9F3343"/>
                </a:solidFill>
                <a:latin typeface="Arial"/>
                <a:ea typeface="Arial"/>
                <a:cs typeface="Arial"/>
              </a:defRPr>
            </a:pPr>
            <a:r>
              <a:rPr sz="1463" b="0">
                <a:solidFill>
                  <a:srgbClr val="9F3343"/>
                </a:solidFill>
                <a:latin typeface="Arial"/>
                <a:ea typeface="Arial"/>
                <a:cs typeface="Arial"/>
              </a:rPr>
              <a:t>The 0.001 dB residual is an assumed standard deviation, not a measured accuracy or a maximum error. It does not shrink with pilot count.</a:t>
            </a:r>
          </a:p>
        </p:txBody>
      </p:sp>
      <p:sp>
        <p:nvSpPr>
          <p:cNvPr id="18" name="">
            <a:extLst xmlns:a="http://schemas.openxmlformats.org/drawingml/2006/main">
              <a:ext uri="{FF2B5EF4-FFF2-40B4-BE49-F238E27FC236}">
                <a16:creationId xmlns:a16="http://schemas.microsoft.com/office/drawing/2014/main" id="{1A3026BB-26F0-4154-8F9A-267F2BC7FDDF}"/>
              </a:ext>
            </a:extLst>
          </p:cNvPr>
          <p:cNvSpPr>
            <a:spLocks xmlns:a="http://schemas.openxmlformats.org/drawingml/2006/main" noGrp="1"/>
          </p:cNvSpPr>
          <p:nvPr/>
        </p:nvSpPr>
        <p:spPr>
          <a:xfrm xmlns:a="http://schemas.openxmlformats.org/drawingml/2006/main">
            <a:off x="628650" y="8153400"/>
            <a:ext cx="781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Sources</a:t>
            </a:r>
          </a:p>
        </p:txBody>
      </p:sp>
      <p:sp>
        <p:nvSpPr>
          <p:cNvPr id="19" name="">
            <a:extLst xmlns:a="http://schemas.openxmlformats.org/drawingml/2006/main">
              <a:ext uri="{FF2B5EF4-FFF2-40B4-BE49-F238E27FC236}">
                <a16:creationId xmlns:a16="http://schemas.microsoft.com/office/drawing/2014/main" id="{68007F55-8204-4690-88B8-B507F553C67F}"/>
              </a:ext>
            </a:extLst>
          </p:cNvPr>
          <p:cNvSpPr>
            <a:spLocks xmlns:a="http://schemas.openxmlformats.org/drawingml/2006/main" noGrp="1"/>
          </p:cNvSpPr>
          <p:nvPr/>
        </p:nvSpPr>
        <p:spPr>
          <a:xfrm xmlns:a="http://schemas.openxmlformats.org/drawingml/2006/main">
            <a:off x="1476375" y="8153400"/>
            <a:ext cx="3860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Observations</a:t>
            </a:r>
          </a:p>
        </p:txBody>
      </p:sp>
      <p:sp>
        <p:nvSpPr>
          <p:cNvPr id="20" name="">
            <a:extLst xmlns:a="http://schemas.openxmlformats.org/drawingml/2006/main">
              <a:ext uri="{FF2B5EF4-FFF2-40B4-BE49-F238E27FC236}">
                <a16:creationId xmlns:a16="http://schemas.microsoft.com/office/drawing/2014/main" id="{988AEE54-87F0-4C34-BCBB-B328DB7E86AC}"/>
              </a:ext>
            </a:extLst>
          </p:cNvPr>
          <p:cNvSpPr>
            <a:spLocks xmlns:a="http://schemas.openxmlformats.org/drawingml/2006/main" noGrp="1"/>
          </p:cNvSpPr>
          <p:nvPr/>
        </p:nvSpPr>
        <p:spPr>
          <a:xfrm xmlns:a="http://schemas.openxmlformats.org/drawingml/2006/main">
            <a:off x="5413375" y="8153400"/>
            <a:ext cx="3860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Matrices</a:t>
            </a:r>
          </a:p>
        </p:txBody>
      </p:sp>
      <p:sp>
        <p:nvSpPr>
          <p:cNvPr id="21" name="">
            <a:extLst xmlns:a="http://schemas.openxmlformats.org/drawingml/2006/main">
              <a:ext uri="{FF2B5EF4-FFF2-40B4-BE49-F238E27FC236}">
                <a16:creationId xmlns:a16="http://schemas.microsoft.com/office/drawing/2014/main" id="{B827D4AF-D7C5-4B32-B5B8-AC2D4C4320FB}"/>
              </a:ext>
            </a:extLst>
          </p:cNvPr>
          <p:cNvSpPr>
            <a:spLocks xmlns:a="http://schemas.openxmlformats.org/drawingml/2006/main" noGrp="1"/>
          </p:cNvSpPr>
          <p:nvPr/>
        </p:nvSpPr>
        <p:spPr>
          <a:xfrm xmlns:a="http://schemas.openxmlformats.org/drawingml/2006/main">
            <a:off x="9350375" y="8153400"/>
            <a:ext cx="3860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Numerical steps</a:t>
            </a:r>
          </a:p>
        </p:txBody>
      </p:sp>
      <p:sp>
        <p:nvSpPr>
          <p:cNvPr id="22" name="">
            <a:extLst xmlns:a="http://schemas.openxmlformats.org/drawingml/2006/main">
              <a:ext uri="{FF2B5EF4-FFF2-40B4-BE49-F238E27FC236}">
                <a16:creationId xmlns:a16="http://schemas.microsoft.com/office/drawing/2014/main" id="{49127A00-AF3A-46D0-856E-96DED8C4DD7F}"/>
              </a:ext>
            </a:extLst>
          </p:cNvPr>
          <p:cNvSpPr>
            <a:spLocks xmlns:a="http://schemas.openxmlformats.org/drawingml/2006/main" noGrp="1"/>
          </p:cNvSpPr>
          <p:nvPr/>
        </p:nvSpPr>
        <p:spPr>
          <a:xfrm xmlns:a="http://schemas.openxmlformats.org/drawingml/2006/main">
            <a:off x="13982700" y="8115300"/>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500" b="0">
                <a:solidFill>
                  <a:srgbClr val="496071"/>
                </a:solidFill>
                <a:latin typeface="Arial"/>
                <a:ea typeface="Arial"/>
                <a:cs typeface="Arial"/>
              </a:defRPr>
            </a:defPPr>
          </a:lstStyle>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5/7</a:t>
            </a:r>
          </a:p>
        </p:txBody>
      </p:sp>
    </p:spTree>
    <p:extLst>
      <p:ext uri="{BB962C8B-B14F-4D97-AF65-F5344CB8AC3E}">
        <p14:creationId xmlns:p14="http://schemas.microsoft.com/office/powerpoint/2010/main" val="36636300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10CCB42-5A88-47B9-8F5B-3CDE78DAFD6A}"/>
              </a:ext>
            </a:extLst>
          </p:cNvPr>
          <p:cNvSpPr>
            <a:spLocks xmlns:a="http://schemas.openxmlformats.org/drawingml/2006/main" noGrp="1"/>
          </p:cNvSpPr>
          <p:nvPr/>
        </p:nvSpPr>
        <p:spPr>
          <a:xfrm xmlns:a="http://schemas.openxmlformats.org/drawingml/2006/main">
            <a:off x="571500" y="285750"/>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3300" b="1">
                <a:solidFill>
                  <a:srgbClr val="153246"/>
                </a:solidFill>
                <a:latin typeface="Arial"/>
                <a:ea typeface="Arial"/>
                <a:cs typeface="Arial"/>
              </a:defRPr>
            </a:defPPr>
          </a:lstStyle>
          <a:p xmlns:a="http://schemas.openxmlformats.org/drawingml/2006/main">
            <a:pPr>
              <a:defRPr sz="3300" b="1">
                <a:solidFill>
                  <a:srgbClr val="153246"/>
                </a:solidFill>
                <a:latin typeface="Arial"/>
                <a:ea typeface="Arial"/>
                <a:cs typeface="Arial"/>
              </a:defRPr>
            </a:pPr>
            <a:r>
              <a:rPr sz="3300" b="1">
                <a:solidFill>
                  <a:srgbClr val="153246"/>
                </a:solidFill>
                <a:latin typeface="Arial"/>
                <a:ea typeface="Arial"/>
                <a:cs typeface="Arial"/>
              </a:rPr>
              <a:t>6. Solve for concentration and make the decision</a:t>
            </a:r>
          </a:p>
        </p:txBody>
      </p:sp>
      <p:sp>
        <p:nvSpPr>
          <p:cNvPr id="2" name="">
            <a:extLst xmlns:a="http://schemas.openxmlformats.org/drawingml/2006/main">
              <a:ext uri="{FF2B5EF4-FFF2-40B4-BE49-F238E27FC236}">
                <a16:creationId xmlns:a16="http://schemas.microsoft.com/office/drawing/2014/main" id="{681EA73E-9EE5-41EB-865B-2B4796543D29}"/>
              </a:ext>
            </a:extLst>
          </p:cNvPr>
          <p:cNvSpPr>
            <a:spLocks xmlns:a="http://schemas.openxmlformats.org/drawingml/2006/main" noGrp="1"/>
          </p:cNvSpPr>
          <p:nvPr/>
        </p:nvSpPr>
        <p:spPr>
          <a:xfrm xmlns:a="http://schemas.openxmlformats.org/drawingml/2006/main">
            <a:off x="628650" y="1009650"/>
            <a:ext cx="13982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875" b="0">
                <a:solidFill>
                  <a:srgbClr val="496071"/>
                </a:solidFill>
                <a:latin typeface="Arial"/>
                <a:ea typeface="Arial"/>
                <a:cs typeface="Arial"/>
              </a:defRPr>
            </a:defPPr>
          </a:lstStyle>
          <a:p xmlns:a="http://schemas.openxmlformats.org/drawingml/2006/main">
            <a:pPr>
              <a:defRPr sz="1875" b="0">
                <a:solidFill>
                  <a:srgbClr val="496071"/>
                </a:solidFill>
                <a:latin typeface="Arial"/>
                <a:ea typeface="Arial"/>
                <a:cs typeface="Arial"/>
              </a:defRPr>
            </a:pPr>
            <a:r>
              <a:rPr sz="1875" b="0">
                <a:solidFill>
                  <a:srgbClr val="496071"/>
                </a:solidFill>
                <a:latin typeface="Arial"/>
                <a:ea typeface="Arial"/>
                <a:cs typeface="Arial"/>
              </a:rPr>
              <a:t>The full 1,024 tone data produce the system below. The concentration estimate and its uncertainty determine the detection decision.</a:t>
            </a:r>
          </a:p>
        </p:txBody>
      </p:sp>
      <p:graphicFrame>
        <p:nvGraphicFramePr>
          <p:cNvPr id="3" name="">
            <a:extLst xmlns:a="http://schemas.openxmlformats.org/drawingml/2006/main">
              <a:ext uri="{FF2B5EF4-FFF2-40B4-BE49-F238E27FC236}">
                <a16:creationId xmlns:a16="http://schemas.microsoft.com/office/drawing/2014/main" id="{3BFB924F-03DE-4BCA-BDE8-3BC9C48A796F}"/>
              </a:ext>
            </a:extLst>
          </p:cNvPr>
          <p:cNvGraphicFramePr/>
          <p:nvPr/>
        </p:nvGraphicFramePr>
        <p:xfrm>
          <a:off xmlns:a="http://schemas.openxmlformats.org/drawingml/2006/main" x="628650" y="1714500"/>
          <a:ext xmlns:a="http://schemas.openxmlformats.org/drawingml/2006/main" cx="13982700" cy="2133600"/>
        </p:xfrm>
        <a:graphic xmlns:a="http://schemas.openxmlformats.org/drawingml/2006/main">
          <a:graphicData uri="http://schemas.openxmlformats.org/drawingml/2006/table">
            <a:tbl>
              <a:tblPr/>
              <a:tblGrid>
                <a:gridCol w="1398270"/>
                <a:gridCol w="3146108"/>
                <a:gridCol w="3146108"/>
                <a:gridCol w="3146108"/>
                <a:gridCol w="3146108"/>
              </a:tblGrid>
              <a:tr h="533400">
                <a:tc>
                  <a:txBody>
                    <a:bodyPr/>
                    <a:lstStyle/>
                    <a:p>
                      <a:r>
                        <a:rPr sz="1800" b="1">
                          <a:solidFill>
                            <a:srgbClr val="FFFFFF"/>
                          </a:solidFill>
                          <a:latin typeface="Arial"/>
                          <a:ea typeface="Arial"/>
                          <a:cs typeface="Arial"/>
                        </a:rPr>
                        <a:t>Equation</a:t>
                      </a:r>
                    </a:p>
                  </a:txBody>
                  <a:tcPr marL="104775" marR="104775" marT="57150" marB="57150" anchor="ctr">
                    <a:solidFill>
                      <a:srgbClr val="153246"/>
                    </a:solidFill>
                  </a:tcPr>
                </a:tc>
                <a:tc>
                  <a:txBody>
                    <a:bodyPr/>
                    <a:lstStyle/>
                    <a:p>
                      <a:r>
                        <a:rPr sz="1800" b="1">
                          <a:solidFill>
                            <a:srgbClr val="FFFFFF"/>
                          </a:solidFill>
                          <a:latin typeface="Arial"/>
                          <a:ea typeface="Arial"/>
                          <a:cs typeface="Arial"/>
                        </a:rPr>
                        <a:t>Coefficient of q</a:t>
                      </a:r>
                    </a:p>
                  </a:txBody>
                  <a:tcPr marL="104775" marR="104775" marT="57150" marB="57150" anchor="ctr">
                    <a:solidFill>
                      <a:srgbClr val="153246"/>
                    </a:solidFill>
                  </a:tcPr>
                </a:tc>
                <a:tc>
                  <a:txBody>
                    <a:bodyPr/>
                    <a:lstStyle/>
                    <a:p>
                      <a:r>
                        <a:rPr sz="1800" b="1">
                          <a:solidFill>
                            <a:srgbClr val="FFFFFF"/>
                          </a:solidFill>
                          <a:latin typeface="Arial"/>
                          <a:ea typeface="Arial"/>
                          <a:cs typeface="Arial"/>
                        </a:rPr>
                        <a:t>Coefficient of b₀</a:t>
                      </a:r>
                    </a:p>
                  </a:txBody>
                  <a:tcPr marL="104775" marR="104775" marT="57150" marB="57150" anchor="ctr">
                    <a:solidFill>
                      <a:srgbClr val="153246"/>
                    </a:solidFill>
                  </a:tcPr>
                </a:tc>
                <a:tc>
                  <a:txBody>
                    <a:bodyPr/>
                    <a:lstStyle/>
                    <a:p>
                      <a:r>
                        <a:rPr sz="1800" b="1">
                          <a:solidFill>
                            <a:srgbClr val="FFFFFF"/>
                          </a:solidFill>
                          <a:latin typeface="Arial"/>
                          <a:ea typeface="Arial"/>
                          <a:cs typeface="Arial"/>
                        </a:rPr>
                        <a:t>Coefficient of b₁</a:t>
                      </a:r>
                    </a:p>
                  </a:txBody>
                  <a:tcPr marL="104775" marR="104775" marT="57150" marB="57150" anchor="ctr">
                    <a:solidFill>
                      <a:srgbClr val="153246"/>
                    </a:solidFill>
                  </a:tcPr>
                </a:tc>
                <a:tc>
                  <a:txBody>
                    <a:bodyPr/>
                    <a:lstStyle/>
                    <a:p>
                      <a:r>
                        <a:rPr sz="1800" b="1">
                          <a:solidFill>
                            <a:srgbClr val="FFFFFF"/>
                          </a:solidFill>
                          <a:latin typeface="Arial"/>
                          <a:ea typeface="Arial"/>
                          <a:cs typeface="Arial"/>
                        </a:rPr>
                        <a:t>Right side g</a:t>
                      </a:r>
                    </a:p>
                  </a:txBody>
                  <a:tcPr marL="104775" marR="104775" marT="57150" marB="57150" anchor="ctr">
                    <a:solidFill>
                      <a:srgbClr val="153246"/>
                    </a:solidFill>
                  </a:tcPr>
                </a:tc>
              </a:tr>
              <a:tr h="533400">
                <a:tc>
                  <a:txBody>
                    <a:bodyPr/>
                    <a:lstStyle/>
                    <a:p>
                      <a:r>
                        <a:rPr sz="1800" b="0">
                          <a:solidFill>
                            <a:srgbClr val="153246"/>
                          </a:solidFill>
                          <a:latin typeface="Arial"/>
                          <a:ea typeface="Arial"/>
                          <a:cs typeface="Arial"/>
                        </a:rPr>
                        <a:t>1</a:t>
                      </a:r>
                    </a:p>
                  </a:txBody>
                  <a:tcPr marL="104775" marR="104775" marT="57150" marB="57150" anchor="ctr">
                    <a:solidFill>
                      <a:srgbClr val="F0F5F7"/>
                    </a:solidFill>
                  </a:tcPr>
                </a:tc>
                <a:tc>
                  <a:txBody>
                    <a:bodyPr/>
                    <a:lstStyle/>
                    <a:p>
                      <a:r>
                        <a:rPr sz="1800" b="0">
                          <a:solidFill>
                            <a:srgbClr val="153246"/>
                          </a:solidFill>
                          <a:latin typeface="Arial"/>
                          <a:ea typeface="Arial"/>
                          <a:cs typeface="Arial"/>
                        </a:rPr>
                        <a:t>0.301344020</a:t>
                      </a:r>
                    </a:p>
                  </a:txBody>
                  <a:tcPr marL="104775" marR="104775" marT="57150" marB="57150" anchor="ctr">
                    <a:solidFill>
                      <a:srgbClr val="F0F5F7"/>
                    </a:solidFill>
                  </a:tcPr>
                </a:tc>
                <a:tc>
                  <a:txBody>
                    <a:bodyPr/>
                    <a:lstStyle/>
                    <a:p>
                      <a:r>
                        <a:rPr sz="1800" b="0">
                          <a:solidFill>
                            <a:srgbClr val="153246"/>
                          </a:solidFill>
                          <a:latin typeface="Arial"/>
                          <a:ea typeface="Arial"/>
                          <a:cs typeface="Arial"/>
                        </a:rPr>
                        <a:t>458.463514</a:t>
                      </a:r>
                    </a:p>
                  </a:txBody>
                  <a:tcPr marL="104775" marR="104775" marT="57150" marB="57150" anchor="ctr">
                    <a:solidFill>
                      <a:srgbClr val="F0F5F7"/>
                    </a:solidFill>
                  </a:tcPr>
                </a:tc>
                <a:tc>
                  <a:txBody>
                    <a:bodyPr/>
                    <a:lstStyle/>
                    <a:p>
                      <a:r>
                        <a:rPr sz="1800" b="0">
                          <a:solidFill>
                            <a:srgbClr val="153246"/>
                          </a:solidFill>
                          <a:latin typeface="Arial"/>
                          <a:ea typeface="Arial"/>
                          <a:cs typeface="Arial"/>
                        </a:rPr>
                        <a:t>127.082723</a:t>
                      </a:r>
                    </a:p>
                  </a:txBody>
                  <a:tcPr marL="104775" marR="104775" marT="57150" marB="57150" anchor="ctr">
                    <a:solidFill>
                      <a:srgbClr val="F0F5F7"/>
                    </a:solidFill>
                  </a:tcPr>
                </a:tc>
                <a:tc>
                  <a:txBody>
                    <a:bodyPr/>
                    <a:lstStyle/>
                    <a:p>
                      <a:r>
                        <a:rPr sz="1800" b="0">
                          <a:solidFill>
                            <a:srgbClr val="153246"/>
                          </a:solidFill>
                          <a:latin typeface="Arial"/>
                          <a:ea typeface="Arial"/>
                          <a:cs typeface="Arial"/>
                        </a:rPr>
                        <a:t>15.066265191</a:t>
                      </a:r>
                    </a:p>
                  </a:txBody>
                  <a:tcPr marL="104775" marR="104775" marT="57150" marB="57150" anchor="ctr">
                    <a:solidFill>
                      <a:srgbClr val="F0F5F7"/>
                    </a:solidFill>
                  </a:tcPr>
                </a:tc>
              </a:tr>
              <a:tr h="533400">
                <a:tc>
                  <a:txBody>
                    <a:bodyPr/>
                    <a:lstStyle/>
                    <a:p>
                      <a:r>
                        <a:rPr sz="1800" b="0">
                          <a:solidFill>
                            <a:srgbClr val="153246"/>
                          </a:solidFill>
                          <a:latin typeface="Arial"/>
                          <a:ea typeface="Arial"/>
                          <a:cs typeface="Arial"/>
                        </a:rPr>
                        <a:t>2</a:t>
                      </a:r>
                    </a:p>
                  </a:txBody>
                  <a:tcPr marL="104775" marR="104775" marT="57150" marB="57150" anchor="ctr">
                    <a:solidFill>
                      <a:srgbClr val="FFFFFF"/>
                    </a:solidFill>
                  </a:tcPr>
                </a:tc>
                <a:tc>
                  <a:txBody>
                    <a:bodyPr/>
                    <a:lstStyle/>
                    <a:p>
                      <a:r>
                        <a:rPr sz="1800" b="0">
                          <a:solidFill>
                            <a:srgbClr val="153246"/>
                          </a:solidFill>
                          <a:latin typeface="Arial"/>
                          <a:ea typeface="Arial"/>
                          <a:cs typeface="Arial"/>
                        </a:rPr>
                        <a:t>458.463513671</a:t>
                      </a:r>
                    </a:p>
                  </a:txBody>
                  <a:tcPr marL="104775" marR="104775" marT="57150" marB="57150" anchor="ctr">
                    <a:solidFill>
                      <a:srgbClr val="FFFFFF"/>
                    </a:solidFill>
                  </a:tcPr>
                </a:tc>
                <a:tc>
                  <a:txBody>
                    <a:bodyPr/>
                    <a:lstStyle/>
                    <a:p>
                      <a:r>
                        <a:rPr sz="1800" b="0">
                          <a:solidFill>
                            <a:srgbClr val="153246"/>
                          </a:solidFill>
                          <a:latin typeface="Arial"/>
                          <a:ea typeface="Arial"/>
                          <a:cs typeface="Arial"/>
                        </a:rPr>
                        <a:t>983654.579709</a:t>
                      </a:r>
                    </a:p>
                  </a:txBody>
                  <a:tcPr marL="104775" marR="104775" marT="57150" marB="57150" anchor="ctr">
                    <a:solidFill>
                      <a:srgbClr val="FFFFFF"/>
                    </a:solidFill>
                  </a:tcPr>
                </a:tc>
                <a:tc>
                  <a:txBody>
                    <a:bodyPr/>
                    <a:lstStyle/>
                    <a:p>
                      <a:r>
                        <a:rPr sz="1800" b="0">
                          <a:solidFill>
                            <a:srgbClr val="153246"/>
                          </a:solidFill>
                          <a:latin typeface="Arial"/>
                          <a:ea typeface="Arial"/>
                          <a:cs typeface="Arial"/>
                        </a:rPr>
                        <a:t>-223.779287</a:t>
                      </a:r>
                    </a:p>
                  </a:txBody>
                  <a:tcPr marL="104775" marR="104775" marT="57150" marB="57150" anchor="ctr">
                    <a:solidFill>
                      <a:srgbClr val="FFFFFF"/>
                    </a:solidFill>
                  </a:tcPr>
                </a:tc>
                <a:tc>
                  <a:txBody>
                    <a:bodyPr/>
                    <a:lstStyle/>
                    <a:p>
                      <a:r>
                        <a:rPr sz="1800" b="0">
                          <a:solidFill>
                            <a:srgbClr val="153246"/>
                          </a:solidFill>
                          <a:latin typeface="Arial"/>
                          <a:ea typeface="Arial"/>
                          <a:cs typeface="Arial"/>
                        </a:rPr>
                        <a:t>22141.401031152</a:t>
                      </a:r>
                    </a:p>
                  </a:txBody>
                  <a:tcPr marL="104775" marR="104775" marT="57150" marB="57150" anchor="ctr">
                    <a:solidFill>
                      <a:srgbClr val="FFFFFF"/>
                    </a:solidFill>
                  </a:tcPr>
                </a:tc>
              </a:tr>
              <a:tr h="533400">
                <a:tc>
                  <a:txBody>
                    <a:bodyPr/>
                    <a:lstStyle/>
                    <a:p>
                      <a:r>
                        <a:rPr sz="1800" b="0">
                          <a:solidFill>
                            <a:srgbClr val="153246"/>
                          </a:solidFill>
                          <a:latin typeface="Arial"/>
                          <a:ea typeface="Arial"/>
                          <a:cs typeface="Arial"/>
                        </a:rPr>
                        <a:t>3</a:t>
                      </a:r>
                    </a:p>
                  </a:txBody>
                  <a:tcPr marL="104775" marR="104775" marT="57150" marB="57150" anchor="ctr">
                    <a:solidFill>
                      <a:srgbClr val="F0F5F7"/>
                    </a:solidFill>
                  </a:tcPr>
                </a:tc>
                <a:tc>
                  <a:txBody>
                    <a:bodyPr/>
                    <a:lstStyle/>
                    <a:p>
                      <a:r>
                        <a:rPr sz="1800" b="0">
                          <a:solidFill>
                            <a:srgbClr val="153246"/>
                          </a:solidFill>
                          <a:latin typeface="Arial"/>
                          <a:ea typeface="Arial"/>
                          <a:cs typeface="Arial"/>
                        </a:rPr>
                        <a:t>127.082722926</a:t>
                      </a:r>
                    </a:p>
                  </a:txBody>
                  <a:tcPr marL="104775" marR="104775" marT="57150" marB="57150" anchor="ctr">
                    <a:solidFill>
                      <a:srgbClr val="F0F5F7"/>
                    </a:solidFill>
                  </a:tcPr>
                </a:tc>
                <a:tc>
                  <a:txBody>
                    <a:bodyPr/>
                    <a:lstStyle/>
                    <a:p>
                      <a:r>
                        <a:rPr sz="1800" b="0">
                          <a:solidFill>
                            <a:srgbClr val="153246"/>
                          </a:solidFill>
                          <a:latin typeface="Arial"/>
                          <a:ea typeface="Arial"/>
                          <a:cs typeface="Arial"/>
                        </a:rPr>
                        <a:t>-223.779287</a:t>
                      </a:r>
                    </a:p>
                  </a:txBody>
                  <a:tcPr marL="104775" marR="104775" marT="57150" marB="57150" anchor="ctr">
                    <a:solidFill>
                      <a:srgbClr val="F0F5F7"/>
                    </a:solidFill>
                  </a:tcPr>
                </a:tc>
                <a:tc>
                  <a:txBody>
                    <a:bodyPr/>
                    <a:lstStyle/>
                    <a:p>
                      <a:r>
                        <a:rPr sz="1800" b="0">
                          <a:solidFill>
                            <a:srgbClr val="153246"/>
                          </a:solidFill>
                          <a:latin typeface="Arial"/>
                          <a:ea typeface="Arial"/>
                          <a:cs typeface="Arial"/>
                        </a:rPr>
                        <a:t>198502.414349</a:t>
                      </a:r>
                    </a:p>
                  </a:txBody>
                  <a:tcPr marL="104775" marR="104775" marT="57150" marB="57150" anchor="ctr">
                    <a:solidFill>
                      <a:srgbClr val="F0F5F7"/>
                    </a:solidFill>
                  </a:tcPr>
                </a:tc>
                <a:tc>
                  <a:txBody>
                    <a:bodyPr/>
                    <a:lstStyle/>
                    <a:p>
                      <a:r>
                        <a:rPr sz="1800" b="0">
                          <a:solidFill>
                            <a:srgbClr val="153246"/>
                          </a:solidFill>
                          <a:latin typeface="Arial"/>
                          <a:ea typeface="Arial"/>
                          <a:cs typeface="Arial"/>
                        </a:rPr>
                        <a:t>7023.360955313</a:t>
                      </a:r>
                    </a:p>
                  </a:txBody>
                  <a:tcPr marL="104775" marR="104775" marT="57150" marB="57150" anchor="ctr">
                    <a:solidFill>
                      <a:srgbClr val="F0F5F7"/>
                    </a:solidFill>
                  </a:tcPr>
                </a:tc>
              </a:tr>
            </a:tbl>
          </a:graphicData>
        </a:graphic>
      </p:graphicFrame>
      <p:sp>
        <p:nvSpPr>
          <p:cNvPr id="4" name="">
            <a:extLst xmlns:a="http://schemas.openxmlformats.org/drawingml/2006/main">
              <a:ext uri="{FF2B5EF4-FFF2-40B4-BE49-F238E27FC236}">
                <a16:creationId xmlns:a16="http://schemas.microsoft.com/office/drawing/2014/main" id="{587710C6-7350-4E79-932B-F74DA8D1293C}"/>
              </a:ext>
            </a:extLst>
          </p:cNvPr>
          <p:cNvSpPr>
            <a:spLocks xmlns:a="http://schemas.openxmlformats.org/drawingml/2006/main" noGrp="1"/>
          </p:cNvSpPr>
          <p:nvPr/>
        </p:nvSpPr>
        <p:spPr>
          <a:xfrm xmlns:a="http://schemas.openxmlformats.org/drawingml/2006/main">
            <a:off x="628650" y="3924300"/>
            <a:ext cx="13982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650" b="0">
                <a:solidFill>
                  <a:srgbClr val="496071"/>
                </a:solidFill>
                <a:latin typeface="Arial"/>
                <a:ea typeface="Arial"/>
                <a:cs typeface="Arial"/>
              </a:defRPr>
            </a:defPPr>
          </a:lstStyle>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Columns correspond to q in µg/m³ and b₀, b₁ in dB. The displayed coefficients are rounded.</a:t>
            </a:r>
          </a:p>
        </p:txBody>
      </p:sp>
      <p:sp>
        <p:nvSpPr>
          <p:cNvPr id="5" name="">
            <a:extLst xmlns:a="http://schemas.openxmlformats.org/drawingml/2006/main">
              <a:ext uri="{FF2B5EF4-FFF2-40B4-BE49-F238E27FC236}">
                <a16:creationId xmlns:a16="http://schemas.microsoft.com/office/drawing/2014/main" id="{74EB0CA3-03E6-4A7F-A888-5E140196B086}"/>
              </a:ext>
            </a:extLst>
          </p:cNvPr>
          <p:cNvSpPr>
            <a:spLocks xmlns:a="http://schemas.openxmlformats.org/drawingml/2006/main" noGrp="1"/>
          </p:cNvSpPr>
          <p:nvPr/>
        </p:nvSpPr>
        <p:spPr>
          <a:xfrm xmlns:a="http://schemas.openxmlformats.org/drawingml/2006/main">
            <a:off x="628650" y="4343400"/>
            <a:ext cx="6715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2025" b="1">
                <a:solidFill>
                  <a:srgbClr val="126B76"/>
                </a:solidFill>
                <a:latin typeface="Arial"/>
                <a:ea typeface="Arial"/>
                <a:cs typeface="Arial"/>
              </a:defRPr>
            </a:defPPr>
          </a:lstStyle>
          <a:p xmlns:a="http://schemas.openxmlformats.org/drawingml/2006/main">
            <a:pPr>
              <a:defRPr sz="2025" b="1">
                <a:solidFill>
                  <a:srgbClr val="126B76"/>
                </a:solidFill>
                <a:latin typeface="Arial"/>
                <a:ea typeface="Arial"/>
                <a:cs typeface="Arial"/>
              </a:defRPr>
            </a:pPr>
            <a:r>
              <a:rPr sz="2025" b="1">
                <a:solidFill>
                  <a:srgbClr val="126B76"/>
                </a:solidFill>
                <a:latin typeface="Arial"/>
                <a:ea typeface="Arial"/>
                <a:cs typeface="Arial"/>
              </a:rPr>
              <a:t>The estimate after fitting gain</a:t>
            </a:r>
          </a:p>
        </p:txBody>
      </p:sp>
      <p:sp>
        <p:nvSpPr>
          <p:cNvPr id="6" name="">
            <a:extLst xmlns:a="http://schemas.openxmlformats.org/drawingml/2006/main">
              <a:ext uri="{FF2B5EF4-FFF2-40B4-BE49-F238E27FC236}">
                <a16:creationId xmlns:a16="http://schemas.microsoft.com/office/drawing/2014/main" id="{A84E90B0-53CD-4C17-81FA-A0EF834BD98C}"/>
              </a:ext>
            </a:extLst>
          </p:cNvPr>
          <p:cNvSpPr>
            <a:spLocks xmlns:a="http://schemas.openxmlformats.org/drawingml/2006/main" noGrp="1"/>
          </p:cNvSpPr>
          <p:nvPr/>
        </p:nvSpPr>
        <p:spPr>
          <a:xfrm xmlns:a="http://schemas.openxmlformats.org/drawingml/2006/main">
            <a:off x="628650" y="4733925"/>
            <a:ext cx="676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Eliminating b₀ and b₁ leaves information Iq = 0.006169586 and weighted evidence tq = 0.243233919 for the gas. Their ratio gives:</a:t>
            </a:r>
          </a:p>
        </p:txBody>
      </p:sp>
      <p:pic>
        <p:nvPicPr>
          <p:cNvPr id="7" name="">
            <a:extLst xmlns:a="http://schemas.openxmlformats.org/drawingml/2006/main">
              <a:ext uri="{FF2B5EF4-FFF2-40B4-BE49-F238E27FC236}">
                <a16:creationId xmlns:a16="http://schemas.microsoft.com/office/drawing/2014/main" id="{BD19D233-B08A-4AE9-A552-F2F9D255396D}"/>
              </a:ext>
            </a:extLst>
          </p:cNvPr>
          <p:cNvPicPr>
            <a:picLocks xmlns:a="http://schemas.openxmlformats.org/drawingml/2006/main" noChangeAspect="1"/>
          </p:cNvPicPr>
          <p:nvPr/>
        </p:nvPicPr>
        <p:blipFill>
          <a:blip xmlns:r="http://schemas.openxmlformats.org/officeDocument/2006/relationships" xmlns:a="http://schemas.openxmlformats.org/drawingml/2006/main" r:embed="R4bb75e7fa7074d5a">
            <a:extLst>
              <a:ext uri="{96DAC541-7B7A-43D3-8B79-37D633B846F1}">
                <asvg:svgBlip xmlns:asvg="http://schemas.microsoft.com/office/drawing/2016/SVG/main" r:embed="R3c947015fe524675"/>
              </a:ext>
            </a:extLst>
          </a:blip>
          <a:stretch xmlns:a="http://schemas.openxmlformats.org/drawingml/2006/main"/>
        </p:blipFill>
        <p:spPr>
          <a:xfrm xmlns:a="http://schemas.openxmlformats.org/drawingml/2006/main">
            <a:off x="628650" y="5610225"/>
            <a:ext cx="3229411" cy="6572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091EAF6A-533B-4050-8BE3-EE574D50816F}"/>
              </a:ext>
            </a:extLst>
          </p:cNvPr>
          <p:cNvSpPr>
            <a:spLocks xmlns:a="http://schemas.openxmlformats.org/drawingml/2006/main" noGrp="1"/>
          </p:cNvSpPr>
          <p:nvPr/>
        </p:nvSpPr>
        <p:spPr>
          <a:xfrm xmlns:a="http://schemas.openxmlformats.org/drawingml/2006/main">
            <a:off x="628650" y="6410325"/>
            <a:ext cx="6762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The same solve gives b̂₀ = 0.00413651 dB and b̂₁ = 0.01014643 dB. The true input was 50.5814 µg/m³. Observation errors explain the difference.</a:t>
            </a:r>
          </a:p>
        </p:txBody>
      </p:sp>
      <p:sp>
        <p:nvSpPr>
          <p:cNvPr id="9" name="">
            <a:extLst xmlns:a="http://schemas.openxmlformats.org/drawingml/2006/main">
              <a:ext uri="{FF2B5EF4-FFF2-40B4-BE49-F238E27FC236}">
                <a16:creationId xmlns:a16="http://schemas.microsoft.com/office/drawing/2014/main" id="{32C61D47-4D71-4D76-A440-4F85A7B527E5}"/>
              </a:ext>
            </a:extLst>
          </p:cNvPr>
          <p:cNvSpPr>
            <a:spLocks xmlns:a="http://schemas.openxmlformats.org/drawingml/2006/main" noGrp="1"/>
          </p:cNvSpPr>
          <p:nvPr/>
        </p:nvSpPr>
        <p:spPr>
          <a:xfrm xmlns:a="http://schemas.openxmlformats.org/drawingml/2006/main">
            <a:off x="7905750" y="4343400"/>
            <a:ext cx="6715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2025" b="1">
                <a:solidFill>
                  <a:srgbClr val="126B76"/>
                </a:solidFill>
                <a:latin typeface="Arial"/>
                <a:ea typeface="Arial"/>
                <a:cs typeface="Arial"/>
              </a:defRPr>
            </a:defPPr>
          </a:lstStyle>
          <a:p xmlns:a="http://schemas.openxmlformats.org/drawingml/2006/main">
            <a:pPr>
              <a:defRPr sz="2025" b="1">
                <a:solidFill>
                  <a:srgbClr val="126B76"/>
                </a:solidFill>
                <a:latin typeface="Arial"/>
                <a:ea typeface="Arial"/>
                <a:cs typeface="Arial"/>
              </a:defRPr>
            </a:pPr>
            <a:r>
              <a:rPr sz="2025" b="1">
                <a:solidFill>
                  <a:srgbClr val="126B76"/>
                </a:solidFill>
                <a:latin typeface="Arial"/>
                <a:ea typeface="Arial"/>
                <a:cs typeface="Arial"/>
              </a:rPr>
              <a:t>The threshold and its meaning</a:t>
            </a:r>
          </a:p>
        </p:txBody>
      </p:sp>
      <p:pic>
        <p:nvPicPr>
          <p:cNvPr id="10" name="">
            <a:extLst xmlns:a="http://schemas.openxmlformats.org/drawingml/2006/main">
              <a:ext uri="{FF2B5EF4-FFF2-40B4-BE49-F238E27FC236}">
                <a16:creationId xmlns:a16="http://schemas.microsoft.com/office/drawing/2014/main" id="{66445363-8753-4175-80AB-94DA0BCADBCE}"/>
              </a:ext>
            </a:extLst>
          </p:cNvPr>
          <p:cNvPicPr>
            <a:picLocks xmlns:a="http://schemas.openxmlformats.org/drawingml/2006/main" noChangeAspect="1"/>
          </p:cNvPicPr>
          <p:nvPr/>
        </p:nvPicPr>
        <p:blipFill>
          <a:blip xmlns:r="http://schemas.openxmlformats.org/officeDocument/2006/relationships" xmlns:a="http://schemas.openxmlformats.org/drawingml/2006/main" r:embed="R90d1f429c3864b11">
            <a:extLst>
              <a:ext uri="{96DAC541-7B7A-43D3-8B79-37D633B846F1}">
                <asvg:svgBlip xmlns:asvg="http://schemas.microsoft.com/office/drawing/2016/SVG/main" r:embed="Ree3337983a0e4aa8"/>
              </a:ext>
            </a:extLst>
          </a:blip>
          <a:stretch xmlns:a="http://schemas.openxmlformats.org/drawingml/2006/main"/>
        </p:blipFill>
        <p:spPr>
          <a:xfrm xmlns:a="http://schemas.openxmlformats.org/drawingml/2006/main">
            <a:off x="7905750" y="4676775"/>
            <a:ext cx="4364548" cy="98107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D28618E5-685C-46A7-9A11-5680A7277EA3}"/>
              </a:ext>
            </a:extLst>
          </p:cNvPr>
          <p:cNvSpPr>
            <a:spLocks xmlns:a="http://schemas.openxmlformats.org/drawingml/2006/main" noGrp="1"/>
          </p:cNvSpPr>
          <p:nvPr/>
        </p:nvSpPr>
        <p:spPr>
          <a:xfrm xmlns:a="http://schemas.openxmlformats.org/drawingml/2006/main">
            <a:off x="7905750" y="5734050"/>
            <a:ext cx="6705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39.4247 &gt; 29.6174: this simulated draw detects an enhancement at the chosen 1% false alarm rate. That is evidence within the stated error model.</a:t>
            </a:r>
          </a:p>
        </p:txBody>
      </p:sp>
      <p:sp>
        <p:nvSpPr>
          <p:cNvPr id="12" name="">
            <a:extLst xmlns:a="http://schemas.openxmlformats.org/drawingml/2006/main">
              <a:ext uri="{FF2B5EF4-FFF2-40B4-BE49-F238E27FC236}">
                <a16:creationId xmlns:a16="http://schemas.microsoft.com/office/drawing/2014/main" id="{C2698EF5-3E7D-49C9-B456-0AB2567B8EDF}"/>
              </a:ext>
            </a:extLst>
          </p:cNvPr>
          <p:cNvSpPr>
            <a:spLocks xmlns:a="http://schemas.openxmlformats.org/drawingml/2006/main" noGrp="1"/>
          </p:cNvSpPr>
          <p:nvPr/>
        </p:nvSpPr>
        <p:spPr>
          <a:xfrm xmlns:a="http://schemas.openxmlformats.org/drawingml/2006/main">
            <a:off x="7905750" y="6600825"/>
            <a:ext cx="67056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q = 29.6174 + 1.64485 × 12.7452 = 50.5814 gives 95% predicted response (SD at that q: 12.7452). Simulated: 94.75% there, but 1.31% at 1 µg/m³.</a:t>
            </a:r>
          </a:p>
        </p:txBody>
      </p:sp>
      <p:sp>
        <p:nvSpPr>
          <p:cNvPr id="13" name="">
            <a:extLst xmlns:a="http://schemas.openxmlformats.org/drawingml/2006/main">
              <a:ext uri="{FF2B5EF4-FFF2-40B4-BE49-F238E27FC236}">
                <a16:creationId xmlns:a16="http://schemas.microsoft.com/office/drawing/2014/main" id="{332A9292-5EAE-4DD3-9CE4-1B4C8564BE41}"/>
              </a:ext>
            </a:extLst>
          </p:cNvPr>
          <p:cNvSpPr>
            <a:spLocks xmlns:a="http://schemas.openxmlformats.org/drawingml/2006/main" noGrp="1"/>
          </p:cNvSpPr>
          <p:nvPr/>
        </p:nvSpPr>
        <p:spPr>
          <a:xfrm xmlns:a="http://schemas.openxmlformats.org/drawingml/2006/main">
            <a:off x="628650" y="7486650"/>
            <a:ext cx="13982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463" b="0">
                <a:solidFill>
                  <a:srgbClr val="9F3343"/>
                </a:solidFill>
                <a:latin typeface="Arial"/>
                <a:ea typeface="Arial"/>
                <a:cs typeface="Arial"/>
              </a:defRPr>
            </a:defPPr>
          </a:lstStyle>
          <a:p xmlns:a="http://schemas.openxmlformats.org/drawingml/2006/main">
            <a:pPr>
              <a:defRPr sz="1463" b="0">
                <a:solidFill>
                  <a:srgbClr val="9F3343"/>
                </a:solidFill>
                <a:latin typeface="Arial"/>
                <a:ea typeface="Arial"/>
                <a:cs typeface="Arial"/>
              </a:defRPr>
            </a:pPr>
            <a:r>
              <a:rPr sz="1463" b="0">
                <a:solidFill>
                  <a:srgbClr val="9F3343"/>
                </a:solidFill>
                <a:latin typeface="Arial"/>
                <a:ea typeface="Arial"/>
                <a:cs typeface="Arial"/>
              </a:rPr>
              <a:t>Conditional example: ideal tracking, matched background, 20 s total and an assumed, unmeasured 0.001 dB calibration residual.</a:t>
            </a:r>
          </a:p>
          <a:p xmlns:a="http://schemas.openxmlformats.org/drawingml/2006/main">
            <a:pPr>
              <a:defRPr sz="1463" b="0">
                <a:solidFill>
                  <a:srgbClr val="9F3343"/>
                </a:solidFill>
                <a:latin typeface="Arial"/>
                <a:ea typeface="Arial"/>
                <a:cs typeface="Arial"/>
              </a:defRPr>
            </a:pPr>
            <a:r>
              <a:rPr sz="1463" b="0">
                <a:solidFill>
                  <a:srgbClr val="9F3343"/>
                </a:solidFill>
                <a:latin typeface="Arial"/>
                <a:ea typeface="Arial"/>
                <a:cs typeface="Arial"/>
              </a:rPr>
              <a:t>No atmospheric detection measurement or 3D reconstruction is established by this example.</a:t>
            </a:r>
          </a:p>
        </p:txBody>
      </p:sp>
      <p:sp>
        <p:nvSpPr>
          <p:cNvPr id="14" name="">
            <a:extLst xmlns:a="http://schemas.openxmlformats.org/drawingml/2006/main">
              <a:ext uri="{FF2B5EF4-FFF2-40B4-BE49-F238E27FC236}">
                <a16:creationId xmlns:a16="http://schemas.microsoft.com/office/drawing/2014/main" id="{1441B80A-31A6-4998-8894-A37562427AD2}"/>
              </a:ext>
            </a:extLst>
          </p:cNvPr>
          <p:cNvSpPr>
            <a:spLocks xmlns:a="http://schemas.openxmlformats.org/drawingml/2006/main" noGrp="1"/>
          </p:cNvSpPr>
          <p:nvPr/>
        </p:nvSpPr>
        <p:spPr>
          <a:xfrm xmlns:a="http://schemas.openxmlformats.org/drawingml/2006/main">
            <a:off x="628650" y="8153400"/>
            <a:ext cx="781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Sources</a:t>
            </a:r>
          </a:p>
        </p:txBody>
      </p:sp>
      <p:sp>
        <p:nvSpPr>
          <p:cNvPr id="15" name="">
            <a:extLst xmlns:a="http://schemas.openxmlformats.org/drawingml/2006/main">
              <a:ext uri="{FF2B5EF4-FFF2-40B4-BE49-F238E27FC236}">
                <a16:creationId xmlns:a16="http://schemas.microsoft.com/office/drawing/2014/main" id="{AEE0111B-3F5B-4286-9472-25490DD46861}"/>
              </a:ext>
            </a:extLst>
          </p:cNvPr>
          <p:cNvSpPr>
            <a:spLocks xmlns:a="http://schemas.openxmlformats.org/drawingml/2006/main" noGrp="1"/>
          </p:cNvSpPr>
          <p:nvPr/>
        </p:nvSpPr>
        <p:spPr>
          <a:xfrm xmlns:a="http://schemas.openxmlformats.org/drawingml/2006/main">
            <a:off x="1476375" y="8153400"/>
            <a:ext cx="3860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Numerical steps</a:t>
            </a:r>
          </a:p>
        </p:txBody>
      </p:sp>
      <p:sp>
        <p:nvSpPr>
          <p:cNvPr id="16" name="">
            <a:extLst xmlns:a="http://schemas.openxmlformats.org/drawingml/2006/main">
              <a:ext uri="{FF2B5EF4-FFF2-40B4-BE49-F238E27FC236}">
                <a16:creationId xmlns:a16="http://schemas.microsoft.com/office/drawing/2014/main" id="{5035D8AF-C1B2-4768-9105-0482CDD588EA}"/>
              </a:ext>
            </a:extLst>
          </p:cNvPr>
          <p:cNvSpPr>
            <a:spLocks xmlns:a="http://schemas.openxmlformats.org/drawingml/2006/main" noGrp="1"/>
          </p:cNvSpPr>
          <p:nvPr/>
        </p:nvSpPr>
        <p:spPr>
          <a:xfrm xmlns:a="http://schemas.openxmlformats.org/drawingml/2006/main">
            <a:off x="5413375" y="8153400"/>
            <a:ext cx="3860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Repeated trials</a:t>
            </a:r>
          </a:p>
        </p:txBody>
      </p:sp>
      <p:sp>
        <p:nvSpPr>
          <p:cNvPr id="17" name="">
            <a:extLst xmlns:a="http://schemas.openxmlformats.org/drawingml/2006/main">
              <a:ext uri="{FF2B5EF4-FFF2-40B4-BE49-F238E27FC236}">
                <a16:creationId xmlns:a16="http://schemas.microsoft.com/office/drawing/2014/main" id="{1FF015A4-886E-4774-9015-683A8144B647}"/>
              </a:ext>
            </a:extLst>
          </p:cNvPr>
          <p:cNvSpPr>
            <a:spLocks xmlns:a="http://schemas.openxmlformats.org/drawingml/2006/main" noGrp="1"/>
          </p:cNvSpPr>
          <p:nvPr/>
        </p:nvSpPr>
        <p:spPr>
          <a:xfrm xmlns:a="http://schemas.openxmlformats.org/drawingml/2006/main">
            <a:off x="9350375" y="8153400"/>
            <a:ext cx="3860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Hardware audit</a:t>
            </a:r>
          </a:p>
        </p:txBody>
      </p:sp>
      <p:sp>
        <p:nvSpPr>
          <p:cNvPr id="18" name="">
            <a:extLst xmlns:a="http://schemas.openxmlformats.org/drawingml/2006/main">
              <a:ext uri="{FF2B5EF4-FFF2-40B4-BE49-F238E27FC236}">
                <a16:creationId xmlns:a16="http://schemas.microsoft.com/office/drawing/2014/main" id="{2F4AA67D-A54F-463C-9696-2F2C65541E6F}"/>
              </a:ext>
            </a:extLst>
          </p:cNvPr>
          <p:cNvSpPr>
            <a:spLocks xmlns:a="http://schemas.openxmlformats.org/drawingml/2006/main" noGrp="1"/>
          </p:cNvSpPr>
          <p:nvPr/>
        </p:nvSpPr>
        <p:spPr>
          <a:xfrm xmlns:a="http://schemas.openxmlformats.org/drawingml/2006/main">
            <a:off x="13982700" y="8115300"/>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500" b="0">
                <a:solidFill>
                  <a:srgbClr val="496071"/>
                </a:solidFill>
                <a:latin typeface="Arial"/>
                <a:ea typeface="Arial"/>
                <a:cs typeface="Arial"/>
              </a:defRPr>
            </a:defPPr>
          </a:lstStyle>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6/7</a:t>
            </a:r>
          </a:p>
        </p:txBody>
      </p:sp>
    </p:spTree>
    <p:extLst>
      <p:ext uri="{BB962C8B-B14F-4D97-AF65-F5344CB8AC3E}">
        <p14:creationId xmlns:p14="http://schemas.microsoft.com/office/powerpoint/2010/main" val="151241216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071CFD69-4FA0-4F77-94B7-ADA127D626CC}"/>
              </a:ext>
            </a:extLst>
          </p:cNvPr>
          <p:cNvSpPr>
            <a:spLocks xmlns:a="http://schemas.openxmlformats.org/drawingml/2006/main" noGrp="1"/>
          </p:cNvSpPr>
          <p:nvPr/>
        </p:nvSpPr>
        <p:spPr>
          <a:xfrm xmlns:a="http://schemas.openxmlformats.org/drawingml/2006/main">
            <a:off x="571500" y="285750"/>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3300" b="1">
                <a:solidFill>
                  <a:srgbClr val="153246"/>
                </a:solidFill>
                <a:latin typeface="Arial"/>
                <a:ea typeface="Arial"/>
                <a:cs typeface="Arial"/>
              </a:defRPr>
            </a:defPPr>
          </a:lstStyle>
          <a:p xmlns:a="http://schemas.openxmlformats.org/drawingml/2006/main">
            <a:pPr>
              <a:defRPr sz="3300" b="1">
                <a:solidFill>
                  <a:srgbClr val="153246"/>
                </a:solidFill>
                <a:latin typeface="Arial"/>
                <a:ea typeface="Arial"/>
                <a:cs typeface="Arial"/>
              </a:defRPr>
            </a:pPr>
            <a:r>
              <a:rPr sz="3300" b="1">
                <a:solidFill>
                  <a:srgbClr val="153246"/>
                </a:solidFill>
                <a:latin typeface="Arial"/>
                <a:ea typeface="Arial"/>
                <a:cs typeface="Arial"/>
              </a:rPr>
              <a:t>7. The complete calculation in execution order</a:t>
            </a:r>
          </a:p>
        </p:txBody>
      </p:sp>
      <p:sp>
        <p:nvSpPr>
          <p:cNvPr id="2" name="">
            <a:extLst xmlns:a="http://schemas.openxmlformats.org/drawingml/2006/main">
              <a:ext uri="{FF2B5EF4-FFF2-40B4-BE49-F238E27FC236}">
                <a16:creationId xmlns:a16="http://schemas.microsoft.com/office/drawing/2014/main" id="{6AED8594-4628-4D31-9CCC-A1A1F068C877}"/>
              </a:ext>
            </a:extLst>
          </p:cNvPr>
          <p:cNvSpPr>
            <a:spLocks xmlns:a="http://schemas.openxmlformats.org/drawingml/2006/main" noGrp="1"/>
          </p:cNvSpPr>
          <p:nvPr/>
        </p:nvSpPr>
        <p:spPr>
          <a:xfrm xmlns:a="http://schemas.openxmlformats.org/drawingml/2006/main">
            <a:off x="628650" y="1009650"/>
            <a:ext cx="13982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875" b="0">
                <a:solidFill>
                  <a:srgbClr val="496071"/>
                </a:solidFill>
                <a:latin typeface="Arial"/>
                <a:ea typeface="Arial"/>
                <a:cs typeface="Arial"/>
              </a:defRPr>
            </a:defPPr>
          </a:lstStyle>
          <a:p xmlns:a="http://schemas.openxmlformats.org/drawingml/2006/main">
            <a:pPr>
              <a:defRPr sz="1875" b="0">
                <a:solidFill>
                  <a:srgbClr val="496071"/>
                </a:solidFill>
                <a:latin typeface="Arial"/>
                <a:ea typeface="Arial"/>
                <a:cs typeface="Arial"/>
              </a:defRPr>
            </a:pPr>
            <a:r>
              <a:rPr sz="1875" b="0">
                <a:solidFill>
                  <a:srgbClr val="496071"/>
                </a:solidFill>
                <a:latin typeface="Arial"/>
                <a:ea typeface="Arial"/>
                <a:cs typeface="Arial"/>
              </a:rPr>
              <a:t>Inputs: atmospheric model, pilot observations and assumed error covariance. The arithmetic uses the full precision arrays.</a:t>
            </a:r>
          </a:p>
        </p:txBody>
      </p:sp>
      <p:sp>
        <p:nvSpPr>
          <p:cNvPr id="3" name="">
            <a:extLst xmlns:a="http://schemas.openxmlformats.org/drawingml/2006/main">
              <a:ext uri="{FF2B5EF4-FFF2-40B4-BE49-F238E27FC236}">
                <a16:creationId xmlns:a16="http://schemas.microsoft.com/office/drawing/2014/main" id="{33D7EB96-5B19-4A26-BB67-7DAA32128D95}"/>
              </a:ext>
            </a:extLst>
          </p:cNvPr>
          <p:cNvSpPr>
            <a:spLocks xmlns:a="http://schemas.openxmlformats.org/drawingml/2006/main" noGrp="1"/>
          </p:cNvSpPr>
          <p:nvPr/>
        </p:nvSpPr>
        <p:spPr>
          <a:xfrm xmlns:a="http://schemas.openxmlformats.org/drawingml/2006/main">
            <a:off x="628650" y="1733550"/>
            <a:ext cx="6715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2025" b="1">
                <a:solidFill>
                  <a:srgbClr val="126B76"/>
                </a:solidFill>
                <a:latin typeface="Arial"/>
                <a:ea typeface="Arial"/>
                <a:cs typeface="Arial"/>
              </a:defRPr>
            </a:defPPr>
          </a:lstStyle>
          <a:p xmlns:a="http://schemas.openxmlformats.org/drawingml/2006/main">
            <a:pPr>
              <a:defRPr sz="2025" b="1">
                <a:solidFill>
                  <a:srgbClr val="126B76"/>
                </a:solidFill>
                <a:latin typeface="Arial"/>
                <a:ea typeface="Arial"/>
                <a:cs typeface="Arial"/>
              </a:defRPr>
            </a:pPr>
            <a:r>
              <a:rPr sz="2025" b="1">
                <a:solidFill>
                  <a:srgbClr val="126B76"/>
                </a:solidFill>
                <a:latin typeface="Arial"/>
                <a:ea typeface="Arial"/>
                <a:cs typeface="Arial"/>
              </a:rPr>
              <a:t>1. Build the gas template from the layers</a:t>
            </a:r>
          </a:p>
        </p:txBody>
      </p:sp>
      <p:sp>
        <p:nvSpPr>
          <p:cNvPr id="4" name="">
            <a:extLst xmlns:a="http://schemas.openxmlformats.org/drawingml/2006/main">
              <a:ext uri="{FF2B5EF4-FFF2-40B4-BE49-F238E27FC236}">
                <a16:creationId xmlns:a16="http://schemas.microsoft.com/office/drawing/2014/main" id="{12CEA929-53B6-496D-AA60-2C75C6C93C4C}"/>
              </a:ext>
            </a:extLst>
          </p:cNvPr>
          <p:cNvSpPr>
            <a:spLocks xmlns:a="http://schemas.openxmlformats.org/drawingml/2006/main" noGrp="1"/>
          </p:cNvSpPr>
          <p:nvPr/>
        </p:nvSpPr>
        <p:spPr>
          <a:xfrm xmlns:a="http://schemas.openxmlformats.org/drawingml/2006/main">
            <a:off x="628650" y="2143125"/>
            <a:ext cx="676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n₁(z) is the molecular density for q = 1 µg/m³. Sum absorption at every altitude node ℓ:</a:t>
            </a:r>
          </a:p>
        </p:txBody>
      </p:sp>
      <p:pic>
        <p:nvPicPr>
          <p:cNvPr id="5" name="">
            <a:extLst xmlns:a="http://schemas.openxmlformats.org/drawingml/2006/main">
              <a:ext uri="{FF2B5EF4-FFF2-40B4-BE49-F238E27FC236}">
                <a16:creationId xmlns:a16="http://schemas.microsoft.com/office/drawing/2014/main" id="{CFFC671A-655F-4C5B-B8EC-92904EA10A85}"/>
              </a:ext>
            </a:extLst>
          </p:cNvPr>
          <p:cNvPicPr>
            <a:picLocks xmlns:a="http://schemas.openxmlformats.org/drawingml/2006/main" noChangeAspect="1"/>
          </p:cNvPicPr>
          <p:nvPr/>
        </p:nvPicPr>
        <p:blipFill>
          <a:blip xmlns:r="http://schemas.openxmlformats.org/officeDocument/2006/relationships" xmlns:a="http://schemas.openxmlformats.org/drawingml/2006/main" r:embed="Rdaa4b520ee084f6b">
            <a:extLst>
              <a:ext uri="{96DAC541-7B7A-43D3-8B79-37D633B846F1}">
                <asvg:svgBlip xmlns:asvg="http://schemas.microsoft.com/office/drawing/2016/SVG/main" r:embed="Rc92e4fafa5a04d9c"/>
              </a:ext>
            </a:extLst>
          </a:blip>
          <a:stretch xmlns:a="http://schemas.openxmlformats.org/drawingml/2006/main"/>
        </p:blipFill>
        <p:spPr>
          <a:xfrm xmlns:a="http://schemas.openxmlformats.org/drawingml/2006/main">
            <a:off x="628650" y="2724150"/>
            <a:ext cx="4860926" cy="7048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5A97D04-CAA7-401D-9C87-A66BEED7E85D}"/>
              </a:ext>
            </a:extLst>
          </p:cNvPr>
          <p:cNvSpPr>
            <a:spLocks xmlns:a="http://schemas.openxmlformats.org/drawingml/2006/main" noGrp="1"/>
          </p:cNvSpPr>
          <p:nvPr/>
        </p:nvSpPr>
        <p:spPr>
          <a:xfrm xmlns:a="http://schemas.openxmlformats.org/drawingml/2006/main">
            <a:off x="628650" y="3467100"/>
            <a:ext cx="676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a₀ = 0.0002408199585 dB/(µg/m³).</a:t>
            </a:r>
          </a:p>
        </p:txBody>
      </p:sp>
      <p:sp>
        <p:nvSpPr>
          <p:cNvPr id="7" name="">
            <a:extLst xmlns:a="http://schemas.openxmlformats.org/drawingml/2006/main">
              <a:ext uri="{FF2B5EF4-FFF2-40B4-BE49-F238E27FC236}">
                <a16:creationId xmlns:a16="http://schemas.microsoft.com/office/drawing/2014/main" id="{89C99F2B-F295-44A1-8942-8AF0622EE10E}"/>
              </a:ext>
            </a:extLst>
          </p:cNvPr>
          <p:cNvSpPr>
            <a:spLocks xmlns:a="http://schemas.openxmlformats.org/drawingml/2006/main" noGrp="1"/>
          </p:cNvSpPr>
          <p:nvPr/>
        </p:nvSpPr>
        <p:spPr>
          <a:xfrm xmlns:a="http://schemas.openxmlformats.org/drawingml/2006/main">
            <a:off x="628650" y="3914775"/>
            <a:ext cx="6715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2025" b="1">
                <a:solidFill>
                  <a:srgbClr val="126B76"/>
                </a:solidFill>
                <a:latin typeface="Arial"/>
                <a:ea typeface="Arial"/>
                <a:cs typeface="Arial"/>
              </a:defRPr>
            </a:defPPr>
          </a:lstStyle>
          <a:p xmlns:a="http://schemas.openxmlformats.org/drawingml/2006/main">
            <a:pPr>
              <a:defRPr sz="2025" b="1">
                <a:solidFill>
                  <a:srgbClr val="126B76"/>
                </a:solidFill>
                <a:latin typeface="Arial"/>
                <a:ea typeface="Arial"/>
                <a:cs typeface="Arial"/>
              </a:defRPr>
            </a:pPr>
            <a:r>
              <a:rPr sz="2025" b="1">
                <a:solidFill>
                  <a:srgbClr val="126B76"/>
                </a:solidFill>
                <a:latin typeface="Arial"/>
                <a:ea typeface="Arial"/>
                <a:cs typeface="Arial"/>
              </a:rPr>
              <a:t>2. Form the observed loss on each tone</a:t>
            </a:r>
          </a:p>
        </p:txBody>
      </p:sp>
      <p:pic>
        <p:nvPicPr>
          <p:cNvPr id="8" name="">
            <a:extLst xmlns:a="http://schemas.openxmlformats.org/drawingml/2006/main">
              <a:ext uri="{FF2B5EF4-FFF2-40B4-BE49-F238E27FC236}">
                <a16:creationId xmlns:a16="http://schemas.microsoft.com/office/drawing/2014/main" id="{CB62910A-1C9D-4C43-BD39-03276566A4B5}"/>
              </a:ext>
            </a:extLst>
          </p:cNvPr>
          <p:cNvPicPr>
            <a:picLocks xmlns:a="http://schemas.openxmlformats.org/drawingml/2006/main" noChangeAspect="1"/>
          </p:cNvPicPr>
          <p:nvPr/>
        </p:nvPicPr>
        <p:blipFill>
          <a:blip xmlns:r="http://schemas.openxmlformats.org/officeDocument/2006/relationships" xmlns:a="http://schemas.openxmlformats.org/drawingml/2006/main" r:embed="R88f8d8b6eab24e00">
            <a:extLst>
              <a:ext uri="{96DAC541-7B7A-43D3-8B79-37D633B846F1}">
                <asvg:svgBlip xmlns:asvg="http://schemas.microsoft.com/office/drawing/2016/SVG/main" r:embed="R595ca0ca69e943da"/>
              </a:ext>
            </a:extLst>
          </a:blip>
          <a:stretch xmlns:a="http://schemas.openxmlformats.org/drawingml/2006/main"/>
        </p:blipFill>
        <p:spPr>
          <a:xfrm xmlns:a="http://schemas.openxmlformats.org/drawingml/2006/main">
            <a:off x="628650" y="4305300"/>
            <a:ext cx="5020098" cy="98107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4A7D8546-0044-4453-A17E-55DC1ED19955}"/>
              </a:ext>
            </a:extLst>
          </p:cNvPr>
          <p:cNvSpPr>
            <a:spLocks xmlns:a="http://schemas.openxmlformats.org/drawingml/2006/main" noGrp="1"/>
          </p:cNvSpPr>
          <p:nvPr/>
        </p:nvSpPr>
        <p:spPr>
          <a:xfrm xmlns:a="http://schemas.openxmlformats.org/drawingml/2006/main">
            <a:off x="628650" y="5343525"/>
            <a:ext cx="676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r = 0 reference, r = 1 sample. Add e only when simulating it. Here y₀ = −0.0004638149 dB.</a:t>
            </a:r>
          </a:p>
        </p:txBody>
      </p:sp>
      <p:sp>
        <p:nvSpPr>
          <p:cNvPr id="10" name="">
            <a:extLst xmlns:a="http://schemas.openxmlformats.org/drawingml/2006/main">
              <a:ext uri="{FF2B5EF4-FFF2-40B4-BE49-F238E27FC236}">
                <a16:creationId xmlns:a16="http://schemas.microsoft.com/office/drawing/2014/main" id="{944F634B-82E4-4624-81E0-DA31D7896149}"/>
              </a:ext>
            </a:extLst>
          </p:cNvPr>
          <p:cNvSpPr>
            <a:spLocks xmlns:a="http://schemas.openxmlformats.org/drawingml/2006/main" noGrp="1"/>
          </p:cNvSpPr>
          <p:nvPr/>
        </p:nvSpPr>
        <p:spPr>
          <a:xfrm xmlns:a="http://schemas.openxmlformats.org/drawingml/2006/main">
            <a:off x="628650" y="6010275"/>
            <a:ext cx="6715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2025" b="1">
                <a:solidFill>
                  <a:srgbClr val="126B76"/>
                </a:solidFill>
                <a:latin typeface="Arial"/>
                <a:ea typeface="Arial"/>
                <a:cs typeface="Arial"/>
              </a:defRPr>
            </a:defPPr>
          </a:lstStyle>
          <a:p xmlns:a="http://schemas.openxmlformats.org/drawingml/2006/main">
            <a:pPr>
              <a:defRPr sz="2025" b="1">
                <a:solidFill>
                  <a:srgbClr val="126B76"/>
                </a:solidFill>
                <a:latin typeface="Arial"/>
                <a:ea typeface="Arial"/>
                <a:cs typeface="Arial"/>
              </a:defRPr>
            </a:pPr>
            <a:r>
              <a:rPr sz="2025" b="1">
                <a:solidFill>
                  <a:srgbClr val="126B76"/>
                </a:solidFill>
                <a:latin typeface="Arial"/>
                <a:ea typeface="Arial"/>
                <a:cs typeface="Arial"/>
              </a:rPr>
              <a:t>3. Compress 1,024 observations into G and g</a:t>
            </a:r>
          </a:p>
        </p:txBody>
      </p:sp>
      <p:pic>
        <p:nvPicPr>
          <p:cNvPr id="11" name="">
            <a:extLst xmlns:a="http://schemas.openxmlformats.org/drawingml/2006/main">
              <a:ext uri="{FF2B5EF4-FFF2-40B4-BE49-F238E27FC236}">
                <a16:creationId xmlns:a16="http://schemas.microsoft.com/office/drawing/2014/main" id="{12E48216-8223-4721-8B39-197861B1A168}"/>
              </a:ext>
            </a:extLst>
          </p:cNvPr>
          <p:cNvPicPr>
            <a:picLocks xmlns:a="http://schemas.openxmlformats.org/drawingml/2006/main" noChangeAspect="1"/>
          </p:cNvPicPr>
          <p:nvPr/>
        </p:nvPicPr>
        <p:blipFill>
          <a:blip xmlns:r="http://schemas.openxmlformats.org/officeDocument/2006/relationships" xmlns:a="http://schemas.openxmlformats.org/drawingml/2006/main" r:embed="R0d76a68f46684f05">
            <a:extLst>
              <a:ext uri="{96DAC541-7B7A-43D3-8B79-37D633B846F1}">
                <asvg:svgBlip xmlns:asvg="http://schemas.microsoft.com/office/drawing/2016/SVG/main" r:embed="Rea664ee3c3bf446f"/>
              </a:ext>
            </a:extLst>
          </a:blip>
          <a:stretch xmlns:a="http://schemas.openxmlformats.org/drawingml/2006/main"/>
        </p:blipFill>
        <p:spPr>
          <a:xfrm xmlns:a="http://schemas.openxmlformats.org/drawingml/2006/main">
            <a:off x="628650" y="6381750"/>
            <a:ext cx="4171464" cy="8191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D60CAE13-FB27-435E-A44C-D8837F81333D}"/>
              </a:ext>
            </a:extLst>
          </p:cNvPr>
          <p:cNvSpPr>
            <a:spLocks xmlns:a="http://schemas.openxmlformats.org/drawingml/2006/main" noGrp="1"/>
          </p:cNvSpPr>
          <p:nvPr/>
        </p:nvSpPr>
        <p:spPr>
          <a:xfrm xmlns:a="http://schemas.openxmlformats.org/drawingml/2006/main">
            <a:off x="628650" y="7200900"/>
            <a:ext cx="676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10" b="0">
                <a:solidFill>
                  <a:srgbClr val="153246"/>
                </a:solidFill>
                <a:latin typeface="Arial"/>
                <a:ea typeface="Arial"/>
                <a:cs typeface="Arial"/>
              </a:defRPr>
            </a:defPPr>
          </a:lstStyle>
          <a:p xmlns:a="http://schemas.openxmlformats.org/drawingml/2006/main">
            <a:pPr>
              <a:defRPr sz="1710" b="0">
                <a:solidFill>
                  <a:srgbClr val="153246"/>
                </a:solidFill>
                <a:latin typeface="Arial"/>
                <a:ea typeface="Arial"/>
                <a:cs typeface="Arial"/>
              </a:defRPr>
            </a:pPr>
            <a:r>
              <a:rPr sz="1710" b="0">
                <a:solidFill>
                  <a:srgbClr val="153246"/>
                </a:solidFill>
                <a:latin typeface="Arial"/>
                <a:ea typeface="Arial"/>
                <a:cs typeface="Arial"/>
              </a:rPr>
              <a:t>uₖ = (fₖ − mean f)/(max f − min f). G is 3 × 3.</a:t>
            </a:r>
          </a:p>
        </p:txBody>
      </p:sp>
      <p:sp>
        <p:nvSpPr>
          <p:cNvPr id="13" name="">
            <a:extLst xmlns:a="http://schemas.openxmlformats.org/drawingml/2006/main">
              <a:ext uri="{FF2B5EF4-FFF2-40B4-BE49-F238E27FC236}">
                <a16:creationId xmlns:a16="http://schemas.microsoft.com/office/drawing/2014/main" id="{0369739D-2070-4829-B83E-DD70892AC848}"/>
              </a:ext>
            </a:extLst>
          </p:cNvPr>
          <p:cNvSpPr>
            <a:spLocks xmlns:a="http://schemas.openxmlformats.org/drawingml/2006/main" noGrp="1"/>
          </p:cNvSpPr>
          <p:nvPr/>
        </p:nvSpPr>
        <p:spPr>
          <a:xfrm xmlns:a="http://schemas.openxmlformats.org/drawingml/2006/main">
            <a:off x="7905750" y="1733550"/>
            <a:ext cx="6715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2025" b="1">
                <a:solidFill>
                  <a:srgbClr val="126B76"/>
                </a:solidFill>
                <a:latin typeface="Arial"/>
                <a:ea typeface="Arial"/>
                <a:cs typeface="Arial"/>
              </a:defRPr>
            </a:defPPr>
          </a:lstStyle>
          <a:p xmlns:a="http://schemas.openxmlformats.org/drawingml/2006/main">
            <a:pPr>
              <a:defRPr sz="2025" b="1">
                <a:solidFill>
                  <a:srgbClr val="126B76"/>
                </a:solidFill>
                <a:latin typeface="Arial"/>
                <a:ea typeface="Arial"/>
                <a:cs typeface="Arial"/>
              </a:defRPr>
            </a:pPr>
            <a:r>
              <a:rPr sz="2025" b="1">
                <a:solidFill>
                  <a:srgbClr val="126B76"/>
                </a:solidFill>
                <a:latin typeface="Arial"/>
                <a:ea typeface="Arial"/>
                <a:cs typeface="Arial"/>
              </a:rPr>
              <a:t>4. Eliminate the two gain parameters</a:t>
            </a:r>
          </a:p>
        </p:txBody>
      </p:sp>
      <p:sp>
        <p:nvSpPr>
          <p:cNvPr id="14" name="">
            <a:extLst xmlns:a="http://schemas.openxmlformats.org/drawingml/2006/main">
              <a:ext uri="{FF2B5EF4-FFF2-40B4-BE49-F238E27FC236}">
                <a16:creationId xmlns:a16="http://schemas.microsoft.com/office/drawing/2014/main" id="{7C55F152-4D11-4CCD-AF75-4321C38685F9}"/>
              </a:ext>
            </a:extLst>
          </p:cNvPr>
          <p:cNvSpPr>
            <a:spLocks xmlns:a="http://schemas.openxmlformats.org/drawingml/2006/main" noGrp="1"/>
          </p:cNvSpPr>
          <p:nvPr/>
        </p:nvSpPr>
        <p:spPr>
          <a:xfrm xmlns:a="http://schemas.openxmlformats.org/drawingml/2006/main">
            <a:off x="7905750" y="2143125"/>
            <a:ext cx="6705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Partition G and g into q and b = [b₀, b₁]ᵀ:</a:t>
            </a:r>
          </a:p>
        </p:txBody>
      </p:sp>
      <p:pic>
        <p:nvPicPr>
          <p:cNvPr id="15" name="">
            <a:extLst xmlns:a="http://schemas.openxmlformats.org/drawingml/2006/main">
              <a:ext uri="{FF2B5EF4-FFF2-40B4-BE49-F238E27FC236}">
                <a16:creationId xmlns:a16="http://schemas.microsoft.com/office/drawing/2014/main" id="{B3D51225-C232-42BE-93F8-62DC6DF781A0}"/>
              </a:ext>
            </a:extLst>
          </p:cNvPr>
          <p:cNvPicPr>
            <a:picLocks xmlns:a="http://schemas.openxmlformats.org/drawingml/2006/main" noChangeAspect="1"/>
          </p:cNvPicPr>
          <p:nvPr/>
        </p:nvPicPr>
        <p:blipFill>
          <a:blip xmlns:r="http://schemas.openxmlformats.org/officeDocument/2006/relationships" xmlns:a="http://schemas.openxmlformats.org/drawingml/2006/main" r:embed="R4125cc62ef7f4ed5">
            <a:extLst>
              <a:ext uri="{96DAC541-7B7A-43D3-8B79-37D633B846F1}">
                <asvg:svgBlip xmlns:asvg="http://schemas.microsoft.com/office/drawing/2016/SVG/main" r:embed="R6568b30338a94019"/>
              </a:ext>
            </a:extLst>
          </a:blip>
          <a:stretch xmlns:a="http://schemas.openxmlformats.org/drawingml/2006/main"/>
        </p:blipFill>
        <p:spPr>
          <a:xfrm xmlns:a="http://schemas.openxmlformats.org/drawingml/2006/main">
            <a:off x="7905750" y="2495550"/>
            <a:ext cx="2431532" cy="866775"/>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5B23D6FE-3CB9-481C-A985-48365B0DBD3E}"/>
              </a:ext>
            </a:extLst>
          </p:cNvPr>
          <p:cNvSpPr>
            <a:spLocks xmlns:a="http://schemas.openxmlformats.org/drawingml/2006/main" noGrp="1"/>
          </p:cNvSpPr>
          <p:nvPr/>
        </p:nvSpPr>
        <p:spPr>
          <a:xfrm xmlns:a="http://schemas.openxmlformats.org/drawingml/2006/main">
            <a:off x="7905750" y="3429000"/>
            <a:ext cx="6705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Iq = 0.3013440205 − 0.2951744347 = 0.0061695858</a:t>
            </a:r>
          </a:p>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tq = 15.0662651908 − 14.8230312721 = 0.2432339187</a:t>
            </a:r>
          </a:p>
        </p:txBody>
      </p:sp>
      <p:sp>
        <p:nvSpPr>
          <p:cNvPr id="17" name="">
            <a:extLst xmlns:a="http://schemas.openxmlformats.org/drawingml/2006/main">
              <a:ext uri="{FF2B5EF4-FFF2-40B4-BE49-F238E27FC236}">
                <a16:creationId xmlns:a16="http://schemas.microsoft.com/office/drawing/2014/main" id="{7450878B-F4D7-4296-B960-080B793E5266}"/>
              </a:ext>
            </a:extLst>
          </p:cNvPr>
          <p:cNvSpPr>
            <a:spLocks xmlns:a="http://schemas.openxmlformats.org/drawingml/2006/main" noGrp="1"/>
          </p:cNvSpPr>
          <p:nvPr/>
        </p:nvSpPr>
        <p:spPr>
          <a:xfrm xmlns:a="http://schemas.openxmlformats.org/drawingml/2006/main">
            <a:off x="7905750" y="4181475"/>
            <a:ext cx="6715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2025" b="1">
                <a:solidFill>
                  <a:srgbClr val="126B76"/>
                </a:solidFill>
                <a:latin typeface="Arial"/>
                <a:ea typeface="Arial"/>
                <a:cs typeface="Arial"/>
              </a:defRPr>
            </a:defPPr>
          </a:lstStyle>
          <a:p xmlns:a="http://schemas.openxmlformats.org/drawingml/2006/main">
            <a:pPr>
              <a:defRPr sz="2025" b="1">
                <a:solidFill>
                  <a:srgbClr val="126B76"/>
                </a:solidFill>
                <a:latin typeface="Arial"/>
                <a:ea typeface="Arial"/>
                <a:cs typeface="Arial"/>
              </a:defRPr>
            </a:pPr>
            <a:r>
              <a:rPr sz="2025" b="1">
                <a:solidFill>
                  <a:srgbClr val="126B76"/>
                </a:solidFill>
                <a:latin typeface="Arial"/>
                <a:ea typeface="Arial"/>
                <a:cs typeface="Arial"/>
              </a:rPr>
              <a:t>5. Compute concentration and uncertainty</a:t>
            </a:r>
          </a:p>
        </p:txBody>
      </p:sp>
      <p:pic>
        <p:nvPicPr>
          <p:cNvPr id="18" name="">
            <a:extLst xmlns:a="http://schemas.openxmlformats.org/drawingml/2006/main">
              <a:ext uri="{FF2B5EF4-FFF2-40B4-BE49-F238E27FC236}">
                <a16:creationId xmlns:a16="http://schemas.microsoft.com/office/drawing/2014/main" id="{10A1C7AD-314B-4B7A-B52D-1A916793A222}"/>
              </a:ext>
            </a:extLst>
          </p:cNvPr>
          <p:cNvPicPr>
            <a:picLocks xmlns:a="http://schemas.openxmlformats.org/drawingml/2006/main" noChangeAspect="1"/>
          </p:cNvPicPr>
          <p:nvPr/>
        </p:nvPicPr>
        <p:blipFill>
          <a:blip xmlns:r="http://schemas.openxmlformats.org/officeDocument/2006/relationships" xmlns:a="http://schemas.openxmlformats.org/drawingml/2006/main" r:embed="R3cf11674bd0b4ac8">
            <a:extLst>
              <a:ext uri="{96DAC541-7B7A-43D3-8B79-37D633B846F1}">
                <asvg:svgBlip xmlns:asvg="http://schemas.microsoft.com/office/drawing/2016/SVG/main" r:embed="R2b2a93c6e3e74753"/>
              </a:ext>
            </a:extLst>
          </a:blip>
          <a:stretch xmlns:a="http://schemas.openxmlformats.org/drawingml/2006/main"/>
        </p:blipFill>
        <p:spPr>
          <a:xfrm xmlns:a="http://schemas.openxmlformats.org/drawingml/2006/main">
            <a:off x="7905750" y="4581525"/>
            <a:ext cx="3731907" cy="895350"/>
          </a:xfrm>
          <a:prstGeom xmlns:a="http://schemas.openxmlformats.org/drawingml/2006/main" prst="rect">
            <a:avLst/>
          </a:prstGeom>
        </p:spPr>
      </p:pic>
      <p:sp>
        <p:nvSpPr>
          <p:cNvPr id="19" name="">
            <a:extLst xmlns:a="http://schemas.openxmlformats.org/drawingml/2006/main">
              <a:ext uri="{FF2B5EF4-FFF2-40B4-BE49-F238E27FC236}">
                <a16:creationId xmlns:a16="http://schemas.microsoft.com/office/drawing/2014/main" id="{1259B3E9-175E-4939-A615-19B0C4EDA309}"/>
              </a:ext>
            </a:extLst>
          </p:cNvPr>
          <p:cNvSpPr>
            <a:spLocks xmlns:a="http://schemas.openxmlformats.org/drawingml/2006/main" noGrp="1"/>
          </p:cNvSpPr>
          <p:nvPr/>
        </p:nvSpPr>
        <p:spPr>
          <a:xfrm xmlns:a="http://schemas.openxmlformats.org/drawingml/2006/main">
            <a:off x="7905750" y="5524500"/>
            <a:ext cx="6705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s₀ is the standard deviation when q = 0.</a:t>
            </a:r>
          </a:p>
        </p:txBody>
      </p:sp>
      <p:sp>
        <p:nvSpPr>
          <p:cNvPr id="20" name="">
            <a:extLst xmlns:a="http://schemas.openxmlformats.org/drawingml/2006/main">
              <a:ext uri="{FF2B5EF4-FFF2-40B4-BE49-F238E27FC236}">
                <a16:creationId xmlns:a16="http://schemas.microsoft.com/office/drawing/2014/main" id="{91B3D796-F7BF-400D-A9C5-6E3C56E09F92}"/>
              </a:ext>
            </a:extLst>
          </p:cNvPr>
          <p:cNvSpPr>
            <a:spLocks xmlns:a="http://schemas.openxmlformats.org/drawingml/2006/main" noGrp="1"/>
          </p:cNvSpPr>
          <p:nvPr/>
        </p:nvSpPr>
        <p:spPr>
          <a:xfrm xmlns:a="http://schemas.openxmlformats.org/drawingml/2006/main">
            <a:off x="7905750" y="6010275"/>
            <a:ext cx="6715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2025" b="1">
                <a:solidFill>
                  <a:srgbClr val="126B76"/>
                </a:solidFill>
                <a:latin typeface="Arial"/>
                <a:ea typeface="Arial"/>
                <a:cs typeface="Arial"/>
              </a:defRPr>
            </a:defPPr>
          </a:lstStyle>
          <a:p xmlns:a="http://schemas.openxmlformats.org/drawingml/2006/main">
            <a:pPr>
              <a:defRPr sz="2025" b="1">
                <a:solidFill>
                  <a:srgbClr val="126B76"/>
                </a:solidFill>
                <a:latin typeface="Arial"/>
                <a:ea typeface="Arial"/>
                <a:cs typeface="Arial"/>
              </a:defRPr>
            </a:pPr>
            <a:r>
              <a:rPr sz="2025" b="1">
                <a:solidFill>
                  <a:srgbClr val="126B76"/>
                </a:solidFill>
                <a:latin typeface="Arial"/>
                <a:ea typeface="Arial"/>
                <a:cs typeface="Arial"/>
              </a:rPr>
              <a:t>6. Compare with the detection threshold</a:t>
            </a:r>
          </a:p>
        </p:txBody>
      </p:sp>
      <p:pic>
        <p:nvPicPr>
          <p:cNvPr id="21" name="">
            <a:extLst xmlns:a="http://schemas.openxmlformats.org/drawingml/2006/main">
              <a:ext uri="{FF2B5EF4-FFF2-40B4-BE49-F238E27FC236}">
                <a16:creationId xmlns:a16="http://schemas.microsoft.com/office/drawing/2014/main" id="{FA9623F4-9D09-4FB9-8718-E8722E85E7E6}"/>
              </a:ext>
            </a:extLst>
          </p:cNvPr>
          <p:cNvPicPr>
            <a:picLocks xmlns:a="http://schemas.openxmlformats.org/drawingml/2006/main" noChangeAspect="1"/>
          </p:cNvPicPr>
          <p:nvPr/>
        </p:nvPicPr>
        <p:blipFill>
          <a:blip xmlns:r="http://schemas.openxmlformats.org/officeDocument/2006/relationships" xmlns:a="http://schemas.openxmlformats.org/drawingml/2006/main" r:embed="Rfb3bad5be2b74b64">
            <a:extLst>
              <a:ext uri="{96DAC541-7B7A-43D3-8B79-37D633B846F1}">
                <asvg:svgBlip xmlns:asvg="http://schemas.microsoft.com/office/drawing/2016/SVG/main" r:embed="R3843a3b016624cac"/>
              </a:ext>
            </a:extLst>
          </a:blip>
          <a:stretch xmlns:a="http://schemas.openxmlformats.org/drawingml/2006/main"/>
        </p:blipFill>
        <p:spPr>
          <a:xfrm xmlns:a="http://schemas.openxmlformats.org/drawingml/2006/main">
            <a:off x="7905750" y="6381750"/>
            <a:ext cx="3556860" cy="838200"/>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8CFA1132-06E6-4BD2-846D-77036C26EDBB}"/>
              </a:ext>
            </a:extLst>
          </p:cNvPr>
          <p:cNvSpPr>
            <a:spLocks xmlns:a="http://schemas.openxmlformats.org/drawingml/2006/main" noGrp="1"/>
          </p:cNvSpPr>
          <p:nvPr/>
        </p:nvSpPr>
        <p:spPr>
          <a:xfrm xmlns:a="http://schemas.openxmlformats.org/drawingml/2006/main">
            <a:off x="7905750" y="7200900"/>
            <a:ext cx="6705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10" b="0">
                <a:solidFill>
                  <a:srgbClr val="153246"/>
                </a:solidFill>
                <a:latin typeface="Arial"/>
                <a:ea typeface="Arial"/>
                <a:cs typeface="Arial"/>
              </a:defRPr>
            </a:defPPr>
          </a:lstStyle>
          <a:p xmlns:a="http://schemas.openxmlformats.org/drawingml/2006/main">
            <a:pPr>
              <a:defRPr sz="1710" b="0">
                <a:solidFill>
                  <a:srgbClr val="153246"/>
                </a:solidFill>
                <a:latin typeface="Arial"/>
                <a:ea typeface="Arial"/>
                <a:cs typeface="Arial"/>
              </a:defRPr>
            </a:pPr>
            <a:r>
              <a:rPr sz="1710" b="0">
                <a:solidFill>
                  <a:srgbClr val="153246"/>
                </a:solidFill>
                <a:latin typeface="Arial"/>
                <a:ea typeface="Arial"/>
                <a:cs typeface="Arial"/>
              </a:rPr>
              <a:t>Φ is the standard normal cumulative distribution.</a:t>
            </a:r>
          </a:p>
        </p:txBody>
      </p:sp>
      <p:sp>
        <p:nvSpPr>
          <p:cNvPr id="23" name="">
            <a:extLst xmlns:a="http://schemas.openxmlformats.org/drawingml/2006/main">
              <a:ext uri="{FF2B5EF4-FFF2-40B4-BE49-F238E27FC236}">
                <a16:creationId xmlns:a16="http://schemas.microsoft.com/office/drawing/2014/main" id="{8BED09C4-7F74-4230-99EA-0E379745E88B}"/>
              </a:ext>
            </a:extLst>
          </p:cNvPr>
          <p:cNvSpPr>
            <a:spLocks xmlns:a="http://schemas.openxmlformats.org/drawingml/2006/main" noGrp="1"/>
          </p:cNvSpPr>
          <p:nvPr/>
        </p:nvSpPr>
        <p:spPr>
          <a:xfrm xmlns:a="http://schemas.openxmlformats.org/drawingml/2006/main">
            <a:off x="628650" y="7486650"/>
            <a:ext cx="13982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463" b="0">
                <a:solidFill>
                  <a:srgbClr val="9F3343"/>
                </a:solidFill>
                <a:latin typeface="Arial"/>
                <a:ea typeface="Arial"/>
                <a:cs typeface="Arial"/>
              </a:defRPr>
            </a:defPPr>
          </a:lstStyle>
          <a:p xmlns:a="http://schemas.openxmlformats.org/drawingml/2006/main">
            <a:pPr>
              <a:defRPr sz="1463" b="0">
                <a:solidFill>
                  <a:srgbClr val="9F3343"/>
                </a:solidFill>
                <a:latin typeface="Arial"/>
                <a:ea typeface="Arial"/>
                <a:cs typeface="Arial"/>
              </a:defRPr>
            </a:pPr>
            <a:r>
              <a:rPr sz="1463" b="0">
                <a:solidFill>
                  <a:srgbClr val="9F3343"/>
                </a:solidFill>
                <a:latin typeface="Arial"/>
                <a:ea typeface="Arial"/>
                <a:cs typeface="Arial"/>
              </a:rPr>
              <a:t>Conditional example: ideal tracking, matched background, 20 s total and an assumed, unmeasured 0.001 dB calibration residual.</a:t>
            </a:r>
          </a:p>
          <a:p xmlns:a="http://schemas.openxmlformats.org/drawingml/2006/main">
            <a:pPr>
              <a:defRPr sz="1463" b="0">
                <a:solidFill>
                  <a:srgbClr val="9F3343"/>
                </a:solidFill>
                <a:latin typeface="Arial"/>
                <a:ea typeface="Arial"/>
                <a:cs typeface="Arial"/>
              </a:defRPr>
            </a:pPr>
            <a:r>
              <a:rPr sz="1463" b="0">
                <a:solidFill>
                  <a:srgbClr val="9F3343"/>
                </a:solidFill>
                <a:latin typeface="Arial"/>
                <a:ea typeface="Arial"/>
                <a:cs typeface="Arial"/>
              </a:rPr>
              <a:t>The 1% threshold applies to this prespecified compound and the stated error model.</a:t>
            </a:r>
          </a:p>
        </p:txBody>
      </p:sp>
      <p:sp>
        <p:nvSpPr>
          <p:cNvPr id="24" name="">
            <a:extLst xmlns:a="http://schemas.openxmlformats.org/drawingml/2006/main">
              <a:ext uri="{FF2B5EF4-FFF2-40B4-BE49-F238E27FC236}">
                <a16:creationId xmlns:a16="http://schemas.microsoft.com/office/drawing/2014/main" id="{73D0DE60-C6DA-425E-A6B3-CBCF72AC6897}"/>
              </a:ext>
            </a:extLst>
          </p:cNvPr>
          <p:cNvSpPr>
            <a:spLocks xmlns:a="http://schemas.openxmlformats.org/drawingml/2006/main" noGrp="1"/>
          </p:cNvSpPr>
          <p:nvPr/>
        </p:nvSpPr>
        <p:spPr>
          <a:xfrm xmlns:a="http://schemas.openxmlformats.org/drawingml/2006/main">
            <a:off x="628650" y="8153400"/>
            <a:ext cx="781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Sources</a:t>
            </a:r>
          </a:p>
        </p:txBody>
      </p:sp>
      <p:sp>
        <p:nvSpPr>
          <p:cNvPr id="25" name="">
            <a:extLst xmlns:a="http://schemas.openxmlformats.org/drawingml/2006/main">
              <a:ext uri="{FF2B5EF4-FFF2-40B4-BE49-F238E27FC236}">
                <a16:creationId xmlns:a16="http://schemas.microsoft.com/office/drawing/2014/main" id="{3AAC6D77-ECEA-4240-9A3E-9CB3CD924002}"/>
              </a:ext>
            </a:extLst>
          </p:cNvPr>
          <p:cNvSpPr>
            <a:spLocks xmlns:a="http://schemas.openxmlformats.org/drawingml/2006/main" noGrp="1"/>
          </p:cNvSpPr>
          <p:nvPr/>
        </p:nvSpPr>
        <p:spPr>
          <a:xfrm xmlns:a="http://schemas.openxmlformats.org/drawingml/2006/main">
            <a:off x="1476375" y="8153400"/>
            <a:ext cx="3860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Numerical steps</a:t>
            </a:r>
          </a:p>
        </p:txBody>
      </p:sp>
      <p:sp>
        <p:nvSpPr>
          <p:cNvPr id="26" name="">
            <a:extLst xmlns:a="http://schemas.openxmlformats.org/drawingml/2006/main">
              <a:ext uri="{FF2B5EF4-FFF2-40B4-BE49-F238E27FC236}">
                <a16:creationId xmlns:a16="http://schemas.microsoft.com/office/drawing/2014/main" id="{42E6555A-4BA6-4253-9943-8BB3181E843A}"/>
              </a:ext>
            </a:extLst>
          </p:cNvPr>
          <p:cNvSpPr>
            <a:spLocks xmlns:a="http://schemas.openxmlformats.org/drawingml/2006/main" noGrp="1"/>
          </p:cNvSpPr>
          <p:nvPr/>
        </p:nvSpPr>
        <p:spPr>
          <a:xfrm xmlns:a="http://schemas.openxmlformats.org/drawingml/2006/main">
            <a:off x="5413375" y="8153400"/>
            <a:ext cx="3860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Observations</a:t>
            </a:r>
          </a:p>
        </p:txBody>
      </p:sp>
      <p:sp>
        <p:nvSpPr>
          <p:cNvPr id="27" name="">
            <a:extLst xmlns:a="http://schemas.openxmlformats.org/drawingml/2006/main">
              <a:ext uri="{FF2B5EF4-FFF2-40B4-BE49-F238E27FC236}">
                <a16:creationId xmlns:a16="http://schemas.microsoft.com/office/drawing/2014/main" id="{1FDFDF65-C3B7-4A3C-A0BB-2AAA3E935711}"/>
              </a:ext>
            </a:extLst>
          </p:cNvPr>
          <p:cNvSpPr>
            <a:spLocks xmlns:a="http://schemas.openxmlformats.org/drawingml/2006/main" noGrp="1"/>
          </p:cNvSpPr>
          <p:nvPr/>
        </p:nvSpPr>
        <p:spPr>
          <a:xfrm xmlns:a="http://schemas.openxmlformats.org/drawingml/2006/main">
            <a:off x="9350375" y="8153400"/>
            <a:ext cx="3860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Matrices</a:t>
            </a:r>
          </a:p>
        </p:txBody>
      </p:sp>
      <p:sp>
        <p:nvSpPr>
          <p:cNvPr id="28" name="">
            <a:extLst xmlns:a="http://schemas.openxmlformats.org/drawingml/2006/main">
              <a:ext uri="{FF2B5EF4-FFF2-40B4-BE49-F238E27FC236}">
                <a16:creationId xmlns:a16="http://schemas.microsoft.com/office/drawing/2014/main" id="{6E6989A7-EC0C-4F1B-A402-7CED631E2C02}"/>
              </a:ext>
            </a:extLst>
          </p:cNvPr>
          <p:cNvSpPr>
            <a:spLocks xmlns:a="http://schemas.openxmlformats.org/drawingml/2006/main" noGrp="1"/>
          </p:cNvSpPr>
          <p:nvPr/>
        </p:nvSpPr>
        <p:spPr>
          <a:xfrm xmlns:a="http://schemas.openxmlformats.org/drawingml/2006/main">
            <a:off x="13982700" y="8115300"/>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500" b="0">
                <a:solidFill>
                  <a:srgbClr val="496071"/>
                </a:solidFill>
                <a:latin typeface="Arial"/>
                <a:ea typeface="Arial"/>
                <a:cs typeface="Arial"/>
              </a:defRPr>
            </a:defPPr>
          </a:lstStyle>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7/7</a:t>
            </a:r>
          </a:p>
        </p:txBody>
      </p:sp>
    </p:spTree>
    <p:extLst>
      <p:ext uri="{BB962C8B-B14F-4D97-AF65-F5344CB8AC3E}">
        <p14:creationId xmlns:p14="http://schemas.microsoft.com/office/powerpoint/2010/main" val="117274344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2026-10-08T11:25:04.5110000Z</dcterms:created>
  <dcterms:modified xsi:type="dcterms:W3CDTF">2026-10-08T11:25:04.5120000Z</dcterms:modified>
</coreProperties>
</file>