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e1e0942609c4957" /><Relationship Type="http://schemas.openxmlformats.org/officeDocument/2006/relationships/extended-properties" Target="/docProps/app.xml" Id="R24695c301a324b04" /><Relationship Type="http://schemas.openxmlformats.org/officeDocument/2006/relationships/officeDocument" Target="/ppt/presentation.xml" Id="R0a42fa7a22ca465c" /></Relationships>
</file>

<file path=ppt/presentation.xml><?xml version="1.0" encoding="utf-8"?>
<p:presentation xmlns:p="http://schemas.openxmlformats.org/presentationml/2006/main">
  <p:sldMasterIdLst>
    <p:sldMasterId xmlns:r="http://schemas.openxmlformats.org/officeDocument/2006/relationships" id="2147483648" r:id="Re33b756192854672"/>
  </p:sldMasterIdLst>
  <p:notesMasterIdLst>
    <p:notesMasterId xmlns:r="http://schemas.openxmlformats.org/officeDocument/2006/relationships" r:id="R752a7daf14504d51"/>
  </p:notesMasterIdLst>
  <p:sldIdLst>
    <p:sldId xmlns:r="http://schemas.openxmlformats.org/officeDocument/2006/relationships" id="256" r:id="Rbbf1c4adb6e04060"/>
    <p:sldId xmlns:r="http://schemas.openxmlformats.org/officeDocument/2006/relationships" id="257" r:id="R87b2e9d951084c8e"/>
    <p:sldId xmlns:r="http://schemas.openxmlformats.org/officeDocument/2006/relationships" id="258" r:id="R6623ae05100146e5"/>
    <p:sldId xmlns:r="http://schemas.openxmlformats.org/officeDocument/2006/relationships" id="259" r:id="Rcd742303145f41c4"/>
    <p:sldId xmlns:r="http://schemas.openxmlformats.org/officeDocument/2006/relationships" id="260" r:id="R2b607decc8de47ab"/>
    <p:sldId xmlns:r="http://schemas.openxmlformats.org/officeDocument/2006/relationships" id="261" r:id="R2e0bd79d6b7b4f4f"/>
    <p:sldId xmlns:r="http://schemas.openxmlformats.org/officeDocument/2006/relationships" id="262" r:id="R741eda90090c4ec8"/>
    <p:sldId xmlns:r="http://schemas.openxmlformats.org/officeDocument/2006/relationships" id="263" r:id="R34443e8f779b4769"/>
    <p:sldId xmlns:r="http://schemas.openxmlformats.org/officeDocument/2006/relationships" id="264" r:id="R4e5be54f25e24e60"/>
    <p:sldId xmlns:r="http://schemas.openxmlformats.org/officeDocument/2006/relationships" id="265" r:id="R86b706e9ed754000"/>
    <p:sldId xmlns:r="http://schemas.openxmlformats.org/officeDocument/2006/relationships" id="266" r:id="Rca397319665e48fc"/>
    <p:sldId xmlns:r="http://schemas.openxmlformats.org/officeDocument/2006/relationships" id="267" r:id="R7856dab62ff8478e"/>
    <p:sldId xmlns:r="http://schemas.openxmlformats.org/officeDocument/2006/relationships" id="268" r:id="Rb5c5593346324b4a"/>
    <p:sldId xmlns:r="http://schemas.openxmlformats.org/officeDocument/2006/relationships" id="269" r:id="Raeaef1f71e8540df"/>
    <p:sldId xmlns:r="http://schemas.openxmlformats.org/officeDocument/2006/relationships" id="270" r:id="Rcd042b04774348c5"/>
    <p:sldId xmlns:r="http://schemas.openxmlformats.org/officeDocument/2006/relationships" id="271" r:id="R0ff65a4eb7df4f54"/>
    <p:sldId xmlns:r="http://schemas.openxmlformats.org/officeDocument/2006/relationships" id="272" r:id="R00bd4cab81594ef3"/>
    <p:sldId xmlns:r="http://schemas.openxmlformats.org/officeDocument/2006/relationships" id="273" r:id="R383fae8d69604f9a"/>
    <p:sldId xmlns:r="http://schemas.openxmlformats.org/officeDocument/2006/relationships" id="274" r:id="Ra4326d8112954718"/>
    <p:sldId xmlns:r="http://schemas.openxmlformats.org/officeDocument/2006/relationships" id="275" r:id="R76909eb327554de2"/>
    <p:sldId xmlns:r="http://schemas.openxmlformats.org/officeDocument/2006/relationships" id="276" r:id="R78a48b878c524a15"/>
    <p:sldId xmlns:r="http://schemas.openxmlformats.org/officeDocument/2006/relationships" id="277" r:id="Rc6fdbdacded94bee"/>
    <p:sldId xmlns:r="http://schemas.openxmlformats.org/officeDocument/2006/relationships" id="278" r:id="Refbdf177fba84994"/>
    <p:sldId xmlns:r="http://schemas.openxmlformats.org/officeDocument/2006/relationships" id="279" r:id="R6ae66a2e482f43b7"/>
    <p:sldId xmlns:r="http://schemas.openxmlformats.org/officeDocument/2006/relationships" id="280" r:id="R9486b03d9de04de4"/>
    <p:sldId xmlns:r="http://schemas.openxmlformats.org/officeDocument/2006/relationships" id="281" r:id="Rded20acf70b241bd"/>
    <p:sldId xmlns:r="http://schemas.openxmlformats.org/officeDocument/2006/relationships" id="282" r:id="Rc6d37e429cb74920"/>
    <p:sldId xmlns:r="http://schemas.openxmlformats.org/officeDocument/2006/relationships" id="283" r:id="R716d0d58354a4247"/>
    <p:sldId xmlns:r="http://schemas.openxmlformats.org/officeDocument/2006/relationships" id="284" r:id="Rb0b0d96358fb4b25"/>
    <p:sldId xmlns:r="http://schemas.openxmlformats.org/officeDocument/2006/relationships" id="285" r:id="Reeca2c36dd934031"/>
    <p:sldId xmlns:r="http://schemas.openxmlformats.org/officeDocument/2006/relationships" id="286" r:id="Rb4000f17bc6c404c"/>
    <p:sldId xmlns:r="http://schemas.openxmlformats.org/officeDocument/2006/relationships" id="287" r:id="R61efdc42663f4ad0"/>
    <p:sldId xmlns:r="http://schemas.openxmlformats.org/officeDocument/2006/relationships" id="288" r:id="Raf737491b9e14a9d"/>
    <p:sldId xmlns:r="http://schemas.openxmlformats.org/officeDocument/2006/relationships" id="289" r:id="R554b260ec72c4401"/>
    <p:sldId xmlns:r="http://schemas.openxmlformats.org/officeDocument/2006/relationships" id="290" r:id="Rb5b9b341b9a149be"/>
    <p:sldId xmlns:r="http://schemas.openxmlformats.org/officeDocument/2006/relationships" id="291" r:id="Rc70437367d964d8d"/>
    <p:sldId xmlns:r="http://schemas.openxmlformats.org/officeDocument/2006/relationships" id="292" r:id="Re36a9709ef5645b9"/>
    <p:sldId xmlns:r="http://schemas.openxmlformats.org/officeDocument/2006/relationships" id="293" r:id="R7195e427260a4aae"/>
    <p:sldId xmlns:r="http://schemas.openxmlformats.org/officeDocument/2006/relationships" id="294" r:id="Red8990144f7a4456"/>
    <p:sldId xmlns:r="http://schemas.openxmlformats.org/officeDocument/2006/relationships" id="295" r:id="R0a7325f054df421f"/>
    <p:sldId xmlns:r="http://schemas.openxmlformats.org/officeDocument/2006/relationships" id="296" r:id="R7faa9ee5b06f4c1a"/>
    <p:sldId xmlns:r="http://schemas.openxmlformats.org/officeDocument/2006/relationships" id="297" r:id="R5cadeed7a9df4808"/>
    <p:sldId xmlns:r="http://schemas.openxmlformats.org/officeDocument/2006/relationships" id="298" r:id="R3e1ed8abcaba42ad"/>
    <p:sldId xmlns:r="http://schemas.openxmlformats.org/officeDocument/2006/relationships" id="299" r:id="R8b84a909ba5a4e5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a67addad55418a" /><Relationship Type="http://schemas.openxmlformats.org/officeDocument/2006/relationships/slideMaster" Target="/ppt/slideMasters/slideMaster1.xml" Id="Re33b756192854672" /><Relationship Type="http://schemas.openxmlformats.org/officeDocument/2006/relationships/notesMaster" Target="/ppt/notesMasters/notesMaster1.xml" Id="R752a7daf14504d51" /><Relationship Type="http://schemas.openxmlformats.org/officeDocument/2006/relationships/presProps" Target="/ppt/presProps.xml" Id="R788c0ec9508449bf" /><Relationship Type="http://schemas.openxmlformats.org/officeDocument/2006/relationships/tableStyles" Target="/ppt/tableStyles.xml" Id="Rdafc638acffd42d3" /><Relationship Type="http://schemas.openxmlformats.org/officeDocument/2006/relationships/slide" Target="/ppt/slides/slide1.xml" Id="Rbbf1c4adb6e04060" /><Relationship Type="http://schemas.openxmlformats.org/officeDocument/2006/relationships/slide" Target="/ppt/slides/slide2.xml" Id="R87b2e9d951084c8e" /><Relationship Type="http://schemas.openxmlformats.org/officeDocument/2006/relationships/slide" Target="/ppt/slides/slide3.xml" Id="R6623ae05100146e5" /><Relationship Type="http://schemas.openxmlformats.org/officeDocument/2006/relationships/slide" Target="/ppt/slides/slide4.xml" Id="Rcd742303145f41c4" /><Relationship Type="http://schemas.openxmlformats.org/officeDocument/2006/relationships/slide" Target="/ppt/slides/slide5.xml" Id="R2b607decc8de47ab" /><Relationship Type="http://schemas.openxmlformats.org/officeDocument/2006/relationships/slide" Target="/ppt/slides/slide6.xml" Id="R2e0bd79d6b7b4f4f" /><Relationship Type="http://schemas.openxmlformats.org/officeDocument/2006/relationships/slide" Target="/ppt/slides/slide7.xml" Id="R741eda90090c4ec8" /><Relationship Type="http://schemas.openxmlformats.org/officeDocument/2006/relationships/slide" Target="/ppt/slides/slide8.xml" Id="R34443e8f779b4769" /><Relationship Type="http://schemas.openxmlformats.org/officeDocument/2006/relationships/slide" Target="/ppt/slides/slide9.xml" Id="R4e5be54f25e24e60" /><Relationship Type="http://schemas.openxmlformats.org/officeDocument/2006/relationships/slide" Target="/ppt/slides/slide10.xml" Id="R86b706e9ed754000" /><Relationship Type="http://schemas.openxmlformats.org/officeDocument/2006/relationships/slide" Target="/ppt/slides/slide11.xml" Id="Rca397319665e48fc" /><Relationship Type="http://schemas.openxmlformats.org/officeDocument/2006/relationships/slide" Target="/ppt/slides/slide12.xml" Id="R7856dab62ff8478e" /><Relationship Type="http://schemas.openxmlformats.org/officeDocument/2006/relationships/slide" Target="/ppt/slides/slide13.xml" Id="Rb5c5593346324b4a" /><Relationship Type="http://schemas.openxmlformats.org/officeDocument/2006/relationships/slide" Target="/ppt/slides/slide14.xml" Id="Raeaef1f71e8540df" /><Relationship Type="http://schemas.openxmlformats.org/officeDocument/2006/relationships/slide" Target="/ppt/slides/slide15.xml" Id="Rcd042b04774348c5" /><Relationship Type="http://schemas.openxmlformats.org/officeDocument/2006/relationships/slide" Target="/ppt/slides/slide16.xml" Id="R0ff65a4eb7df4f54" /><Relationship Type="http://schemas.openxmlformats.org/officeDocument/2006/relationships/slide" Target="/ppt/slides/slide17.xml" Id="R00bd4cab81594ef3" /><Relationship Type="http://schemas.openxmlformats.org/officeDocument/2006/relationships/slide" Target="/ppt/slides/slide18.xml" Id="R383fae8d69604f9a" /><Relationship Type="http://schemas.openxmlformats.org/officeDocument/2006/relationships/slide" Target="/ppt/slides/slide19.xml" Id="Ra4326d8112954718" /><Relationship Type="http://schemas.openxmlformats.org/officeDocument/2006/relationships/slide" Target="/ppt/slides/slide20.xml" Id="R76909eb327554de2" /><Relationship Type="http://schemas.openxmlformats.org/officeDocument/2006/relationships/slide" Target="/ppt/slides/slide21.xml" Id="R78a48b878c524a15" /><Relationship Type="http://schemas.openxmlformats.org/officeDocument/2006/relationships/slide" Target="/ppt/slides/slide22.xml" Id="Rc6fdbdacded94bee" /><Relationship Type="http://schemas.openxmlformats.org/officeDocument/2006/relationships/slide" Target="/ppt/slides/slide23.xml" Id="Refbdf177fba84994" /><Relationship Type="http://schemas.openxmlformats.org/officeDocument/2006/relationships/slide" Target="/ppt/slides/slide24.xml" Id="R6ae66a2e482f43b7" /><Relationship Type="http://schemas.openxmlformats.org/officeDocument/2006/relationships/slide" Target="/ppt/slides/slide25.xml" Id="R9486b03d9de04de4" /><Relationship Type="http://schemas.openxmlformats.org/officeDocument/2006/relationships/slide" Target="/ppt/slides/slide26.xml" Id="Rded20acf70b241bd" /><Relationship Type="http://schemas.openxmlformats.org/officeDocument/2006/relationships/slide" Target="/ppt/slides/slide27.xml" Id="Rc6d37e429cb74920" /><Relationship Type="http://schemas.openxmlformats.org/officeDocument/2006/relationships/slide" Target="/ppt/slides/slide28.xml" Id="R716d0d58354a4247" /><Relationship Type="http://schemas.openxmlformats.org/officeDocument/2006/relationships/slide" Target="/ppt/slides/slide29.xml" Id="Rb0b0d96358fb4b25" /><Relationship Type="http://schemas.openxmlformats.org/officeDocument/2006/relationships/slide" Target="/ppt/slides/slide30.xml" Id="Reeca2c36dd934031" /><Relationship Type="http://schemas.openxmlformats.org/officeDocument/2006/relationships/slide" Target="/ppt/slides/slide31.xml" Id="Rb4000f17bc6c404c" /><Relationship Type="http://schemas.openxmlformats.org/officeDocument/2006/relationships/slide" Target="/ppt/slides/slide32.xml" Id="R61efdc42663f4ad0" /><Relationship Type="http://schemas.openxmlformats.org/officeDocument/2006/relationships/slide" Target="/ppt/slides/slide33.xml" Id="Raf737491b9e14a9d" /><Relationship Type="http://schemas.openxmlformats.org/officeDocument/2006/relationships/slide" Target="/ppt/slides/slide34.xml" Id="R554b260ec72c4401" /><Relationship Type="http://schemas.openxmlformats.org/officeDocument/2006/relationships/slide" Target="/ppt/slides/slide35.xml" Id="Rb5b9b341b9a149be" /><Relationship Type="http://schemas.openxmlformats.org/officeDocument/2006/relationships/slide" Target="/ppt/slides/slide36.xml" Id="Rc70437367d964d8d" /><Relationship Type="http://schemas.openxmlformats.org/officeDocument/2006/relationships/slide" Target="/ppt/slides/slide37.xml" Id="Re36a9709ef5645b9" /><Relationship Type="http://schemas.openxmlformats.org/officeDocument/2006/relationships/slide" Target="/ppt/slides/slide38.xml" Id="R7195e427260a4aae" /><Relationship Type="http://schemas.openxmlformats.org/officeDocument/2006/relationships/slide" Target="/ppt/slides/slide39.xml" Id="Red8990144f7a4456" /><Relationship Type="http://schemas.openxmlformats.org/officeDocument/2006/relationships/slide" Target="/ppt/slides/slide40.xml" Id="R0a7325f054df421f" /><Relationship Type="http://schemas.openxmlformats.org/officeDocument/2006/relationships/slide" Target="/ppt/slides/slide41.xml" Id="R7faa9ee5b06f4c1a" /><Relationship Type="http://schemas.openxmlformats.org/officeDocument/2006/relationships/slide" Target="/ppt/slides/slide42.xml" Id="R5cadeed7a9df4808" /><Relationship Type="http://schemas.openxmlformats.org/officeDocument/2006/relationships/slide" Target="/ppt/slides/slide43.xml" Id="R3e1ed8abcaba42ad" /><Relationship Type="http://schemas.openxmlformats.org/officeDocument/2006/relationships/slide" Target="/ppt/slides/slide44.xml" Id="R8b84a909ba5a4e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6814847e104d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b0227ae9fe4dac" /><Relationship Type="http://schemas.openxmlformats.org/officeDocument/2006/relationships/notesMaster" Target="/ppt/notesMasters/notesMaster1.xml" Id="R440b4435afb648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d95d6f6ecf4b21" /><Relationship Type="http://schemas.openxmlformats.org/officeDocument/2006/relationships/notesMaster" Target="/ppt/notesMasters/notesMaster1.xml" Id="R8e2a50afe5d24d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be58623e1b4bed" /><Relationship Type="http://schemas.openxmlformats.org/officeDocument/2006/relationships/notesMaster" Target="/ppt/notesMasters/notesMaster1.xml" Id="Ra51282273ff641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584f8ba1024901" /><Relationship Type="http://schemas.openxmlformats.org/officeDocument/2006/relationships/notesMaster" Target="/ppt/notesMasters/notesMaster1.xml" Id="Ra64a338ff8304f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50804512fe41d3" /><Relationship Type="http://schemas.openxmlformats.org/officeDocument/2006/relationships/notesMaster" Target="/ppt/notesMasters/notesMaster1.xml" Id="R99eda0c869f84f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6471ce3ef04b9b" /><Relationship Type="http://schemas.openxmlformats.org/officeDocument/2006/relationships/notesMaster" Target="/ppt/notesMasters/notesMaster1.xml" Id="R0068539bb38e4b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b84f8e2c554315" /><Relationship Type="http://schemas.openxmlformats.org/officeDocument/2006/relationships/notesMaster" Target="/ppt/notesMasters/notesMaster1.xml" Id="Rdb123c7650424e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668145e4e24eeb" /><Relationship Type="http://schemas.openxmlformats.org/officeDocument/2006/relationships/notesMaster" Target="/ppt/notesMasters/notesMaster1.xml" Id="R105587da4c0d4f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da14e1c5a346d4" /><Relationship Type="http://schemas.openxmlformats.org/officeDocument/2006/relationships/notesMaster" Target="/ppt/notesMasters/notesMaster1.xml" Id="R926f2c8f654d40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ae35209c78e42f0" /><Relationship Type="http://schemas.openxmlformats.org/officeDocument/2006/relationships/notesMaster" Target="/ppt/notesMasters/notesMaster1.xml" Id="Re66170a4cedc4e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37732e21dd4b7d" /><Relationship Type="http://schemas.openxmlformats.org/officeDocument/2006/relationships/notesMaster" Target="/ppt/notesMasters/notesMaster1.xml" Id="R06824bc6c24f4e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40a2c6b9204e48" /><Relationship Type="http://schemas.openxmlformats.org/officeDocument/2006/relationships/notesMaster" Target="/ppt/notesMasters/notesMaster1.xml" Id="R78f5a56a3a994a8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c01217bf3e4ddb" /><Relationship Type="http://schemas.openxmlformats.org/officeDocument/2006/relationships/notesMaster" Target="/ppt/notesMasters/notesMaster1.xml" Id="R711cdca522924ae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dfc619fed34825" /><Relationship Type="http://schemas.openxmlformats.org/officeDocument/2006/relationships/notesMaster" Target="/ppt/notesMasters/notesMaster1.xml" Id="R91d407ca0abb40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821b58c93a4cc4" /><Relationship Type="http://schemas.openxmlformats.org/officeDocument/2006/relationships/notesMaster" Target="/ppt/notesMasters/notesMaster1.xml" Id="R3a3885e27b804a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1f66d6c6ae84671" /><Relationship Type="http://schemas.openxmlformats.org/officeDocument/2006/relationships/notesMaster" Target="/ppt/notesMasters/notesMaster1.xml" Id="Rea297c40f2684f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072cea0892d41b5" /><Relationship Type="http://schemas.openxmlformats.org/officeDocument/2006/relationships/notesMaster" Target="/ppt/notesMasters/notesMaster1.xml" Id="R18c84092cda345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b9d1d2bcaf4fad" /><Relationship Type="http://schemas.openxmlformats.org/officeDocument/2006/relationships/notesMaster" Target="/ppt/notesMasters/notesMaster1.xml" Id="R4da60068d84b4f6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0b04eff62754531" /><Relationship Type="http://schemas.openxmlformats.org/officeDocument/2006/relationships/notesMaster" Target="/ppt/notesMasters/notesMaster1.xml" Id="Rbbb87b7420154de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32c3a969ae49f2" /><Relationship Type="http://schemas.openxmlformats.org/officeDocument/2006/relationships/notesMaster" Target="/ppt/notesMasters/notesMaster1.xml" Id="R9dae51d679484c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0f3b431f073438d" /><Relationship Type="http://schemas.openxmlformats.org/officeDocument/2006/relationships/notesMaster" Target="/ppt/notesMasters/notesMaster1.xml" Id="R0d57bb2e44c74f2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0f59e896c274a63" /><Relationship Type="http://schemas.openxmlformats.org/officeDocument/2006/relationships/notesMaster" Target="/ppt/notesMasters/notesMaster1.xml" Id="R64393012e5034f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82ec2c20dd84bc4" /><Relationship Type="http://schemas.openxmlformats.org/officeDocument/2006/relationships/notesMaster" Target="/ppt/notesMasters/notesMaster1.xml" Id="R2ba1eab142524a9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9b7942449fb44be" /><Relationship Type="http://schemas.openxmlformats.org/officeDocument/2006/relationships/notesMaster" Target="/ppt/notesMasters/notesMaster1.xml" Id="R7dd560131eb2408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b59f8f3979d44fb" /><Relationship Type="http://schemas.openxmlformats.org/officeDocument/2006/relationships/notesMaster" Target="/ppt/notesMasters/notesMaster1.xml" Id="Ra693c1aa7c9d430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858596904bd4942" /><Relationship Type="http://schemas.openxmlformats.org/officeDocument/2006/relationships/notesMaster" Target="/ppt/notesMasters/notesMaster1.xml" Id="R4e23a4c2409e4f9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d201f013c384721" /><Relationship Type="http://schemas.openxmlformats.org/officeDocument/2006/relationships/notesMaster" Target="/ppt/notesMasters/notesMaster1.xml" Id="R0e654702e419498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0a37b31381649b4" /><Relationship Type="http://schemas.openxmlformats.org/officeDocument/2006/relationships/notesMaster" Target="/ppt/notesMasters/notesMaster1.xml" Id="R4481265d6c38437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a4b39dfdc2548be" /><Relationship Type="http://schemas.openxmlformats.org/officeDocument/2006/relationships/notesMaster" Target="/ppt/notesMasters/notesMaster1.xml" Id="Re1d625ae2b2c4d5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9b208ae46954c74" /><Relationship Type="http://schemas.openxmlformats.org/officeDocument/2006/relationships/notesMaster" Target="/ppt/notesMasters/notesMaster1.xml" Id="R89914c724e4f423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a933e26899a4678" /><Relationship Type="http://schemas.openxmlformats.org/officeDocument/2006/relationships/notesMaster" Target="/ppt/notesMasters/notesMaster1.xml" Id="Rf3515de9cc90482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6b6b819277249da" /><Relationship Type="http://schemas.openxmlformats.org/officeDocument/2006/relationships/notesMaster" Target="/ppt/notesMasters/notesMaster1.xml" Id="R81b2b295cfdd4f8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a874c9704fa4bcf" /><Relationship Type="http://schemas.openxmlformats.org/officeDocument/2006/relationships/notesMaster" Target="/ppt/notesMasters/notesMaster1.xml" Id="R0e5bd5530a564b2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cb445937c834c42" /><Relationship Type="http://schemas.openxmlformats.org/officeDocument/2006/relationships/notesMaster" Target="/ppt/notesMasters/notesMaster1.xml" Id="Ra72bf09f234c499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2cb96d7c2cf43f1" /><Relationship Type="http://schemas.openxmlformats.org/officeDocument/2006/relationships/notesMaster" Target="/ppt/notesMasters/notesMaster1.xml" Id="R9465c322ce2c449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0e30b791d0a406a" /><Relationship Type="http://schemas.openxmlformats.org/officeDocument/2006/relationships/notesMaster" Target="/ppt/notesMasters/notesMaster1.xml" Id="Rb8b813e878f646e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d14628904dc4535" /><Relationship Type="http://schemas.openxmlformats.org/officeDocument/2006/relationships/notesMaster" Target="/ppt/notesMasters/notesMaster1.xml" Id="R57470cefd93e443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e4c1c36d9254441" /><Relationship Type="http://schemas.openxmlformats.org/officeDocument/2006/relationships/notesMaster" Target="/ppt/notesMasters/notesMaster1.xml" Id="R914ce275bfdb4dd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de412ef7a2a4eca" /><Relationship Type="http://schemas.openxmlformats.org/officeDocument/2006/relationships/notesMaster" Target="/ppt/notesMasters/notesMaster1.xml" Id="Rf8b6d16f9f3c475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2b78522b71d4330" /><Relationship Type="http://schemas.openxmlformats.org/officeDocument/2006/relationships/notesMaster" Target="/ppt/notesMasters/notesMaster1.xml" Id="Rbe73efe150984d2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67c70d3bfca4f47" /><Relationship Type="http://schemas.openxmlformats.org/officeDocument/2006/relationships/notesMaster" Target="/ppt/notesMasters/notesMaster1.xml" Id="R795020e75973462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2ecbf320d264cf5" /><Relationship Type="http://schemas.openxmlformats.org/officeDocument/2006/relationships/notesMaster" Target="/ppt/notesMasters/notesMaster1.xml" Id="R7e5c4ab9b0d24e0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d3f00a954d94d14" /><Relationship Type="http://schemas.openxmlformats.org/officeDocument/2006/relationships/notesMaster" Target="/ppt/notesMasters/notesMaster1.xml" Id="Rb0739432618643e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f882dc8b85441be" /><Relationship Type="http://schemas.openxmlformats.org/officeDocument/2006/relationships/notesMaster" Target="/ppt/notesMasters/notesMaster1.xml" Id="Ra2e401e716f048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review describes the research snapshot at commit 461a3ba. Sensing performance remains conditional simulation. The original proposal contains eleven numbered subtasks.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https://github.com/unworthyzeus/THz_ISAC_atmospheric_monitoring/blob/461a3ba/I2R_proposal_THz_ISAC%20(1).pdf</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\underbrace{\mathbf a}_{\text{observation}}=\underbrace{\mathbf D\mathbf c}_{\text{pollutants}}+\underbrace{\mathbf N\boldsymbol\beta}_{\text{background and instrument}}+\underbrace{\mathbf e}_{\text{noise}}</a:t>
            </a:r>
          </a:p>
          <a:p xmlns:a="http://schemas.openxmlformats.org/drawingml/2006/main">
            <a:r>
              <a:t/>
            </a:r>
          </a:p>
          <a:p xmlns:a="http://schemas.openxmlformats.org/drawingml/2006/main">
            <a:r>
              <a:t>Notation legend</a:t>
            </a:r>
          </a:p>
          <a:p xmlns:a="http://schemas.openxmlformats.org/drawingml/2006/main">
            <a:r>
              <a:t>a: measured attenuation vector (dB)</a:t>
            </a:r>
          </a:p>
          <a:p xmlns:a="http://schemas.openxmlformats.org/drawingml/2006/main">
            <a:r>
              <a:t>D: target spectral response matrix</a:t>
            </a:r>
          </a:p>
          <a:p xmlns:a="http://schemas.openxmlformats.org/drawingml/2006/main">
            <a:r>
              <a:t>c: target concentrations (µg/m³)</a:t>
            </a:r>
          </a:p>
          <a:p xmlns:a="http://schemas.openxmlformats.org/drawingml/2006/main">
            <a:r>
              <a:t>N: background / instrument response matrix</a:t>
            </a:r>
          </a:p>
          <a:p xmlns:a="http://schemas.openxmlformats.org/drawingml/2006/main">
            <a:r>
              <a:t>β: nuisance parameter vector</a:t>
            </a:r>
          </a:p>
          <a:p xmlns:a="http://schemas.openxmlformats.org/drawingml/2006/main">
            <a:r>
              <a:t>D c and N β: attenuation contributions (dB)</a:t>
            </a:r>
          </a:p>
          <a:p xmlns:a="http://schemas.openxmlformats.org/drawingml/2006/main">
            <a:r>
              <a:t>e: measurement error vector (dB)</a:t>
            </a:r>
          </a:p>
          <a:p xmlns:a="http://schemas.openxmlformats.org/drawingml/2006/main">
            <a:r>
              <a:t>Bold letters: vectors or matrices</a:t>
            </a:r>
          </a:p>
          <a:p xmlns:a="http://schemas.openxmlformats.org/drawingml/2006/main">
            <a:r>
              <a:t>Matrix products sum spectral contributions</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https://github.com/unworthyzeus/THz_ISAC_atmospheric_monitoring/blob/461a3ba/I2R_proposal_THz_ISAC%20(1).pdf</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10,000 positive trials and 10,000 null trials. Exact recall interval 97.355–97.957%. Family false alarms 0.79%. All five gases and two PM masses remain unknown.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numbered task receives method and result slides. Task 3.2 lists statistical, optimization and ML methods as alternatives. A neural network is not a mandatory missing requirement.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https://github.com/unworthyzeus/THz_ISAC_atmospheric_monitoring/blob/461a3ba/I2R_proposal_THz_ISAC%20(1).pdf</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current comparison: Selected bands, standard atmosphere, 45°, matched reference, 23 dBm and 6 dB noise figure. Calibration standard deviation denotes an additional differential spectral residual after reference subtraction. Zero residual is ideal. Nonzero residuals are also unmeasured assumptions.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\begin{aligned}n_s(z)&amp;=\frac{c_{s,0}N_A}{M_s}\exp\!\left(-\frac{z}{H_s}\right),\\[4pt] \text{local spectrum}&amp;\;\text{depends on }P(z),\;T(z),\;\rho_{\mathrm{H_2O}}(z)\end{aligned}</a:t>
            </a:r>
          </a:p>
          <a:p xmlns:a="http://schemas.openxmlformats.org/drawingml/2006/main">
            <a:r>
              <a:t/>
            </a:r>
          </a:p>
          <a:p xmlns:a="http://schemas.openxmlformats.org/drawingml/2006/main">
            <a:r>
              <a:t>Notation legend</a:t>
            </a:r>
          </a:p>
          <a:p xmlns:a="http://schemas.openxmlformats.org/drawingml/2006/main">
            <a:r>
              <a:t>s: gas species index</a:t>
            </a:r>
          </a:p>
          <a:p xmlns:a="http://schemas.openxmlformats.org/drawingml/2006/main">
            <a:r>
              <a:t>z: altitude (m)</a:t>
            </a:r>
          </a:p>
          <a:p xmlns:a="http://schemas.openxmlformats.org/drawingml/2006/main">
            <a:r>
              <a:t>n_s(z): molecular number density (m⁻³)</a:t>
            </a:r>
          </a:p>
          <a:p xmlns:a="http://schemas.openxmlformats.org/drawingml/2006/main">
            <a:r>
              <a:t>c_s,0: surface mass concentration (kg/m³)</a:t>
            </a:r>
          </a:p>
          <a:p xmlns:a="http://schemas.openxmlformats.org/drawingml/2006/main">
            <a:r>
              <a:t>N_A: Avogadro constant (mol⁻¹)</a:t>
            </a:r>
          </a:p>
          <a:p xmlns:a="http://schemas.openxmlformats.org/drawingml/2006/main">
            <a:r>
              <a:t>M_s: gas molar mass (kg/mol)</a:t>
            </a:r>
          </a:p>
          <a:p xmlns:a="http://schemas.openxmlformats.org/drawingml/2006/main">
            <a:r>
              <a:t>H_s: assumed concentration scale height (m)</a:t>
            </a:r>
          </a:p>
          <a:p xmlns:a="http://schemas.openxmlformats.org/drawingml/2006/main">
            <a:r>
              <a:t>exp: exponential function</a:t>
            </a:r>
          </a:p>
          <a:p xmlns:a="http://schemas.openxmlformats.org/drawingml/2006/main">
            <a:r>
              <a:t>P(z): atmospheric pressure (Pa)</a:t>
            </a:r>
          </a:p>
          <a:p xmlns:a="http://schemas.openxmlformats.org/drawingml/2006/main">
            <a:r>
              <a:t>T(z): atmospheric temperature (K)</a:t>
            </a:r>
          </a:p>
          <a:p xmlns:a="http://schemas.openxmlformats.org/drawingml/2006/main">
            <a:r>
              <a:t>ρ_H₂O(z): water vapour mass density (kg/m³)</a:t>
            </a:r>
          </a:p>
          <a:p xmlns:a="http://schemas.openxmlformats.org/drawingml/2006/main">
            <a:r>
              <a:t>Convert µg/m³ to kg/m³ before substitution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https://github.com/unworthyzeus/THz_ISAC_atmospheric_monitoring/blob/461a3ba/src/thz_isac/atmosphere.py</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newest exact receiver comparison uses standard atmosphere and the existing January sounding. Older broader sensitivity studies include the other months. Do not imply that all four profiles enter the newest 288-condition grid.</a:t>
            </a:r>
          </a:p>
          <a:p xmlns:a="http://schemas.openxmlformats.org/drawingml/2006/main">
            <a:r>
              <a:t/>
            </a:r>
          </a:p>
          <a:p xmlns:a="http://schemas.openxmlformats.org/drawingml/2006/main">
            <a:r>
              <a:t>LaTeX equation source</a:t>
            </a:r>
          </a:p>
          <a:p xmlns:a="http://schemas.openxmlformats.org/drawingml/2006/main">
            <a:r>
              <a:t>c(z)=c_0\exp\!\left(-\frac{z}{H}\right)\qquad\Longrightarrow\qquad\widehat c_0\text{ depends on the assumed }H</a:t>
            </a:r>
          </a:p>
          <a:p xmlns:a="http://schemas.openxmlformats.org/drawingml/2006/main">
            <a:r>
              <a:t/>
            </a:r>
          </a:p>
          <a:p xmlns:a="http://schemas.openxmlformats.org/drawingml/2006/main">
            <a:r>
              <a:t>Notation legend</a:t>
            </a:r>
          </a:p>
          <a:p xmlns:a="http://schemas.openxmlformats.org/drawingml/2006/main">
            <a:r>
              <a:t>c(z): mass concentration at altitude z</a:t>
            </a:r>
          </a:p>
          <a:p xmlns:a="http://schemas.openxmlformats.org/drawingml/2006/main">
            <a:r>
              <a:t>c₀: surface mass concentration</a:t>
            </a:r>
          </a:p>
          <a:p xmlns:a="http://schemas.openxmlformats.org/drawingml/2006/main">
            <a:r>
              <a:t>c and c₀ use the same mass / volume units</a:t>
            </a:r>
          </a:p>
          <a:p xmlns:a="http://schemas.openxmlformats.org/drawingml/2006/main">
            <a:r>
              <a:t>z: altitude (m)</a:t>
            </a:r>
          </a:p>
          <a:p xmlns:a="http://schemas.openxmlformats.org/drawingml/2006/main">
            <a:r>
              <a:t>H: assumed concentration scale height (m)</a:t>
            </a:r>
          </a:p>
          <a:p xmlns:a="http://schemas.openxmlformats.org/drawingml/2006/main">
            <a:r>
              <a:t>exp: exponential function</a:t>
            </a:r>
          </a:p>
          <a:p xmlns:a="http://schemas.openxmlformats.org/drawingml/2006/main">
            <a:r>
              <a:t>ĉ₀: estimated surface mass concentration</a:t>
            </a:r>
          </a:p>
          <a:p xmlns:a="http://schemas.openxmlformats.org/drawingml/2006/main">
            <a:r>
              <a:t>Hat: estimated quantity</a:t>
            </a:r>
          </a:p>
          <a:p xmlns:a="http://schemas.openxmlformats.org/drawingml/2006/main">
            <a:r>
              <a:t>⇒: implication under the assumed profile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Voigt Doppler width uses isotope mass. Reported mass concentration uses the natural-mixture molar mass. HCOOH rotational intensities involve dipole-based calculations and do not remove spectroscopy uncertainty.</a:t>
            </a:r>
          </a:p>
          <a:p xmlns:a="http://schemas.openxmlformats.org/drawingml/2006/main">
            <a:r>
              <a:t/>
            </a:r>
          </a:p>
          <a:p xmlns:a="http://schemas.openxmlformats.org/drawingml/2006/main">
            <a:r>
              <a:t>LaTeX equation source</a:t>
            </a:r>
          </a:p>
          <a:p xmlns:a="http://schemas.openxmlformats.org/drawingml/2006/main">
            <a:r>
              <a:t>\sigma_s(\nu,z)=\sum_{\ell\in s}S_\ell\!\left(T(z)\right)\,V_\ell\!\left[\nu-\nu_\ell-\delta_\ell P(z);\,T(z),P(z)\right]</a:t>
            </a:r>
          </a:p>
          <a:p xmlns:a="http://schemas.openxmlformats.org/drawingml/2006/main">
            <a:r>
              <a:t/>
            </a:r>
          </a:p>
          <a:p xmlns:a="http://schemas.openxmlformats.org/drawingml/2006/main">
            <a:r>
              <a:t>Notation legend</a:t>
            </a:r>
          </a:p>
          <a:p xmlns:a="http://schemas.openxmlformats.org/drawingml/2006/main">
            <a:r>
              <a:t>s: species index, ℓ: spectral line index</a:t>
            </a:r>
          </a:p>
          <a:p xmlns:a="http://schemas.openxmlformats.org/drawingml/2006/main">
            <a:r>
              <a:t>ν: spectral frequency, ν_ℓ: line centre</a:t>
            </a:r>
          </a:p>
          <a:p xmlns:a="http://schemas.openxmlformats.org/drawingml/2006/main">
            <a:r>
              <a:t>z: altitude (m)</a:t>
            </a:r>
          </a:p>
          <a:p xmlns:a="http://schemas.openxmlformats.org/drawingml/2006/main">
            <a:r>
              <a:t>σ_s: molecular absorption cross section (m²)</a:t>
            </a:r>
          </a:p>
          <a:p xmlns:a="http://schemas.openxmlformats.org/drawingml/2006/main">
            <a:r>
              <a:t>S_ℓ(T): integrated line strength at T</a:t>
            </a:r>
          </a:p>
          <a:p xmlns:a="http://schemas.openxmlformats.org/drawingml/2006/main">
            <a:r>
              <a:t>V_ℓ: normalized Voigt line profile</a:t>
            </a:r>
          </a:p>
          <a:p xmlns:a="http://schemas.openxmlformats.org/drawingml/2006/main">
            <a:r>
              <a:t>S_ℓ × V_ℓ has cross section units</a:t>
            </a:r>
          </a:p>
          <a:p xmlns:a="http://schemas.openxmlformats.org/drawingml/2006/main">
            <a:r>
              <a:t>Use matching spectral units for S_ℓ and V_ℓ</a:t>
            </a:r>
          </a:p>
          <a:p xmlns:a="http://schemas.openxmlformats.org/drawingml/2006/main">
            <a:r>
              <a:t>T(z): atmospheric temperature (K)</a:t>
            </a:r>
          </a:p>
          <a:p xmlns:a="http://schemas.openxmlformats.org/drawingml/2006/main">
            <a:r>
              <a:t>P(z): atmospheric pressure</a:t>
            </a:r>
          </a:p>
          <a:p xmlns:a="http://schemas.openxmlformats.org/drawingml/2006/main">
            <a:r>
              <a:t>δ_ℓ: line shift per unit pressure</a:t>
            </a:r>
          </a:p>
          <a:p xmlns:a="http://schemas.openxmlformats.org/drawingml/2006/main">
            <a:r>
              <a:t>δ_ℓ P(z): pressure shift in frequency units</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https://hitran.org/media/refs/HITRAN-2024.pdf</a:t>
            </a:r>
          </a:p>
          <a:p xmlns:a="http://schemas.openxmlformats.org/drawingml/2006/main">
            <a:r>
              <a:t>https://www.hitran.org/docs/molec-meta/</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 is the project shorthand for these selected organic gases, not a universal regulatory classification. The retained coverage review uses HITRAN2024 Table 1, page 7. Additional candidates need usable microwave strengths and pressure broadening before quantitative inference.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https://github.com/unworthyzeus/THz_ISAC_atmospheric_monitoring/blob/461a3ba/results/joint_receiver_revision/missing_spectroscopy_review.json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\begin{aligned}A_s(\nu)&amp;=\frac{10}{\ln 10}\int_{\mathrm{ray}}n_s(z)\,\sigma_s(\nu,z)\,\mathrm ds,\\[4pt]\frac{P_{\mathrm{out}}}{P_{\mathrm{in}}}&amp;=10^{-A/10},\qquad b=n(r)\,r\sin\zeta\end{aligned}</a:t>
            </a:r>
          </a:p>
          <a:p xmlns:a="http://schemas.openxmlformats.org/drawingml/2006/main">
            <a:r>
              <a:t/>
            </a:r>
          </a:p>
          <a:p xmlns:a="http://schemas.openxmlformats.org/drawingml/2006/main">
            <a:r>
              <a:t>Notation legend</a:t>
            </a:r>
          </a:p>
          <a:p xmlns:a="http://schemas.openxmlformats.org/drawingml/2006/main">
            <a:r>
              <a:t>s: gas species, ν: frequency</a:t>
            </a:r>
          </a:p>
          <a:p xmlns:a="http://schemas.openxmlformats.org/drawingml/2006/main">
            <a:r>
              <a:t>A_s and A: power attenuation (dB)</a:t>
            </a:r>
          </a:p>
          <a:p xmlns:a="http://schemas.openxmlformats.org/drawingml/2006/main">
            <a:r>
              <a:t>n_s: molecular number density (m⁻³)</a:t>
            </a:r>
          </a:p>
          <a:p xmlns:a="http://schemas.openxmlformats.org/drawingml/2006/main">
            <a:r>
              <a:t>σ_s: molecular cross section (m²)</a:t>
            </a:r>
          </a:p>
          <a:p xmlns:a="http://schemas.openxmlformats.org/drawingml/2006/main">
            <a:r>
              <a:t>ds: differential path length along ray (m)</a:t>
            </a:r>
          </a:p>
          <a:p xmlns:a="http://schemas.openxmlformats.org/drawingml/2006/main">
            <a:r>
              <a:t>P_in and P_out: input and output power (W)</a:t>
            </a:r>
          </a:p>
          <a:p xmlns:a="http://schemas.openxmlformats.org/drawingml/2006/main">
            <a:r>
              <a:t>z: altitude (m)</a:t>
            </a:r>
          </a:p>
          <a:p xmlns:a="http://schemas.openxmlformats.org/drawingml/2006/main">
            <a:r>
              <a:t>ln: natural logarithm</a:t>
            </a:r>
          </a:p>
          <a:p xmlns:a="http://schemas.openxmlformats.org/drawingml/2006/main">
            <a:r>
              <a:t>b: conserved spherical ray invariant (m)</a:t>
            </a:r>
          </a:p>
          <a:p xmlns:a="http://schemas.openxmlformats.org/drawingml/2006/main">
            <a:r>
              <a:t>n(r): refractive index at radial distance r</a:t>
            </a:r>
          </a:p>
          <a:p xmlns:a="http://schemas.openxmlformats.org/drawingml/2006/main">
            <a:r>
              <a:t>r: distance from Earth’s centre (m)</a:t>
            </a:r>
          </a:p>
          <a:p xmlns:a="http://schemas.openxmlformats.org/drawingml/2006/main">
            <a:r>
              <a:t>ζ: local zenith angle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independent recursive transfer reproduced the refined brightness. Earlier seasonal weather calculations use order two and only September has its own separate order check. Current selected-tone calculations inherit declared quadrature. Do not claim convergence for every possible weather realization.</a:t>
            </a:r>
          </a:p>
          <a:p xmlns:a="http://schemas.openxmlformats.org/drawingml/2006/main">
            <a:r>
              <a:t/>
            </a:r>
          </a:p>
          <a:p xmlns:a="http://schemas.openxmlformats.org/drawingml/2006/main">
            <a:r>
              <a:t>LaTeX equation source</a:t>
            </a:r>
          </a:p>
          <a:p xmlns:a="http://schemas.openxmlformats.org/drawingml/2006/main">
            <a:r>
              <a:t>T_{\mathrm{sky}}=\sum_i J_\nu(T_i)\left(1-e^{-\tau_i}\right)e^{-\sum_{j&lt;i}\tau_j}+J_\nu(T_{\mathrm{space}})e^{-\sum_i\tau_i}</a:t>
            </a:r>
          </a:p>
          <a:p xmlns:a="http://schemas.openxmlformats.org/drawingml/2006/main">
            <a:r>
              <a:t/>
            </a:r>
          </a:p>
          <a:p xmlns:a="http://schemas.openxmlformats.org/drawingml/2006/main">
            <a:r>
              <a:t>Notation legend</a:t>
            </a:r>
          </a:p>
          <a:p xmlns:a="http://schemas.openxmlformats.org/drawingml/2006/main">
            <a:r>
              <a:t>T_sky: equivalent sky noise temperature (K)</a:t>
            </a:r>
          </a:p>
          <a:p xmlns:a="http://schemas.openxmlformats.org/drawingml/2006/main">
            <a:r>
              <a:t>ν: frequency (Hz)</a:t>
            </a:r>
          </a:p>
          <a:p xmlns:a="http://schemas.openxmlformats.org/drawingml/2006/main">
            <a:r>
              <a:t>T_i: physical temperature of layer i (K)</a:t>
            </a:r>
          </a:p>
          <a:p xmlns:a="http://schemas.openxmlformats.org/drawingml/2006/main">
            <a:r>
              <a:t>J_ν(T): Planck brightness temperature (K)</a:t>
            </a:r>
          </a:p>
          <a:p xmlns:a="http://schemas.openxmlformats.org/drawingml/2006/main">
            <a:r>
              <a:t>τ_i: dimensionless optical depth of layer i</a:t>
            </a:r>
          </a:p>
          <a:p xmlns:a="http://schemas.openxmlformats.org/drawingml/2006/main">
            <a:r>
              <a:t>i: emitting layer, j: intervening layer</a:t>
            </a:r>
          </a:p>
          <a:p xmlns:a="http://schemas.openxmlformats.org/drawingml/2006/main">
            <a:r>
              <a:t>j &lt; i: layers between layer i and receiver</a:t>
            </a:r>
          </a:p>
          <a:p xmlns:a="http://schemas.openxmlformats.org/drawingml/2006/main">
            <a:r>
              <a:t>T_space: space background temperature (K)</a:t>
            </a:r>
          </a:p>
          <a:p xmlns:a="http://schemas.openxmlformats.org/drawingml/2006/main">
            <a:r>
              <a:t>exp(−τ): power transmission through a layer</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https://github.com/unworthyzeus/THz_ISAC_atmospheric_monitoring/blob/461a3ba/docs/45_payload_bounds_results.md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\begin{aligned}\kappa_{\mathrm{ext}}&amp;=\frac{\int C_{\mathrm{ext}}(r)\,p(r)\,\mathrm dr}{\int \frac{4\pi}{3}\rho r^3p(r)\,\mathrm dr},\\[4pt]\kappa_{\mathrm{abs}}&amp;\simeq\frac{3k\,\mathrm{Im}(q)}{\rho},\qquad\kappa_{\mathrm{sca}}\simeq\frac{2k^4r^3|q|^2}{\rho}\end{aligned}</a:t>
            </a:r>
          </a:p>
          <a:p xmlns:a="http://schemas.openxmlformats.org/drawingml/2006/main">
            <a:r>
              <a:t/>
            </a:r>
          </a:p>
          <a:p xmlns:a="http://schemas.openxmlformats.org/drawingml/2006/main">
            <a:r>
              <a:t>Notation legend</a:t>
            </a:r>
          </a:p>
          <a:p xmlns:a="http://schemas.openxmlformats.org/drawingml/2006/main">
            <a:r>
              <a:t>κ_ext, κ_abs, κ_sca: mass coefficients</a:t>
            </a:r>
          </a:p>
          <a:p xmlns:a="http://schemas.openxmlformats.org/drawingml/2006/main">
            <a:r>
              <a:t>Extinction, absorption, scattering (m²/kg)</a:t>
            </a:r>
          </a:p>
          <a:p xmlns:a="http://schemas.openxmlformats.org/drawingml/2006/main">
            <a:r>
              <a:t>C_ext(r): particle extinction cross section (m²)</a:t>
            </a:r>
          </a:p>
          <a:p xmlns:a="http://schemas.openxmlformats.org/drawingml/2006/main">
            <a:r>
              <a:t>p(r): particle number distribution in radius</a:t>
            </a:r>
          </a:p>
          <a:p xmlns:a="http://schemas.openxmlformats.org/drawingml/2006/main">
            <a:r>
              <a:t>r: physical particle radius (m)</a:t>
            </a:r>
          </a:p>
          <a:p xmlns:a="http://schemas.openxmlformats.org/drawingml/2006/main">
            <a:r>
              <a:t>ρ: particle material density (kg/m³)</a:t>
            </a:r>
          </a:p>
          <a:p xmlns:a="http://schemas.openxmlformats.org/drawingml/2006/main">
            <a:r>
              <a:t>k = 2π/λ: electromagnetic wavenumber (m⁻¹)</a:t>
            </a:r>
          </a:p>
          <a:p xmlns:a="http://schemas.openxmlformats.org/drawingml/2006/main">
            <a:r>
              <a:t>λ: wavelength in the surrounding medium (m)</a:t>
            </a:r>
          </a:p>
          <a:p xmlns:a="http://schemas.openxmlformats.org/drawingml/2006/main">
            <a:r>
              <a:t>q = (m² − 1)/(m² + 2): contrast factor</a:t>
            </a:r>
          </a:p>
          <a:p xmlns:a="http://schemas.openxmlformats.org/drawingml/2006/main">
            <a:r>
              <a:t>m: complex relative refractive index</a:t>
            </a:r>
          </a:p>
          <a:p xmlns:a="http://schemas.openxmlformats.org/drawingml/2006/main">
            <a:r>
              <a:t>Im(q): imaginary part of q</a:t>
            </a:r>
          </a:p>
          <a:p xmlns:a="http://schemas.openxmlformats.org/drawingml/2006/main">
            <a:r>
              <a:t>|q|²: squared complex magnitude</a:t>
            </a:r>
          </a:p>
          <a:p xmlns:a="http://schemas.openxmlformats.org/drawingml/2006/main">
            <a:r>
              <a:t>dr: radius integration element (m)</a:t>
            </a:r>
          </a:p>
          <a:p xmlns:a="http://schemas.openxmlformats.org/drawingml/2006/main">
            <a:r>
              <a:t>≃: Rayleigh approximation for small particles</a:t>
            </a:r>
          </a:p>
          <a:p xmlns:a="http://schemas.openxmlformats.org/drawingml/2006/main">
            <a:r>
              <a:t>The two final terms describe one radius r</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https://github.com/unworthyzeus/THz_ISAC_atmospheric_monitoring/blob/461a3ba/paper/current_study.tex</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 assumptions: density 1500 kg/m³, median physical size 0.5 µm, geometric spread 1.7, refractive index 1.5 + 0.01i. Coarse: 1800 kg/m³, 4 µm, 1.6, 1.53 + 0.01i. Rayleigh/Mie RMS differences are 0.00086% fine and 0.0201% coarse in the earlier physical check. Three-bin scaled inverse identity error is approximately 0.508 and fails the gate.</a:t>
            </a:r>
          </a:p>
          <a:p xmlns:a="http://schemas.openxmlformats.org/drawingml/2006/main">
            <a:r>
              <a:t/>
            </a:r>
          </a:p>
          <a:p xmlns:a="http://schemas.openxmlformats.org/drawingml/2006/main">
            <a:r>
              <a:t>LaTeX equation source</a:t>
            </a:r>
          </a:p>
          <a:p xmlns:a="http://schemas.openxmlformats.org/drawingml/2006/main">
            <a:r>
              <a:t>\mathrm{Var}(\mathrm{PM}_{10})=\mathrm{Var}(c_{\mathrm{fine}})+\mathrm{Var}(c_{\mathrm{coarse}})+2\,\mathrm{Cov}(c_{\mathrm{fine}},c_{\mathrm{coarse}})</a:t>
            </a:r>
          </a:p>
          <a:p xmlns:a="http://schemas.openxmlformats.org/drawingml/2006/main">
            <a:r>
              <a:t/>
            </a:r>
          </a:p>
          <a:p xmlns:a="http://schemas.openxmlformats.org/drawingml/2006/main">
            <a:r>
              <a:t>Notation legend</a:t>
            </a:r>
          </a:p>
          <a:p xmlns:a="http://schemas.openxmlformats.org/drawingml/2006/main">
            <a:r>
              <a:t>PM₁₀: total fine plus coarse mass (µg/m³)</a:t>
            </a:r>
          </a:p>
          <a:p xmlns:a="http://schemas.openxmlformats.org/drawingml/2006/main">
            <a:r>
              <a:t>c_fine: modeled PM2.5 mass (µg/m³)</a:t>
            </a:r>
          </a:p>
          <a:p xmlns:a="http://schemas.openxmlformats.org/drawingml/2006/main">
            <a:r>
              <a:t>c_coarse: modeled 2.5–10 µm mass (µg/m³)</a:t>
            </a:r>
          </a:p>
          <a:p xmlns:a="http://schemas.openxmlformats.org/drawingml/2006/main">
            <a:r>
              <a:t>Var: variance of a concentration estimate</a:t>
            </a:r>
          </a:p>
          <a:p xmlns:a="http://schemas.openxmlformats.org/drawingml/2006/main">
            <a:r>
              <a:t>Cov: covariance between the two estimates</a:t>
            </a:r>
          </a:p>
          <a:p xmlns:a="http://schemas.openxmlformats.org/drawingml/2006/main">
            <a:r>
              <a:t>All variance terms have units (µg/m³)²</a:t>
            </a:r>
          </a:p>
          <a:p xmlns:a="http://schemas.openxmlformats.org/drawingml/2006/main">
            <a:r>
              <a:t>Fine and coarse bins are disjoint</a:t>
            </a:r>
          </a:p>
          <a:p xmlns:a="http://schemas.openxmlformats.org/drawingml/2006/main">
            <a:r>
              <a:t>PM₁₀ = c_fine + c_coarse</a:t>
            </a:r>
          </a:p>
          <a:p xmlns:a="http://schemas.openxmlformats.org/drawingml/2006/main">
            <a:r>
              <a:t>Their covariance must enter the total error</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https://github.com/unworthyzeus/THz_ISAC_atmospheric_monitoring/blob/461a3ba/docs/48_expanded_voc_pm_and_20s_calibration.md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\begin{aligned}P_r(\nu)&amp;=\frac{P_t(\nu)G_t(\nu)G_r(\nu)}{L_{\mathrm{impl}}}\left(\frac{\lambda}{4\pi R}\right)^2 10^{-A(\nu)/10},\\[4pt]\mathrm{SNR}(\nu)&amp;=\frac{P_r(\nu)}{kB\left[T_{\mathrm{sky}}(\nu)+T_0(F-1)\right]}\end{aligned}</a:t>
            </a:r>
          </a:p>
          <a:p xmlns:a="http://schemas.openxmlformats.org/drawingml/2006/main">
            <a:r>
              <a:t/>
            </a:r>
          </a:p>
          <a:p xmlns:a="http://schemas.openxmlformats.org/drawingml/2006/main">
            <a:r>
              <a:t>Notation legend</a:t>
            </a:r>
          </a:p>
          <a:p xmlns:a="http://schemas.openxmlformats.org/drawingml/2006/main">
            <a:r>
              <a:t>ν: frequency (Hz), λ: wavelength (m)</a:t>
            </a:r>
          </a:p>
          <a:p xmlns:a="http://schemas.openxmlformats.org/drawingml/2006/main">
            <a:r>
              <a:t>P_t, P_r: transmit and received power (W)</a:t>
            </a:r>
          </a:p>
          <a:p xmlns:a="http://schemas.openxmlformats.org/drawingml/2006/main">
            <a:r>
              <a:t>G_t, G_r: antenna power gains (linear)</a:t>
            </a:r>
          </a:p>
          <a:p xmlns:a="http://schemas.openxmlformats.org/drawingml/2006/main">
            <a:r>
              <a:t>L_impl: implementation loss (linear)</a:t>
            </a:r>
          </a:p>
          <a:p xmlns:a="http://schemas.openxmlformats.org/drawingml/2006/main">
            <a:r>
              <a:t>R: propagation distance (m)</a:t>
            </a:r>
          </a:p>
          <a:p xmlns:a="http://schemas.openxmlformats.org/drawingml/2006/main">
            <a:r>
              <a:t>A(ν): atmospheric attenuation (dB)</a:t>
            </a:r>
          </a:p>
          <a:p xmlns:a="http://schemas.openxmlformats.org/drawingml/2006/main">
            <a:r>
              <a:t>SNR: signal to noise power ratio (linear)</a:t>
            </a:r>
          </a:p>
          <a:p xmlns:a="http://schemas.openxmlformats.org/drawingml/2006/main">
            <a:r>
              <a:t>k: Boltzmann constant (J/K)</a:t>
            </a:r>
          </a:p>
          <a:p xmlns:a="http://schemas.openxmlformats.org/drawingml/2006/main">
            <a:r>
              <a:t>B: receiver noise bandwidth (Hz)</a:t>
            </a:r>
          </a:p>
          <a:p xmlns:a="http://schemas.openxmlformats.org/drawingml/2006/main">
            <a:r>
              <a:t>T_sky: sky noise temperature (K)</a:t>
            </a:r>
          </a:p>
          <a:p xmlns:a="http://schemas.openxmlformats.org/drawingml/2006/main">
            <a:r>
              <a:t>T₀: receiver noise reference temperature (K)</a:t>
            </a:r>
          </a:p>
          <a:p xmlns:a="http://schemas.openxmlformats.org/drawingml/2006/main">
            <a:r>
              <a:t>F: receiver noise factor (linear)</a:t>
            </a:r>
          </a:p>
          <a:p xmlns:a="http://schemas.openxmlformats.org/drawingml/2006/main">
            <a:r>
              <a:t>F = 10^(noise figure in dB / 10)</a:t>
            </a:r>
          </a:p>
          <a:p xmlns:a="http://schemas.openxmlformats.org/drawingml/2006/main">
            <a:r>
              <a:t>T₀(F − 1): receiver noise temperature (K)</a:t>
            </a:r>
          </a:p>
          <a:p xmlns:a="http://schemas.openxmlformats.org/drawingml/2006/main">
            <a:r>
              <a:t>Gains and losses must be converted from dB</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https://github.com/unworthyzeus/THz_ISAC_atmospheric_monitoring/blob/461a3ba/docs/47_receiver_design_and_calibration.md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Best fixed block among tested candidates is centered at 224 GHz. This is not a global optimum over every possible communications design. The older 1.382% number isolates schedule counts and must not replace the full 14.64% comparison.</a:t>
            </a:r>
          </a:p>
          <a:p xmlns:a="http://schemas.openxmlformats.org/drawingml/2006/main">
            <a:r>
              <a:t/>
            </a:r>
          </a:p>
          <a:p xmlns:a="http://schemas.openxmlformats.org/drawingml/2006/main">
            <a:r>
              <a:t>LaTeX equation source</a:t>
            </a:r>
          </a:p>
          <a:p xmlns:a="http://schemas.openxmlformats.org/drawingml/2006/main">
            <a:r>
              <a:t>\overline R=\sum_b\frac{t_b}{t_{\mathrm{total}}}\sum_{k\in b}\Delta f\log_2\!\left(1+\mathrm{SNR}_k\right)</a:t>
            </a:r>
          </a:p>
          <a:p xmlns:a="http://schemas.openxmlformats.org/drawingml/2006/main">
            <a:r>
              <a:t/>
            </a:r>
          </a:p>
          <a:p xmlns:a="http://schemas.openxmlformats.org/drawingml/2006/main">
            <a:r>
              <a:t>Notation legend</a:t>
            </a:r>
          </a:p>
          <a:p xmlns:a="http://schemas.openxmlformats.org/drawingml/2006/main">
            <a:r>
              <a:t>R̄: average Gaussian information rate (bit/s)</a:t>
            </a:r>
          </a:p>
          <a:p xmlns:a="http://schemas.openxmlformats.org/drawingml/2006/main">
            <a:r>
              <a:t>b: selected frequency block index</a:t>
            </a:r>
          </a:p>
          <a:p xmlns:a="http://schemas.openxmlformats.org/drawingml/2006/main">
            <a:r>
              <a:t>k: tone index within block b</a:t>
            </a:r>
          </a:p>
          <a:p xmlns:a="http://schemas.openxmlformats.org/drawingml/2006/main">
            <a:r>
              <a:t>t_b: transmission time in block b (s)</a:t>
            </a:r>
          </a:p>
          <a:p xmlns:a="http://schemas.openxmlformats.org/drawingml/2006/main">
            <a:r>
              <a:t>t_total: total acquisition time (s)</a:t>
            </a:r>
          </a:p>
          <a:p xmlns:a="http://schemas.openxmlformats.org/drawingml/2006/main">
            <a:r>
              <a:t>t_b / t_total: block’s time fraction</a:t>
            </a:r>
          </a:p>
          <a:p xmlns:a="http://schemas.openxmlformats.org/drawingml/2006/main">
            <a:r>
              <a:t>Δf: bandwidth per tone (Hz)</a:t>
            </a:r>
          </a:p>
          <a:p xmlns:a="http://schemas.openxmlformats.org/drawingml/2006/main">
            <a:r>
              <a:t>SNR_k: tone signal to noise ratio (linear)</a:t>
            </a:r>
          </a:p>
          <a:p xmlns:a="http://schemas.openxmlformats.org/drawingml/2006/main">
            <a:r>
              <a:t>log₂: base two logarithm</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https://github.com/unworthyzeus/THz_ISAC_atmospheric_monitoring/blob/461a3ba/results/joint_receiver_revision/communication_tradeoff.json</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\begin{aligned}y_k&amp;=h_kx_k+w_k,\qquad w_k\sim\mathcal{CN}(0,V_k),\\[4pt]x[n]&amp;=\operatorname{IFFT}\{X_k\}\end{aligned}</a:t>
            </a:r>
          </a:p>
          <a:p xmlns:a="http://schemas.openxmlformats.org/drawingml/2006/main">
            <a:r>
              <a:t/>
            </a:r>
          </a:p>
          <a:p xmlns:a="http://schemas.openxmlformats.org/drawingml/2006/main">
            <a:r>
              <a:t>Notation legend</a:t>
            </a:r>
          </a:p>
          <a:p xmlns:a="http://schemas.openxmlformats.org/drawingml/2006/main">
            <a:r>
              <a:t>k: tone index, n: time sample index</a:t>
            </a:r>
          </a:p>
          <a:p xmlns:a="http://schemas.openxmlformats.org/drawingml/2006/main">
            <a:r>
              <a:t>x_k: transmitted tone symbol</a:t>
            </a:r>
          </a:p>
          <a:p xmlns:a="http://schemas.openxmlformats.org/drawingml/2006/main">
            <a:r>
              <a:t>y_k: received tone symbol</a:t>
            </a:r>
          </a:p>
          <a:p xmlns:a="http://schemas.openxmlformats.org/drawingml/2006/main">
            <a:r>
              <a:t>h_k: complex channel coefficient</a:t>
            </a:r>
          </a:p>
          <a:p xmlns:a="http://schemas.openxmlformats.org/drawingml/2006/main">
            <a:r>
              <a:t>w_k: additive complex receiver noise</a:t>
            </a:r>
          </a:p>
          <a:p xmlns:a="http://schemas.openxmlformats.org/drawingml/2006/main">
            <a:r>
              <a:t>V_k: noise variance in symbol power units</a:t>
            </a:r>
          </a:p>
          <a:p xmlns:a="http://schemas.openxmlformats.org/drawingml/2006/main">
            <a:r>
              <a:t>CN(0,V_k): circular complex Gaussian noise</a:t>
            </a:r>
          </a:p>
          <a:p xmlns:a="http://schemas.openxmlformats.org/drawingml/2006/main">
            <a:r>
              <a:t>Its real / imaginary variances are V_k / 2</a:t>
            </a:r>
          </a:p>
          <a:p xmlns:a="http://schemas.openxmlformats.org/drawingml/2006/main">
            <a:r>
              <a:t>X_k: frequency domain OFDM symbols</a:t>
            </a:r>
          </a:p>
          <a:p xmlns:a="http://schemas.openxmlformats.org/drawingml/2006/main">
            <a:r>
              <a:t>x[n]: transmitted time domain samples</a:t>
            </a:r>
          </a:p>
          <a:p xmlns:a="http://schemas.openxmlformats.org/drawingml/2006/main">
            <a:r>
              <a:t>IFFT: inverse fast Fourier transform</a:t>
            </a:r>
          </a:p>
          <a:p xmlns:a="http://schemas.openxmlformats.org/drawingml/2006/main">
            <a:r>
              <a:t>h_k scales amplitude and rotates phase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https://github.com/unworthyzeus/THz_ISAC_atmospheric_monitoring/blob/461a3ba/results/joint_receiver_revision/scope_boundaries.json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spot checks support bounded communication behavior, not a measured field recall or a continuous complete orbital pass. Selected_raw_frames.csv retains packet counts and residual CFO.</a:t>
            </a:r>
          </a:p>
          <a:p xmlns:a="http://schemas.openxmlformats.org/drawingml/2006/main">
            <a:r>
              <a:t/>
            </a:r>
          </a:p>
          <a:p xmlns:a="http://schemas.openxmlformats.org/drawingml/2006/main">
            <a:r>
              <a:t>LaTeX equation source</a:t>
            </a:r>
          </a:p>
          <a:p xmlns:a="http://schemas.openxmlformats.org/drawingml/2006/main">
            <a:r>
              <a:t>f_D\simeq\frac{v_r}{c}\,f_c</a:t>
            </a:r>
          </a:p>
          <a:p xmlns:a="http://schemas.openxmlformats.org/drawingml/2006/main">
            <a:r>
              <a:t/>
            </a:r>
          </a:p>
          <a:p xmlns:a="http://schemas.openxmlformats.org/drawingml/2006/main">
            <a:r>
              <a:t>Notation legend</a:t>
            </a:r>
          </a:p>
          <a:p xmlns:a="http://schemas.openxmlformats.org/drawingml/2006/main">
            <a:r>
              <a:t>f_D: Doppler frequency shift (Hz)</a:t>
            </a:r>
          </a:p>
          <a:p xmlns:a="http://schemas.openxmlformats.org/drawingml/2006/main">
            <a:r>
              <a:t>f_c: carrier frequency (Hz)</a:t>
            </a:r>
          </a:p>
          <a:p xmlns:a="http://schemas.openxmlformats.org/drawingml/2006/main">
            <a:r>
              <a:t>v_r: signed radial relative velocity (m/s)</a:t>
            </a:r>
          </a:p>
          <a:p xmlns:a="http://schemas.openxmlformats.org/drawingml/2006/main">
            <a:r>
              <a:t>c: speed of light (m/s)</a:t>
            </a:r>
          </a:p>
          <a:p xmlns:a="http://schemas.openxmlformats.org/drawingml/2006/main">
            <a:r>
              <a:t>≃: first order narrowband approximation</a:t>
            </a:r>
          </a:p>
          <a:p xmlns:a="http://schemas.openxmlformats.org/drawingml/2006/main">
            <a:r>
              <a:t>The shift sign follows the velocity convention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https://github.com/unworthyzeus/THz_ISAC_atmospheric_monitoring/blob/461a3ba/results/joint_receiver_revision/selected_raw_frames.csv</a:t>
            </a:r>
          </a:p>
          <a:p xmlns:a="http://schemas.openxmlformats.org/drawingml/2006/main">
            <a:r>
              <a:t>https://github.com/unworthyzeus/THz_ISAC_atmospheric_monitoring/blob/461a3ba/results/joint_receiver_revision/scope_boundaries.json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\begin{aligned}\mathbf a&amp;=\mathbf D\mathbf c+\mathbf N\boldsymbol\beta+\mathbf e,\qquad\mathbf C=\operatorname{Cov}(\mathbf e),\\[4pt]\mathbf P&amp;=\mathbf I-\mathbf Q_N\mathbf Q_N^{\mathsf T},\qquad\widehat{\mathbf c}=\mathbf H\mathbf a\end{aligned}</a:t>
            </a:r>
          </a:p>
          <a:p xmlns:a="http://schemas.openxmlformats.org/drawingml/2006/main">
            <a:r>
              <a:t/>
            </a:r>
          </a:p>
          <a:p xmlns:a="http://schemas.openxmlformats.org/drawingml/2006/main">
            <a:r>
              <a:t>Notation legend</a:t>
            </a:r>
          </a:p>
          <a:p xmlns:a="http://schemas.openxmlformats.org/drawingml/2006/main">
            <a:r>
              <a:t>a: attenuation vector (dB), e: error (dB)</a:t>
            </a:r>
          </a:p>
          <a:p xmlns:a="http://schemas.openxmlformats.org/drawingml/2006/main">
            <a:r>
              <a:t>D: target response matrix</a:t>
            </a:r>
          </a:p>
          <a:p xmlns:a="http://schemas.openxmlformats.org/drawingml/2006/main">
            <a:r>
              <a:t>c, ĉ: true / estimated concentrations (µg/m³)</a:t>
            </a:r>
          </a:p>
          <a:p xmlns:a="http://schemas.openxmlformats.org/drawingml/2006/main">
            <a:r>
              <a:t>N β: nuisance attenuation contribution (dB)</a:t>
            </a:r>
          </a:p>
          <a:p xmlns:a="http://schemas.openxmlformats.org/drawingml/2006/main">
            <a:r>
              <a:t>C = Cov(e): observation covariance (dB²)</a:t>
            </a:r>
          </a:p>
          <a:p xmlns:a="http://schemas.openxmlformats.org/drawingml/2006/main">
            <a:r>
              <a:t>N: nuisance response matrix</a:t>
            </a:r>
          </a:p>
          <a:p xmlns:a="http://schemas.openxmlformats.org/drawingml/2006/main">
            <a:r>
              <a:t>β: nuisance coefficients</a:t>
            </a:r>
          </a:p>
          <a:p xmlns:a="http://schemas.openxmlformats.org/drawingml/2006/main">
            <a:r>
              <a:t>Q_N: orthonormal whitened nuisance basis</a:t>
            </a:r>
          </a:p>
          <a:p xmlns:a="http://schemas.openxmlformats.org/drawingml/2006/main">
            <a:r>
              <a:t>P: projector away from nuisance space</a:t>
            </a:r>
          </a:p>
          <a:p xmlns:a="http://schemas.openxmlformats.org/drawingml/2006/main">
            <a:r>
              <a:t>I: identity matrix, T: matrix transpose</a:t>
            </a:r>
          </a:p>
          <a:p xmlns:a="http://schemas.openxmlformats.org/drawingml/2006/main">
            <a:r>
              <a:t>H: linear concentration retrieval operator</a:t>
            </a:r>
          </a:p>
          <a:p xmlns:a="http://schemas.openxmlformats.org/drawingml/2006/main">
            <a:r>
              <a:t>Bold symbols denote vectors or matrices</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https://github.com/unworthyzeus/THz_ISAC_atmospheric_monitoring/blob/461a3ba/scripts/joint_receiver_support.py</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The fresh uniform control is 57.40%. The historical 56.63% value belongs to an earlier independent simulation. The selected result is a conditional improvement at equal resources.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https://github.com/unworthyzeus/THz_ISAC_atmospheric_monitoring/blob/461a3ba/results/joint_receiver_revision/selection.json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M2M4 is established prior work. The contribution is its application, resource accounting and conditional evaluation here. Invalid inversions count as failures. Large experiments use the joint asymptotic distribution of second/fourth sample moments and nonlinear inversion. Raw QPSK controls independently test bounded cases.</a:t>
            </a:r>
          </a:p>
          <a:p xmlns:a="http://schemas.openxmlformats.org/drawingml/2006/main">
            <a:r>
              <a:t/>
            </a:r>
          </a:p>
          <a:p xmlns:a="http://schemas.openxmlformats.org/drawingml/2006/main">
            <a:r>
              <a:t>LaTeX equation source</a:t>
            </a:r>
          </a:p>
          <a:p xmlns:a="http://schemas.openxmlformats.org/drawingml/2006/main">
            <a:r>
              <a:t>\begin{aligned}M_2&amp;=S+V,\qquad M_4=S^2+4SV+2V^2,\\[4pt]S&amp;=\sqrt{2M_2^2-M_4},\qquad A=-10\log_{10}\!\left(\frac{S_{\mathrm{sample}}}{S_{\mathrm{reference}}}\right)\end{aligned}</a:t>
            </a:r>
          </a:p>
          <a:p xmlns:a="http://schemas.openxmlformats.org/drawingml/2006/main">
            <a:r>
              <a:t/>
            </a:r>
          </a:p>
          <a:p xmlns:a="http://schemas.openxmlformats.org/drawingml/2006/main">
            <a:r>
              <a:t>Notation legend</a:t>
            </a:r>
          </a:p>
          <a:p xmlns:a="http://schemas.openxmlformats.org/drawingml/2006/main">
            <a:r>
              <a:t>M₂: second moment E[|y|²]</a:t>
            </a:r>
          </a:p>
          <a:p xmlns:a="http://schemas.openxmlformats.org/drawingml/2006/main">
            <a:r>
              <a:t>M₄: fourth moment E[|y|⁴]</a:t>
            </a:r>
          </a:p>
          <a:p xmlns:a="http://schemas.openxmlformats.org/drawingml/2006/main">
            <a:r>
              <a:t>y: received complex symbol</a:t>
            </a:r>
          </a:p>
          <a:p xmlns:a="http://schemas.openxmlformats.org/drawingml/2006/main">
            <a:r>
              <a:t>E: expectation, |y|: complex magnitude</a:t>
            </a:r>
          </a:p>
          <a:p xmlns:a="http://schemas.openxmlformats.org/drawingml/2006/main">
            <a:r>
              <a:t>S: received signal power</a:t>
            </a:r>
          </a:p>
          <a:p xmlns:a="http://schemas.openxmlformats.org/drawingml/2006/main">
            <a:r>
              <a:t>V: receiver noise power</a:t>
            </a:r>
          </a:p>
          <a:p xmlns:a="http://schemas.openxmlformats.org/drawingml/2006/main">
            <a:r>
              <a:t>M₂, S, V share power units</a:t>
            </a:r>
          </a:p>
          <a:p xmlns:a="http://schemas.openxmlformats.org/drawingml/2006/main">
            <a:r>
              <a:t>M₄ has squared power units</a:t>
            </a:r>
          </a:p>
          <a:p xmlns:a="http://schemas.openxmlformats.org/drawingml/2006/main">
            <a:r>
              <a:t>A: differential attenuation (dB)</a:t>
            </a:r>
          </a:p>
          <a:p xmlns:a="http://schemas.openxmlformats.org/drawingml/2006/main">
            <a:r>
              <a:t>S_sample: signal power in sample observation</a:t>
            </a:r>
          </a:p>
          <a:p xmlns:a="http://schemas.openxmlformats.org/drawingml/2006/main">
            <a:r>
              <a:t>S_reference: signal power in reference</a:t>
            </a:r>
          </a:p>
          <a:p xmlns:a="http://schemas.openxmlformats.org/drawingml/2006/main">
            <a:r>
              <a:t>log₁₀: base ten logarithm</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https://github.com/unworthyzeus/THz_ISAC_atmospheric_monitoring/blob/461a3ba/docs/42_payload_recall.md</a:t>
            </a:r>
          </a:p>
          <a:p xmlns:a="http://schemas.openxmlformats.org/drawingml/2006/main">
            <a:r>
              <a:t>https://arxiv.org/abs/2506.15998</a:t>
            </a:r>
          </a:p>
          <a:p xmlns:a="http://schemas.openxmlformats.org/drawingml/2006/main">
            <a:r>
              <a:t>https://github.com/unworthyzeus/THz_ISAC_atmospheric_monitoring/blob/461a3ba/paper/current_study.tex</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results in docs/42_payload_recall.md. This table compares methods within each original control. It is separate from the current five-gas hopping receiver and its eight-output false-alarm family. M2M4 itself is established prior work.</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https://github.com/unworthyzeus/THz_ISAC_atmospheric_monitoring/blob/461a3ba/docs/42_payload_recall.md</a:t>
            </a:r>
          </a:p>
          <a:p xmlns:a="http://schemas.openxmlformats.org/drawingml/2006/main">
            <a:r>
              <a:t>https://github.com/unworthyzeus/THz_ISAC_atmospheric_monitoring/blob/461a3ba/docs/46_critical_calibration_assumption.md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Each positive and null class has 10,000 trials. Exact CH3CN interval 97.355–97.957%. Family false alarms 0.79%. At nominal 95% detection points relative concentration RMSE is about 21%, not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\begin{aligned}J_{ab}&amp;=\mathbb E\!\left[\frac{\partial\log p(y;\boldsymbol\theta)}{\partial\theta_a}\frac{\partial\log p(y;\boldsymbol\theta)}{\partial\theta_b}\right],\\[4pt]\mathbf J_{\mathrm{eff}}&amp;=\mathbf J_{cc}-\mathbf J_{c\eta}\mathbf J_{\eta\eta}^{-1}\mathbf J_{\eta c},\qquad\operatorname{Cov}(\widehat{\mathbf c})\succeq\mathbf J_{\mathrm{eff}}^{-1}\end{aligned}</a:t>
            </a:r>
          </a:p>
          <a:p xmlns:a="http://schemas.openxmlformats.org/drawingml/2006/main">
            <a:r>
              <a:t/>
            </a:r>
          </a:p>
          <a:p xmlns:a="http://schemas.openxmlformats.org/drawingml/2006/main">
            <a:r>
              <a:t>Notation legend</a:t>
            </a:r>
          </a:p>
          <a:p xmlns:a="http://schemas.openxmlformats.org/drawingml/2006/main">
            <a:r>
              <a:t>y: observed signal data</a:t>
            </a:r>
          </a:p>
          <a:p xmlns:a="http://schemas.openxmlformats.org/drawingml/2006/main">
            <a:r>
              <a:t>θ: complete unknown parameter vector</a:t>
            </a:r>
          </a:p>
          <a:p xmlns:a="http://schemas.openxmlformats.org/drawingml/2006/main">
            <a:r>
              <a:t>p(y;θ): likelihood of the observations</a:t>
            </a:r>
          </a:p>
          <a:p xmlns:a="http://schemas.openxmlformats.org/drawingml/2006/main">
            <a:r>
              <a:t>E: expectation under the assumed model</a:t>
            </a:r>
          </a:p>
          <a:p xmlns:a="http://schemas.openxmlformats.org/drawingml/2006/main">
            <a:r>
              <a:t>J_ab: Fisher information entry for θ_a, θ_b</a:t>
            </a:r>
          </a:p>
          <a:p xmlns:a="http://schemas.openxmlformats.org/drawingml/2006/main">
            <a:r>
              <a:t>c: target concentration vector (µg/m³)</a:t>
            </a:r>
          </a:p>
          <a:p xmlns:a="http://schemas.openxmlformats.org/drawingml/2006/main">
            <a:r>
              <a:t>η: nuisance parameter vector</a:t>
            </a:r>
          </a:p>
          <a:p xmlns:a="http://schemas.openxmlformats.org/drawingml/2006/main">
            <a:r>
              <a:t>J_cc, J_cη, J_ηη: Fisher matrix blocks</a:t>
            </a:r>
          </a:p>
          <a:p xmlns:a="http://schemas.openxmlformats.org/drawingml/2006/main">
            <a:r>
              <a:t>J_eff: information after nuisance profiling</a:t>
            </a:r>
          </a:p>
          <a:p xmlns:a="http://schemas.openxmlformats.org/drawingml/2006/main">
            <a:r>
              <a:t>ĉ: estimated concentration vector</a:t>
            </a:r>
          </a:p>
          <a:p xmlns:a="http://schemas.openxmlformats.org/drawingml/2006/main">
            <a:r>
              <a:t>Cov(ĉ): estimator covariance, units (µg/m³)²</a:t>
            </a:r>
          </a:p>
          <a:p xmlns:a="http://schemas.openxmlformats.org/drawingml/2006/main">
            <a:r>
              <a:t>−1: matrix inverse, ⪰: covariance lower bound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https://github.com/unworthyzeus/THz_ISAC_atmospheric_monitoring/blob/461a3ba/docs/44_payload_information_derivation.md</a:t>
            </a:r>
          </a:p>
          <a:p xmlns:a="http://schemas.openxmlformats.org/drawingml/2006/main">
            <a:r>
              <a:t>https://github.com/unworthyzeus/THz_ISAC_atmospheric_monitoring/blob/461a3ba/docs/45_payload_bounds_results.md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atmosphere at 45°, charged 10 s reference plus 10 s sample, unknown noise and joint spectral nuisance. The prior six-output family differs from the current eight-output family. Do not use this table to rank current and old designs as equal conditions.</a:t>
            </a:r>
          </a:p>
          <a:p xmlns:a="http://schemas.openxmlformats.org/drawingml/2006/main">
            <a:r>
              <a:t/>
            </a:r>
          </a:p>
          <a:p xmlns:a="http://schemas.openxmlformats.org/drawingml/2006/main">
            <a:r>
              <a:t>LaTeX equation source</a:t>
            </a:r>
          </a:p>
          <a:p xmlns:a="http://schemas.openxmlformats.org/drawingml/2006/main">
            <a:r>
              <a:t>\mathrm{Efficiency}=\frac{\text{variance lower bound}}{\text{estimator variance}}</a:t>
            </a:r>
          </a:p>
          <a:p xmlns:a="http://schemas.openxmlformats.org/drawingml/2006/main">
            <a:r>
              <a:t/>
            </a:r>
          </a:p>
          <a:p xmlns:a="http://schemas.openxmlformats.org/drawingml/2006/main">
            <a:r>
              <a:t>Notation legend</a:t>
            </a:r>
          </a:p>
          <a:p xmlns:a="http://schemas.openxmlformats.org/drawingml/2006/main">
            <a:r>
              <a:t>Efficiency: lower bound / estimator variance</a:t>
            </a:r>
          </a:p>
          <a:p xmlns:a="http://schemas.openxmlformats.org/drawingml/2006/main">
            <a:r>
              <a:t>Displayed percentage = 100 × this ratio</a:t>
            </a:r>
          </a:p>
          <a:p xmlns:a="http://schemas.openxmlformats.org/drawingml/2006/main">
            <a:r>
              <a:t>Variance lower bound: conditional CRLB</a:t>
            </a:r>
          </a:p>
          <a:p xmlns:a="http://schemas.openxmlformats.org/drawingml/2006/main">
            <a:r>
              <a:t>CRLB: Cramér–Rao lower bound</a:t>
            </a:r>
          </a:p>
          <a:p xmlns:a="http://schemas.openxmlformats.org/drawingml/2006/main">
            <a:r>
              <a:t>Estimator variance: variance of M2M4 output</a:t>
            </a:r>
          </a:p>
          <a:p xmlns:a="http://schemas.openxmlformats.org/drawingml/2006/main">
            <a:r>
              <a:t>Both variances use the same concentration units²</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https://github.com/unworthyzeus/THz_ISAC_atmospheric_monitoring/blob/461a3ba/docs/45_payload_bounds_results.md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\begin{aligned}\mathbf C(t,\sigma_{\mathrm{cal}})&amp;=\operatorname{diag}\!\left[\mathbf V_{\mathrm{sample}}(t/2)+\mathbf V_{\mathrm{reference}}(t/2)\right]+\sigma_{\mathrm{cal}}^2\mathbf K,\\[4pt]K_{ij}&amp;=\exp\!\left(-\frac{|\nu_i-\nu_j|}{10\,\mathrm{GHz}}\right)\end{aligned}</a:t>
            </a:r>
          </a:p>
          <a:p xmlns:a="http://schemas.openxmlformats.org/drawingml/2006/main">
            <a:r>
              <a:t/>
            </a:r>
          </a:p>
          <a:p xmlns:a="http://schemas.openxmlformats.org/drawingml/2006/main">
            <a:r>
              <a:t>Notation legend</a:t>
            </a:r>
          </a:p>
          <a:p xmlns:a="http://schemas.openxmlformats.org/drawingml/2006/main">
            <a:r>
              <a:t>C: attenuation covariance matrix (dB²)</a:t>
            </a:r>
          </a:p>
          <a:p xmlns:a="http://schemas.openxmlformats.org/drawingml/2006/main">
            <a:r>
              <a:t>t: total reference plus sample time (s)</a:t>
            </a:r>
          </a:p>
          <a:p xmlns:a="http://schemas.openxmlformats.org/drawingml/2006/main">
            <a:r>
              <a:t>t / 2: time assigned to each observation</a:t>
            </a:r>
          </a:p>
          <a:p xmlns:a="http://schemas.openxmlformats.org/drawingml/2006/main">
            <a:r>
              <a:t>V_sample, V_reference: variance vectors (dB²)</a:t>
            </a:r>
          </a:p>
          <a:p xmlns:a="http://schemas.openxmlformats.org/drawingml/2006/main">
            <a:r>
              <a:t>diag: diagonal matrix built from a vector</a:t>
            </a:r>
          </a:p>
          <a:p xmlns:a="http://schemas.openxmlformats.org/drawingml/2006/main">
            <a:r>
              <a:t>σ_cal: persistent residual standard deviation (dB)</a:t>
            </a:r>
          </a:p>
          <a:p xmlns:a="http://schemas.openxmlformats.org/drawingml/2006/main">
            <a:r>
              <a:t>K: dimensionless spectral correlation matrix</a:t>
            </a:r>
          </a:p>
          <a:p xmlns:a="http://schemas.openxmlformats.org/drawingml/2006/main">
            <a:r>
              <a:t>K_ij: correlation of frequency bins i and j</a:t>
            </a:r>
          </a:p>
          <a:p xmlns:a="http://schemas.openxmlformats.org/drawingml/2006/main">
            <a:r>
              <a:t>ν_i, ν_j: bin frequencies in matching units</a:t>
            </a:r>
          </a:p>
          <a:p xmlns:a="http://schemas.openxmlformats.org/drawingml/2006/main">
            <a:r>
              <a:t>10 GHz: assumed spectral correlation length</a:t>
            </a:r>
          </a:p>
          <a:p xmlns:a="http://schemas.openxmlformats.org/drawingml/2006/main">
            <a:r>
              <a:t>exp: exponential function</a:t>
            </a:r>
          </a:p>
          <a:p xmlns:a="http://schemas.openxmlformats.org/drawingml/2006/main">
            <a:r>
              <a:t>σ_cal² K: persistent covariance contribution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https://github.com/unworthyzeus/THz_ISAC_atmospheric_monitoring/blob/461a3ba/results/joint_receiver_revision/global_comparison_protocol.json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Curves use separate finite Monte Carlo samples. The 100% observed values retain confidence intervals below perfect population recall. The covariance is persistent within each acquisition.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23 dBm transmit power, matched reference weather, 10 GHz residual correlation. All rejected cases are standard atmosphere, 30° elevation, 17 dB noise figure for both schedules and all times/calibrations. Their target separation fails the numerical gate. Failed rows remain present and do not receive fabricated zero recall.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https://github.com/unworthyzeus/THz_ISAC_atmospheric_monitoring/blob/461a3ba/results/joint_receiver_revision/global_comparison.csv</a:t>
            </a:r>
          </a:p>
          <a:p xmlns:a="http://schemas.openxmlformats.org/drawingml/2006/main">
            <a:r>
              <a:t>https://github.com/unworthyzeus/THz_ISAC_atmospheric_monitoring/blob/461a3ba/results/joint_receiver_revision/global_comparison_protocol.json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 TP/(TP+FN). False alarms = FP/(FP+TN). Relative RMSE = sqrt(mean((estimate−truth)^2))/truth. Precision and F1 use artificial 50% prevalence. A missing in-domain solution remains unavailable. The PM10 output participates in the family although it derives from two masses.</a:t>
            </a:r>
          </a:p>
          <a:p xmlns:a="http://schemas.openxmlformats.org/drawingml/2006/main">
            <a:r>
              <a:t/>
            </a:r>
          </a:p>
          <a:p xmlns:a="http://schemas.openxmlformats.org/drawingml/2006/main">
            <a:r>
              <a:t>LaTeX equation source</a:t>
            </a:r>
          </a:p>
          <a:p xmlns:a="http://schemas.openxmlformats.org/drawingml/2006/main">
            <a:r>
              <a:t>\begin{aligned}z&amp;=\Phi^{-1}\!\left(1-\frac{0.01}{8}\right),\qquad\widehat c_j&gt;z\,s_{\mathrm{null}},\\[4pt]c_{95}&amp;=z\,s_{\mathrm{null}}+1.64485\,s_{\mathrm{positive}}(c_{95})\end{aligned}</a:t>
            </a:r>
          </a:p>
          <a:p xmlns:a="http://schemas.openxmlformats.org/drawingml/2006/main">
            <a:r>
              <a:t/>
            </a:r>
          </a:p>
          <a:p xmlns:a="http://schemas.openxmlformats.org/drawingml/2006/main">
            <a:r>
              <a:t>Notation legend</a:t>
            </a:r>
          </a:p>
          <a:p xmlns:a="http://schemas.openxmlformats.org/drawingml/2006/main">
            <a:r>
              <a:t>Φ⁻¹: inverse standard normal CDF</a:t>
            </a:r>
          </a:p>
          <a:p xmlns:a="http://schemas.openxmlformats.org/drawingml/2006/main">
            <a:r>
              <a:t>z: dimensionless null detection threshold</a:t>
            </a:r>
          </a:p>
          <a:p xmlns:a="http://schemas.openxmlformats.org/drawingml/2006/main">
            <a:r>
              <a:t>0.01: family false alarm probability budget</a:t>
            </a:r>
          </a:p>
          <a:p xmlns:a="http://schemas.openxmlformats.org/drawingml/2006/main">
            <a:r>
              <a:t>8: number of reported outputs</a:t>
            </a:r>
          </a:p>
          <a:p xmlns:a="http://schemas.openxmlformats.org/drawingml/2006/main">
            <a:r>
              <a:t>ĉ_j: estimate for target j (µg/m³)</a:t>
            </a:r>
          </a:p>
          <a:p xmlns:a="http://schemas.openxmlformats.org/drawingml/2006/main">
            <a:r>
              <a:t>s_null: standard deviation under the null</a:t>
            </a:r>
          </a:p>
          <a:p xmlns:a="http://schemas.openxmlformats.org/drawingml/2006/main">
            <a:r>
              <a:t>s_positive(c): standard deviation at mass c</a:t>
            </a:r>
          </a:p>
          <a:p xmlns:a="http://schemas.openxmlformats.org/drawingml/2006/main">
            <a:r>
              <a:t>Both standard deviations use µg/m³</a:t>
            </a:r>
          </a:p>
          <a:p xmlns:a="http://schemas.openxmlformats.org/drawingml/2006/main">
            <a:r>
              <a:t>c₉₅: concentration for 95% recall (µg/m³)</a:t>
            </a:r>
          </a:p>
          <a:p xmlns:a="http://schemas.openxmlformats.org/drawingml/2006/main">
            <a:r>
              <a:t>1.64485: Φ⁻¹(0.95), a normal quantile</a:t>
            </a:r>
          </a:p>
          <a:p xmlns:a="http://schemas.openxmlformats.org/drawingml/2006/main">
            <a:r>
              <a:t>&gt;: target detection decision</a:t>
            </a:r>
          </a:p>
          <a:p xmlns:a="http://schemas.openxmlformats.org/drawingml/2006/main">
            <a:r>
              <a:t>The variance depends on positive concentration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https://github.com/unworthyzeus/THz_ISAC_atmospheric_monitoring/blob/461a3ba/scripts/evaluate_joint_receiver.py</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Values solve positive-response variance and precede Monte Carlo evaluation. Actual simulated recalls near 95% remain as measured fractions in the response CSV. All calibration levels are assumed.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prior standards review discusses WHO 2021 ambient PM guidelines and separate indoor formaldehyde guidance. These are different domains and time averages. This presentation does not interpret short radio enhancements as regulatory measurements.</a:t>
            </a:r>
          </a:p>
          <a:p xmlns:a="http://schemas.openxmlformats.org/drawingml/2006/main">
            <a:r>
              <a:t/>
            </a:r>
          </a:p>
          <a:p xmlns:a="http://schemas.openxmlformats.org/drawingml/2006/main">
            <a:r>
              <a:t>LaTeX equation source</a:t>
            </a:r>
          </a:p>
          <a:p xmlns:a="http://schemas.openxmlformats.org/drawingml/2006/main">
            <a:r>
              <a:t>\chi_{\mathrm{ppm}}=\frac{c_{\mu\mathrm{g}/\mathrm m^3}\,R\,T}{p\,M_{\mathrm g/\mathrm{mol}}}</a:t>
            </a:r>
          </a:p>
          <a:p xmlns:a="http://schemas.openxmlformats.org/drawingml/2006/main">
            <a:r>
              <a:t/>
            </a:r>
          </a:p>
          <a:p xmlns:a="http://schemas.openxmlformats.org/drawingml/2006/main">
            <a:r>
              <a:t>Notation legend</a:t>
            </a:r>
          </a:p>
          <a:p xmlns:a="http://schemas.openxmlformats.org/drawingml/2006/main">
            <a:r>
              <a:t>χ_ppm: gas mole fraction in ppm</a:t>
            </a:r>
          </a:p>
          <a:p xmlns:a="http://schemas.openxmlformats.org/drawingml/2006/main">
            <a:r>
              <a:t>c: gas mass concentration in µg/m³</a:t>
            </a:r>
          </a:p>
          <a:p xmlns:a="http://schemas.openxmlformats.org/drawingml/2006/main">
            <a:r>
              <a:t>M: gas molar mass in g/mol</a:t>
            </a:r>
          </a:p>
          <a:p xmlns:a="http://schemas.openxmlformats.org/drawingml/2006/main">
            <a:r>
              <a:t>R: ideal gas constant, 8.314 J/(mol K)</a:t>
            </a:r>
          </a:p>
          <a:p xmlns:a="http://schemas.openxmlformats.org/drawingml/2006/main">
            <a:r>
              <a:t>T: local absolute temperature (K)</a:t>
            </a:r>
          </a:p>
          <a:p xmlns:a="http://schemas.openxmlformats.org/drawingml/2006/main">
            <a:r>
              <a:t>p: local atmospheric pressure (Pa)</a:t>
            </a:r>
          </a:p>
          <a:p xmlns:a="http://schemas.openxmlformats.org/drawingml/2006/main">
            <a:r>
              <a:t>1 ppm = 10⁻⁶ mol/mol</a:t>
            </a:r>
          </a:p>
          <a:p xmlns:a="http://schemas.openxmlformats.org/drawingml/2006/main">
            <a:r>
              <a:t>The stated mass units cancel the 10⁶ factor</a:t>
            </a:r>
          </a:p>
          <a:p xmlns:a="http://schemas.openxmlformats.org/drawingml/2006/main">
            <a:r>
              <a:t>This gas conversion does not apply to PM</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https://github.com/unworthyzeus/THz_ISAC_atmospheric_monitoring/blob/461a3ba/docs/45_payload_bounds_results.md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0.000146 dB number is a local requirement, not a measured achieved accuracy. Independent hop-gain nuisance terms make the current separation unstable. Prior zero-calibration headline controls are retained separately in the permanent calibration note.</a:t>
            </a:r>
          </a:p>
          <a:p xmlns:a="http://schemas.openxmlformats.org/drawingml/2006/main">
            <a:r>
              <a:t/>
            </a:r>
          </a:p>
          <a:p xmlns:a="http://schemas.openxmlformats.org/drawingml/2006/main">
            <a:r>
              <a:t>LaTeX equation source</a:t>
            </a:r>
          </a:p>
          <a:p xmlns:a="http://schemas.openxmlformats.org/drawingml/2006/main">
            <a:r>
              <a:t>\begin{aligned}|b_i|&amp;\leq\varepsilon\quad\Longrightarrow\quad B_j=\varepsilon\,\lVert\mathbf H_j\rVert_1,\\[4pt]c_{95,\mathrm{protected}}&amp;\simeq(z+1.64485)s_j+2B_j\end{aligned}</a:t>
            </a:r>
          </a:p>
          <a:p xmlns:a="http://schemas.openxmlformats.org/drawingml/2006/main">
            <a:r>
              <a:t/>
            </a:r>
          </a:p>
          <a:p xmlns:a="http://schemas.openxmlformats.org/drawingml/2006/main">
            <a:r>
              <a:t>Notation legend</a:t>
            </a:r>
          </a:p>
          <a:p xmlns:a="http://schemas.openxmlformats.org/drawingml/2006/main">
            <a:r>
              <a:t>b_i: persistent bias in attenuation bin i (dB)</a:t>
            </a:r>
          </a:p>
          <a:p xmlns:a="http://schemas.openxmlformats.org/drawingml/2006/main">
            <a:r>
              <a:t>ε: upper bound on each |b_i| (dB)</a:t>
            </a:r>
          </a:p>
          <a:p xmlns:a="http://schemas.openxmlformats.org/drawingml/2006/main">
            <a:r>
              <a:t>i: spectral bin, j: retrieved target</a:t>
            </a:r>
          </a:p>
          <a:p xmlns:a="http://schemas.openxmlformats.org/drawingml/2006/main">
            <a:r>
              <a:t>H_j: row j of the concentration operator</a:t>
            </a:r>
          </a:p>
          <a:p xmlns:a="http://schemas.openxmlformats.org/drawingml/2006/main">
            <a:r>
              <a:t>‖H_j‖₁: sum of absolute row coefficients</a:t>
            </a:r>
          </a:p>
          <a:p xmlns:a="http://schemas.openxmlformats.org/drawingml/2006/main">
            <a:r>
              <a:t>B_j: resulting concentration bias bound (µg/m³)</a:t>
            </a:r>
          </a:p>
          <a:p xmlns:a="http://schemas.openxmlformats.org/drawingml/2006/main">
            <a:r>
              <a:t>s_j: concentration standard deviation (µg/m³)</a:t>
            </a:r>
          </a:p>
          <a:p xmlns:a="http://schemas.openxmlformats.org/drawingml/2006/main">
            <a:r>
              <a:t>z: null threshold, 1.64485: 95% normal quantile</a:t>
            </a:r>
          </a:p>
          <a:p xmlns:a="http://schemas.openxmlformats.org/drawingml/2006/main">
            <a:r>
              <a:t>c₉₅,protected: bias protected limit (µg/m³)</a:t>
            </a:r>
          </a:p>
          <a:p xmlns:a="http://schemas.openxmlformats.org/drawingml/2006/main">
            <a:r>
              <a:t>≃: local approximation with constant variance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https://github.com/unworthyzeus/THz_ISAC_atmospheric_monitoring/blob/461a3ba/docs/46_critical_calibration_assumption.md</a:t>
            </a:r>
          </a:p>
          <a:p xmlns:a="http://schemas.openxmlformats.org/drawingml/2006/main">
            <a:r>
              <a:t>https://github.com/unworthyzeus/THz_ISAC_atmospheric_monitoring/blob/461a3ba/results/joint_receiver_revision/calibration_requirements.csv</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listed failures remain in the current audit and retained stress outputs. The nominal 17 dB noise-figure grid also rejects standard atmosphere at 30° for both schedules. Successful runs do not conceal those cases.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https://github.com/unworthyzeus/THz_ISAC_atmospheric_monitoring/blob/461a3ba/results/joint_receiver_revision/stress_sensitivity.csv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remaining-work ledger: docs/49_completion_audit_and_fixes.md. Additional unresolved details include unequal dwell/global frequency optimization, spectroscopy uncertainty, real-time hardware latency, atmospheric horizontal variability and communication coding/adaptation baselines.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next experiments. No campaign has been completed or funded by this presentation. Before hardware access, full warped-time simulation and an additional PM observable are the most useful computational follow-ups.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The current schedule loses 14.64% Gaussian rate against the best tested fixed block. Source snapshot 461a3ba retains 235 tests and 25,172 numerical checks. These verify implementation and consistency, not physical truth.</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conditional predictions using positive-response variance, not Monte Carlo frequencies. Ranges are operating-condition envelopes, not confidence intervals. Full 288-condition axes appear on Task 4.2 slides. Power fixed at 23 dBm and reference weather matched.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https://github.com/unworthyzeus/THz_ISAC_atmospheric_monitoring/blob/461a3ba/results/joint_receiver_revision/global_comparison.csv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PM10 positive injection uses fine/coarse fractions 49/90 and 41/90. Each class has 10,000 trials. Binomial variation explains small nonmonotonic differences near the null rate. PM10 variance includes the cross covariance.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https://github.com/unworthyzeus/THz_ISAC_atmospheric_monitoring . The snapshot contains 235 passing tests and 25,172 numerical checks. These counts describe the computational research snapshot, not slide validation or independent physical evidence.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HITRAN2024: https://hitran.org/media/refs/HITRAN-2024.pdf</a:t>
            </a:r>
          </a:p>
          <a:p xmlns:a="http://schemas.openxmlformats.org/drawingml/2006/main">
            <a:r>
              <a:t>HAPI: https://doi.org/10.1016/j.jqsrt.2016.03.005</a:t>
            </a:r>
          </a:p>
          <a:p xmlns:a="http://schemas.openxmlformats.org/drawingml/2006/main">
            <a:r>
              <a:t>ITU-R P.835-7: https://www.itu.int/rec/R-REC-P.835</a:t>
            </a:r>
          </a:p>
          <a:p xmlns:a="http://schemas.openxmlformats.org/drawingml/2006/main">
            <a:r>
              <a:t>ITU-R P.676-13: https://www.itu.int/rec/R-REC-P.676</a:t>
            </a:r>
          </a:p>
          <a:p xmlns:a="http://schemas.openxmlformats.org/drawingml/2006/main">
            <a:r>
              <a:t>NOAA IGRA: https://www.ncei.noaa.gov/products/weather-balloon/integrated-global-radiosonde-archive</a:t>
            </a:r>
          </a:p>
          <a:p xmlns:a="http://schemas.openxmlformats.org/drawingml/2006/main">
            <a:r>
              <a:t>Aliaga et al.: https://doi.org/10.1109/JSTARS.2024.3480816</a:t>
            </a:r>
          </a:p>
          <a:p xmlns:a="http://schemas.openxmlformats.org/drawingml/2006/main">
            <a:r>
              <a:t>Yang et al.: https://doi.org/10.1109/OJCOMS.2024.3386759</a:t>
            </a:r>
          </a:p>
          <a:p xmlns:a="http://schemas.openxmlformats.org/drawingml/2006/main">
            <a:r>
              <a:t>Xu et al.: https://arxiv.org/abs/2506.15998</a:t>
            </a:r>
          </a:p>
          <a:p xmlns:a="http://schemas.openxmlformats.org/drawingml/2006/main">
            <a:r>
              <a:t>M2M4: Gianmarco Romano, 2021, doi:10.3390/s21154950. See full references in current manuscript.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file hashes were checked against the current physics manifest. The two pools contain 287,737 and 31,264 rows. The molecular cross section function uses no wing cutoff by default. Centre counts in 220–330 GHz are descriptive and do not define a filter. HITRAN supplies line positions, strengths, air broadening, lower state energy, temperature exponents and pressure shifts. HAPI provides isotope masses and TIPS partition sums. Earlier 34-table acquisition totals belong to a broader historical catalog.</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https://github.com/unworthyzeus/THz_ISAC_atmospheric_monitoring/blob/main/docs/53_dataset_subsets_and_roles.md</a:t>
            </a:r>
          </a:p>
          <a:p xmlns:a="http://schemas.openxmlformats.org/drawingml/2006/main">
            <a:r>
              <a:t>https://github.com/unworthyzeus/THz_ISAC_atmospheric_monitoring/blob/main/results/presentation_source_audit/dataset_subsets.json</a:t>
            </a:r>
          </a:p>
          <a:p xmlns:a="http://schemas.openxmlformats.org/drawingml/2006/main">
            <a:r>
              <a:t>https://github.com/unworthyzeus/THz_ISAC_atmospheric_monitoring/blob/461a3ba/results/payload_bounds/spectroscopy_acquisition.json</a:t>
            </a:r>
          </a:p>
          <a:p xmlns:a="http://schemas.openxmlformats.org/drawingml/2006/main">
            <a:r>
              <a:t>https://github.com/unworthyzeus/THz_ISAC_atmospheric_monitoring/blob/461a3ba/results/receiver_design/voc_pm_extension/acquisition.json</a:t>
            </a:r>
          </a:p>
          <a:p xmlns:a="http://schemas.openxmlformats.org/drawingml/2006/main">
            <a:r>
              <a:t>https://github.com/unworthyzeus/THz_ISAC_atmospheric_monitoring/blob/461a3ba/scripts/joint_receiver_support.py</a:t>
            </a:r>
          </a:p>
          <a:p xmlns:a="http://schemas.openxmlformats.org/drawingml/2006/main">
            <a:r>
              <a:t>https://github.com/unworthyzeus/THz_ISAC_atmospheric_monitoring/blob/461a3ba/src/thz_isac/physical_spectroscopy.py</a:t>
            </a:r>
          </a:p>
          <a:p xmlns:a="http://schemas.openxmlformats.org/drawingml/2006/main">
            <a:r>
              <a:t>https://hitran.org</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retained parser output contains 103,322 levels across 521 soundings. The declared selection was the first complete sounding reaching at least 20 km in January, April, July and September, before spectroscopy evaluation. Temperature, pressure and water profiles drive propagation. A model continues above the measured profile. The current receiver uses January as a weather check; band selection uses the standard atmosphere. The archive is a frozen year to date snapshot, not a complete year or global weather sample.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https://github.com/unworthyzeus/THz_ISAC_atmospheric_monitoring/blob/main/docs/53_dataset_subsets_and_roles.md</a:t>
            </a:r>
          </a:p>
          <a:p xmlns:a="http://schemas.openxmlformats.org/drawingml/2006/main">
            <a:r>
              <a:t>https://github.com/unworthyzeus/THz_ISAC_atmospheric_monitoring/blob/461a3ba/results/task_completion/weather_selection.json</a:t>
            </a:r>
          </a:p>
          <a:p xmlns:a="http://schemas.openxmlformats.org/drawingml/2006/main">
            <a:r>
              <a:t>https://github.com/unworthyzeus/THz_ISAC_atmospheric_monitoring/blob/461a3ba/results/task_completion/source_acquisition.json</a:t>
            </a:r>
          </a:p>
          <a:p xmlns:a="http://schemas.openxmlformats.org/drawingml/2006/main">
            <a:r>
              <a:t>https://github.com/unworthyzeus/THz_ISAC_atmospheric_monitoring/blob/461a3ba/scripts/receiver_design_physics.py</a:t>
            </a:r>
          </a:p>
          <a:p xmlns:a="http://schemas.openxmlformats.org/drawingml/2006/main">
            <a:r>
              <a:t>https://www.ncei.noaa.gov/pub/data/igra/data/data-y2d/CHM00054511-data-beg2026.txt.zip</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Calcite particles were resuspended in dry nitrogen. All 12 recordings were analyzed with native FFT resolution around 25 GHz and no synthetic frequency refinement. Two blanks per reference phase were combined geometrically. Published calcite data have no concentration or size distribution labels. Water slopes are copied from the retained Figure 8 audit; their reported plus/minus values are not reinterpreted as confidence intervals. VNA comparison lies within the reported range, while the mean TDS comparison does not.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https://github.com/unworthyzeus/THz_ISAC_atmospheric_monitoring/blob/main/docs/53_dataset_subsets_and_roles.md</a:t>
            </a:r>
          </a:p>
          <a:p xmlns:a="http://schemas.openxmlformats.org/drawingml/2006/main">
            <a:r>
              <a:t>https://github.com/unworthyzeus/THz_ISAC_atmospheric_monitoring/blob/461a3ba/results/five_task_closure/published_water_validation.json</a:t>
            </a:r>
          </a:p>
          <a:p xmlns:a="http://schemas.openxmlformats.org/drawingml/2006/main">
            <a:r>
              <a:t>https://github.com/unworthyzeus/THz_ISAC_atmospheric_monitoring/blob/461a3ba/results/five_task_closure/calcite_validation.json</a:t>
            </a:r>
          </a:p>
          <a:p xmlns:a="http://schemas.openxmlformats.org/drawingml/2006/main">
            <a:r>
              <a:t>https://doi.org/10.1038/s41598-023-47586-8</a:t>
            </a:r>
          </a:p>
          <a:p xmlns:a="http://schemas.openxmlformats.org/drawingml/2006/main">
            <a:r>
              <a:t>https://doi.org/10.57745/DLJEFW</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principal physically filtered Beijing benchmark contract documented in the historical data provenance audit. The original cleaner excludes source wind direction. Complete case filtering may bias station and episode representation. Ground sensor forecasting and artificial channel masking are separate tasks from THz inversion. The current five VOC experiment uses controlled concentration scenarios, not these six pollutant rows.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https://github.com/unworthyzeus/THz_ISAC_atmospheric_monitoring/blob/main/docs/53_dataset_subsets_and_roles.md</a:t>
            </a:r>
          </a:p>
          <a:p xmlns:a="http://schemas.openxmlformats.org/drawingml/2006/main">
            <a:r>
              <a:t>https://github.com/unworthyzeus/THz_ISAC_atmospheric_monitoring/blob/461a3ba/docs/35_data_provenance_and_synthetic_evidence_audit.md</a:t>
            </a:r>
          </a:p>
          <a:p xmlns:a="http://schemas.openxmlformats.org/drawingml/2006/main">
            <a:r>
              <a:t>https://github.com/unworthyzeus/THz_ISAC_atmospheric_monitoring/blob/461a3ba/scripts/download_external_data.py</a:t>
            </a:r>
          </a:p>
          <a:p xmlns:a="http://schemas.openxmlformats.org/drawingml/2006/main">
            <a:r>
              <a:t>https://doi.org/10.24432/C5RK5G</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ESA extraction used 20 files, two species across ten months, with quality and coordinate checks. Mendeley acquisition downloaded ten files but only Fig3.csv and Fig4.csv fed the reported concentration score; no pseudo replicates were generated. The Italian source contains 9,358 raw hourly rows from March 2004 to February 2005, in an unnamed city, but the detailed historical audit reports no dedicated committed downloader or scoring manifest for that branch. Source and branch limitations are preserved.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https://github.com/unworthyzeus/THz_ISAC_atmospheric_monitoring/blob/main/docs/53_dataset_subsets_and_roles.md</a:t>
            </a:r>
          </a:p>
          <a:p xmlns:a="http://schemas.openxmlformats.org/drawingml/2006/main">
            <a:r>
              <a:t>https://github.com/unworthyzeus/THz_ISAC_atmospheric_monitoring/blob/461a3ba/docs/35_data_provenance_and_synthetic_evidence_audit.md</a:t>
            </a:r>
          </a:p>
          <a:p xmlns:a="http://schemas.openxmlformats.org/drawingml/2006/main">
            <a:r>
              <a:t>https://github.com/unworthyzeus/THz_ISAC_atmospheric_monitoring/blob/461a3ba/results/tables/real_column_feasibility_manifest.json</a:t>
            </a:r>
          </a:p>
          <a:p xmlns:a="http://schemas.openxmlformats.org/drawingml/2006/main">
            <a:r>
              <a:t>https://github.com/unworthyzeus/THz_ISAC_atmospheric_monitoring/blob/461a3ba/results/tables/measured_thz_control_manifest.json</a:t>
            </a:r>
          </a:p>
          <a:p xmlns:a="http://schemas.openxmlformats.org/drawingml/2006/main">
            <a:r>
              <a:t>https://doi.org/10.17632/dpw4svmdr8.1</a:t>
            </a:r>
          </a:p>
          <a:p xmlns:a="http://schemas.openxmlformats.org/drawingml/2006/main">
            <a:r>
              <a:t>https://doi.org/10.24432/C59K5F</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aef38d7c7e43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3502ea61084b75" /><Relationship Type="http://schemas.openxmlformats.org/officeDocument/2006/relationships/slideLayout" Target="/ppt/slideLayouts/slideLayout1.xml" Id="Rf4822fffc4444a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822fffc4444a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9bfd565295943f1" /><Relationship Type="http://schemas.openxmlformats.org/officeDocument/2006/relationships/notesSlide" Target="/ppt/notesSlides/notesSlide1.xml" Id="Rf58f9838696e41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95f8eb0a7e408f" /><Relationship Type="http://schemas.openxmlformats.org/officeDocument/2006/relationships/image" Target="/ppt/media/image.png" Id="R8606e4aa04254959" /><Relationship Type="http://schemas.openxmlformats.org/officeDocument/2006/relationships/image" Target="/ppt/media/image.svg" Id="R16bdc25c76f244bb" /><Relationship Type="http://schemas.openxmlformats.org/officeDocument/2006/relationships/notesSlide" Target="/ppt/notesSlides/notesSlide2.xml" Id="R5e13cb642a9f40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016035d9d74c49" /><Relationship Type="http://schemas.openxmlformats.org/officeDocument/2006/relationships/notesSlide" Target="/ppt/notesSlides/notesSlide3.xml" Id="Rc4d26348e5d640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e21ef084124dab" /><Relationship Type="http://schemas.openxmlformats.org/officeDocument/2006/relationships/notesSlide" Target="/ppt/notesSlides/notesSlide4.xml" Id="Rc386387d61c14a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3c0b9e445e4b91" /><Relationship Type="http://schemas.openxmlformats.org/officeDocument/2006/relationships/notesSlide" Target="/ppt/notesSlides/notesSlide5.xml" Id="Rbd66075433cd4a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e00f9dff864103" /><Relationship Type="http://schemas.openxmlformats.org/officeDocument/2006/relationships/image" Target="/ppt/media/image2.png" Id="R3bee6f22c7d94c6e" /><Relationship Type="http://schemas.openxmlformats.org/officeDocument/2006/relationships/image" Target="/ppt/media/image2.svg" Id="R0c019c46c3284be8" /><Relationship Type="http://schemas.openxmlformats.org/officeDocument/2006/relationships/notesSlide" Target="/ppt/notesSlides/notesSlide6.xml" Id="R36523ea9bc5148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6297acec4a4c08" /><Relationship Type="http://schemas.openxmlformats.org/officeDocument/2006/relationships/image" Target="/ppt/media/image3.png" Id="R8d169a70424541d8" /><Relationship Type="http://schemas.openxmlformats.org/officeDocument/2006/relationships/image" Target="/ppt/media/image3.svg" Id="R773128d4209b4df6" /><Relationship Type="http://schemas.openxmlformats.org/officeDocument/2006/relationships/notesSlide" Target="/ppt/notesSlides/notesSlide7.xml" Id="Ra6027433381046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9304c3c62a48eb" /><Relationship Type="http://schemas.openxmlformats.org/officeDocument/2006/relationships/image" Target="/ppt/media/image4.png" Id="Rfc1044bf1d634312" /><Relationship Type="http://schemas.openxmlformats.org/officeDocument/2006/relationships/image" Target="/ppt/media/image4.svg" Id="Rcee4183c253d488a" /><Relationship Type="http://schemas.openxmlformats.org/officeDocument/2006/relationships/notesSlide" Target="/ppt/notesSlides/notesSlide8.xml" Id="Rdb8f736b7dee4a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e04bc2c75e04732" /><Relationship Type="http://schemas.openxmlformats.org/officeDocument/2006/relationships/notesSlide" Target="/ppt/notesSlides/notesSlide9.xml" Id="R3a54ef3db7b84d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243474a4bf4618" /><Relationship Type="http://schemas.openxmlformats.org/officeDocument/2006/relationships/image" Target="/ppt/media/image5.png" Id="R5fc39ef306f141ad" /><Relationship Type="http://schemas.openxmlformats.org/officeDocument/2006/relationships/image" Target="/ppt/media/image5.svg" Id="R227537787c95445f" /><Relationship Type="http://schemas.openxmlformats.org/officeDocument/2006/relationships/notesSlide" Target="/ppt/notesSlides/notesSlide10.xml" Id="R9385853b2aae44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2788509fc924d96" /><Relationship Type="http://schemas.openxmlformats.org/officeDocument/2006/relationships/image" Target="/ppt/media/image6.png" Id="Rfbfe73588e7f4ea1" /><Relationship Type="http://schemas.openxmlformats.org/officeDocument/2006/relationships/image" Target="/ppt/media/image6.svg" Id="R1b2ec501f4e64b26" /><Relationship Type="http://schemas.openxmlformats.org/officeDocument/2006/relationships/notesSlide" Target="/ppt/notesSlides/notesSlide11.xml" Id="R35b57b7732fc4e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7615ef5b2c43b2" /><Relationship Type="http://schemas.openxmlformats.org/officeDocument/2006/relationships/image" Target="/ppt/media/image7.png" Id="R453e2105ca614cbd" /><Relationship Type="http://schemas.openxmlformats.org/officeDocument/2006/relationships/image" Target="/ppt/media/image7.svg" Id="Rc65b403a0b3a4919" /><Relationship Type="http://schemas.openxmlformats.org/officeDocument/2006/relationships/notesSlide" Target="/ppt/notesSlides/notesSlide12.xml" Id="Rcd499b955fbf45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dc28ccd702445b1" /><Relationship Type="http://schemas.openxmlformats.org/officeDocument/2006/relationships/image" Target="/ppt/media/image8.png" Id="R85f05e61af2b479b" /><Relationship Type="http://schemas.openxmlformats.org/officeDocument/2006/relationships/image" Target="/ppt/media/image8.svg" Id="R83bdb33bc1604e74" /><Relationship Type="http://schemas.openxmlformats.org/officeDocument/2006/relationships/notesSlide" Target="/ppt/notesSlides/notesSlide13.xml" Id="R266a2ecf53a44bb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5c68daefca6431c" /><Relationship Type="http://schemas.openxmlformats.org/officeDocument/2006/relationships/image" Target="/ppt/media/image9.png" Id="Recb74b86221a4626" /><Relationship Type="http://schemas.openxmlformats.org/officeDocument/2006/relationships/image" Target="/ppt/media/image9.svg" Id="Rdfc9d462fb3c4271" /><Relationship Type="http://schemas.openxmlformats.org/officeDocument/2006/relationships/notesSlide" Target="/ppt/notesSlides/notesSlide14.xml" Id="R8e795fb32f4841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b66b00abe34dc7" /><Relationship Type="http://schemas.openxmlformats.org/officeDocument/2006/relationships/image" Target="/ppt/media/image10.png" Id="Rcbcfa361a77344a5" /><Relationship Type="http://schemas.openxmlformats.org/officeDocument/2006/relationships/image" Target="/ppt/media/image10.svg" Id="Re62ca893b2394057" /><Relationship Type="http://schemas.openxmlformats.org/officeDocument/2006/relationships/notesSlide" Target="/ppt/notesSlides/notesSlide15.xml" Id="R66d2bce28d8547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845b9498d3447e0" /><Relationship Type="http://schemas.openxmlformats.org/officeDocument/2006/relationships/image" Target="/ppt/media/image11.png" Id="Rbf8be2af56764d63" /><Relationship Type="http://schemas.openxmlformats.org/officeDocument/2006/relationships/image" Target="/ppt/media/image11.svg" Id="R3df0f269643e4ff7" /><Relationship Type="http://schemas.openxmlformats.org/officeDocument/2006/relationships/notesSlide" Target="/ppt/notesSlides/notesSlide16.xml" Id="Rbe335415f1244b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812856def0e4093" /><Relationship Type="http://schemas.openxmlformats.org/officeDocument/2006/relationships/image" Target="/ppt/media/image12.png" Id="R5fafc6865d3d414c" /><Relationship Type="http://schemas.openxmlformats.org/officeDocument/2006/relationships/image" Target="/ppt/media/image12.svg" Id="Racc59730d0014635" /><Relationship Type="http://schemas.openxmlformats.org/officeDocument/2006/relationships/notesSlide" Target="/ppt/notesSlides/notesSlide17.xml" Id="R86b76433cb3a47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6558761a3974a22" /><Relationship Type="http://schemas.openxmlformats.org/officeDocument/2006/relationships/image" Target="/ppt/media/image13.png" Id="Rb01dc3206d7649ae" /><Relationship Type="http://schemas.openxmlformats.org/officeDocument/2006/relationships/image" Target="/ppt/media/image13.svg" Id="Rfc66a1d434bf4661" /><Relationship Type="http://schemas.openxmlformats.org/officeDocument/2006/relationships/notesSlide" Target="/ppt/notesSlides/notesSlide18.xml" Id="R439a7ee8ac5645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ed03426c4bf4b93" /><Relationship Type="http://schemas.openxmlformats.org/officeDocument/2006/relationships/notesSlide" Target="/ppt/notesSlides/notesSlide19.xml" Id="R7356f13963a142f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705bcb692924c3a" /><Relationship Type="http://schemas.openxmlformats.org/officeDocument/2006/relationships/image" Target="/ppt/media/image14.png" Id="Ra7dcba11f7494b4a" /><Relationship Type="http://schemas.openxmlformats.org/officeDocument/2006/relationships/image" Target="/ppt/media/image14.svg" Id="Rc06ac2e909964480" /><Relationship Type="http://schemas.openxmlformats.org/officeDocument/2006/relationships/notesSlide" Target="/ppt/notesSlides/notesSlide20.xml" Id="R0627df3c9f5b47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9607f82784f4271" /><Relationship Type="http://schemas.openxmlformats.org/officeDocument/2006/relationships/notesSlide" Target="/ppt/notesSlides/notesSlide21.xml" Id="R319e684fefa24b3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0a0f65e1226410a" /><Relationship Type="http://schemas.openxmlformats.org/officeDocument/2006/relationships/notesSlide" Target="/ppt/notesSlides/notesSlide22.xml" Id="R6e8fa6845cee47e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91e5e2c716d46db" /><Relationship Type="http://schemas.openxmlformats.org/officeDocument/2006/relationships/image" Target="/ppt/media/image15.png" Id="Ra300fe8cfdaa49c5" /><Relationship Type="http://schemas.openxmlformats.org/officeDocument/2006/relationships/image" Target="/ppt/media/image15.svg" Id="Rf206ad85c4884823" /><Relationship Type="http://schemas.openxmlformats.org/officeDocument/2006/relationships/notesSlide" Target="/ppt/notesSlides/notesSlide23.xml" Id="R5743a42b0d134c7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12a8511fcdd433d" /><Relationship Type="http://schemas.openxmlformats.org/officeDocument/2006/relationships/image" Target="/ppt/media/image16.png" Id="R0898b43cc1fd4423" /><Relationship Type="http://schemas.openxmlformats.org/officeDocument/2006/relationships/image" Target="/ppt/media/image16.svg" Id="R0ffb1221cc5343bf" /><Relationship Type="http://schemas.openxmlformats.org/officeDocument/2006/relationships/notesSlide" Target="/ppt/notesSlides/notesSlide24.xml" Id="R86ec038859de4d5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b6fdb15c3d746de" /><Relationship Type="http://schemas.openxmlformats.org/officeDocument/2006/relationships/image" Target="/ppt/media/image17.png" Id="Rc053f48958a64ca7" /><Relationship Type="http://schemas.openxmlformats.org/officeDocument/2006/relationships/image" Target="/ppt/media/image17.svg" Id="Ra0bd742cfae14884" /><Relationship Type="http://schemas.openxmlformats.org/officeDocument/2006/relationships/notesSlide" Target="/ppt/notesSlides/notesSlide25.xml" Id="R426c5b41e452443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4cfefb234e843df" /><Relationship Type="http://schemas.openxmlformats.org/officeDocument/2006/relationships/chart" Target="/ppt/slides/charts/chart1.xml" Id="R9e1f506816a64049" /><Relationship Type="http://schemas.openxmlformats.org/officeDocument/2006/relationships/notesSlide" Target="/ppt/notesSlides/notesSlide26.xml" Id="R0a93f44375ba4a3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071e100967b44db" /><Relationship Type="http://schemas.openxmlformats.org/officeDocument/2006/relationships/notesSlide" Target="/ppt/notesSlides/notesSlide27.xml" Id="R7f4a67921089451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17d94ee97154543" /><Relationship Type="http://schemas.openxmlformats.org/officeDocument/2006/relationships/image" Target="/ppt/media/image18.png" Id="Rf79ed0224ff24521" /><Relationship Type="http://schemas.openxmlformats.org/officeDocument/2006/relationships/image" Target="/ppt/media/image18.svg" Id="R8705cf34ff6b4041" /><Relationship Type="http://schemas.openxmlformats.org/officeDocument/2006/relationships/notesSlide" Target="/ppt/notesSlides/notesSlide28.xml" Id="R1e76e31ceb414b0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0cf2d6ebd084579" /><Relationship Type="http://schemas.openxmlformats.org/officeDocument/2006/relationships/notesSlide" Target="/ppt/notesSlides/notesSlide29.xml" Id="R5fda35b54c77412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51b7882d2c04335" /><Relationship Type="http://schemas.openxmlformats.org/officeDocument/2006/relationships/image" Target="/ppt/media/image19.png" Id="Rb119b578eb96457d" /><Relationship Type="http://schemas.openxmlformats.org/officeDocument/2006/relationships/image" Target="/ppt/media/image19.svg" Id="Rd11e47ce54c74f44" /><Relationship Type="http://schemas.openxmlformats.org/officeDocument/2006/relationships/notesSlide" Target="/ppt/notesSlides/notesSlide30.xml" Id="Ra9368f6c5595474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8bcea8c61a94b11" /><Relationship Type="http://schemas.openxmlformats.org/officeDocument/2006/relationships/image" Target="/ppt/media/image20.png" Id="R6adecf19bf4e4cbd" /><Relationship Type="http://schemas.openxmlformats.org/officeDocument/2006/relationships/image" Target="/ppt/media/image20.svg" Id="Rdd32e6548e814e24" /><Relationship Type="http://schemas.openxmlformats.org/officeDocument/2006/relationships/notesSlide" Target="/ppt/notesSlides/notesSlide31.xml" Id="R9cbfd61321de47a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07f7cc839604e00" /><Relationship Type="http://schemas.openxmlformats.org/officeDocument/2006/relationships/notesSlide" Target="/ppt/notesSlides/notesSlide32.xml" Id="R0f1805b7fa3449b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a0b4ae36af04c78" /><Relationship Type="http://schemas.openxmlformats.org/officeDocument/2006/relationships/notesSlide" Target="/ppt/notesSlides/notesSlide33.xml" Id="Ra4289bd5af344dd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999530fe8654383" /><Relationship Type="http://schemas.openxmlformats.org/officeDocument/2006/relationships/notesSlide" Target="/ppt/notesSlides/notesSlide34.xml" Id="Rbbec42b132704c1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6774edf4b7f466a" /><Relationship Type="http://schemas.openxmlformats.org/officeDocument/2006/relationships/notesSlide" Target="/ppt/notesSlides/notesSlide35.xml" Id="R5fa97d0460464ec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de5ec24721f4d7b" /><Relationship Type="http://schemas.openxmlformats.org/officeDocument/2006/relationships/notesSlide" Target="/ppt/notesSlides/notesSlide36.xml" Id="R7df29e09602d45c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bd86db656f64bc7" /><Relationship Type="http://schemas.openxmlformats.org/officeDocument/2006/relationships/notesSlide" Target="/ppt/notesSlides/notesSlide37.xml" Id="R6995f4a8da8b4d8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43e0e31b1174895" /><Relationship Type="http://schemas.openxmlformats.org/officeDocument/2006/relationships/notesSlide" Target="/ppt/notesSlides/notesSlide38.xml" Id="Rf7c978e570b44db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f3a377ce84346a5" /><Relationship Type="http://schemas.openxmlformats.org/officeDocument/2006/relationships/notesSlide" Target="/ppt/notesSlides/notesSlide39.xml" Id="R89b12d537c3a413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ab8a43977dc477b" /><Relationship Type="http://schemas.openxmlformats.org/officeDocument/2006/relationships/notesSlide" Target="/ppt/notesSlides/notesSlide40.xml" Id="R47b7e2d655c345d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65c40b2dce64478" /><Relationship Type="http://schemas.openxmlformats.org/officeDocument/2006/relationships/notesSlide" Target="/ppt/notesSlides/notesSlide41.xml" Id="R6ad12f9076764f7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98701fc3c904e78" /><Relationship Type="http://schemas.openxmlformats.org/officeDocument/2006/relationships/notesSlide" Target="/ppt/notesSlides/notesSlide42.xml" Id="Ra310e5a7994d4c6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3967d2abb9146d2" /><Relationship Type="http://schemas.openxmlformats.org/officeDocument/2006/relationships/notesSlide" Target="/ppt/notesSlides/notesSlide43.xml" Id="R156cf02c8dc44e9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ce8f59076c549ff" /><Relationship Type="http://schemas.openxmlformats.org/officeDocument/2006/relationships/notesSlide" Target="/ppt/notesSlides/notesSlide44.xml" Id="Rb5c417a530964e2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0 dB</c:v>
          </c:tx>
          <c:spPr>
            <a:ln xmlns:a="http://schemas.openxmlformats.org/drawingml/2006/main" w="38100">
              <a:solidFill>
                <a:srgbClr val="176B87"/>
              </a:solidFill>
            </a:ln>
          </c:spPr>
          <c:marker>
            <c:symbol val="circle"/>
            <c:size val="9"/>
            <c:spPr>
              <a:solidFill xmlns:a="http://schemas.openxmlformats.org/drawingml/2006/main">
                <a:srgbClr val="176B87"/>
              </a:solidFill>
            </c:spPr>
          </c:marker>
          <c:cat>
            <c:strRef>
              <c:f>'Chart Data'!$A$2:$A$4</c:f>
              <c:strCache>
                <c:ptCount val="3"/>
                <c:pt idx="0">
                  <c:v>2 s</c:v>
                </c:pt>
                <c:pt idx="1">
                  <c:v>20 s</c:v>
                </c:pt>
                <c:pt idx="2">
                  <c:v>100 s</c:v>
                </c:pt>
              </c:strCache>
            </c:strRef>
          </c:cat>
          <c:val>
            <c:numRef>
              <c:f>'Chart Data'!$B$2:$B$4</c:f>
              <c:numCache>
                <c:formatCode>0</c:formatCode>
                <c:ptCount val="3"/>
                <c:pt idx="0">
                  <c:v>7.58</c:v>
                </c:pt>
                <c:pt idx="1">
                  <c:v>99.28</c:v>
                </c:pt>
                <c:pt idx="2">
                  <c:v>100</c:v>
                </c:pt>
              </c:numCache>
            </c:numRef>
          </c:val>
          <c:smooth val="0"/>
        </c:ser>
        <c:ser>
          <c:idx val="1"/>
          <c:order val="1"/>
          <c:tx>
            <c:v>0.0001 dB</c:v>
          </c:tx>
          <c:spPr>
            <a:ln xmlns:a="http://schemas.openxmlformats.org/drawingml/2006/main" w="38100">
              <a:solidFill>
                <a:srgbClr val="D48426"/>
              </a:solidFill>
            </a:ln>
          </c:spPr>
          <c:marker>
            <c:symbol val="circle"/>
            <c:size val="9"/>
            <c:spPr>
              <a:solidFill xmlns:a="http://schemas.openxmlformats.org/drawingml/2006/main">
                <a:srgbClr val="D48426"/>
              </a:solidFill>
            </c:spPr>
          </c:marker>
          <c:cat>
            <c:strRef>
              <c:f>'Chart Data'!$C$2:$C$4</c:f>
              <c:strCache>
                <c:ptCount val="3"/>
                <c:pt idx="0">
                  <c:v>2 s</c:v>
                </c:pt>
                <c:pt idx="1">
                  <c:v>20 s</c:v>
                </c:pt>
                <c:pt idx="2">
                  <c:v>100 s</c:v>
                </c:pt>
              </c:strCache>
            </c:strRef>
          </c:cat>
          <c:val>
            <c:numRef>
              <c:f>'Chart Data'!$D$2:$D$4</c:f>
              <c:numCache>
                <c:formatCode>0</c:formatCode>
                <c:ptCount val="3"/>
                <c:pt idx="0">
                  <c:v>7.6</c:v>
                </c:pt>
                <c:pt idx="1">
                  <c:v>97.67</c:v>
                </c:pt>
                <c:pt idx="2">
                  <c:v>100</c:v>
                </c:pt>
              </c:numCache>
            </c:numRef>
          </c:val>
          <c:smooth val="0"/>
        </c:ser>
        <c:ser>
          <c:idx val="2"/>
          <c:order val="2"/>
          <c:tx>
            <c:v>0.001 dB</c:v>
          </c:tx>
          <c:spPr>
            <a:ln xmlns:a="http://schemas.openxmlformats.org/drawingml/2006/main" w="38100">
              <a:solidFill>
                <a:srgbClr val="AC3B4A"/>
              </a:solidFill>
            </a:ln>
          </c:spPr>
          <c:marker>
            <c:symbol val="circle"/>
            <c:size val="9"/>
            <c:spPr>
              <a:solidFill xmlns:a="http://schemas.openxmlformats.org/drawingml/2006/main">
                <a:srgbClr val="AC3B4A"/>
              </a:solidFill>
            </c:spPr>
          </c:marker>
          <c:cat>
            <c:strRef>
              <c:f>'Chart Data'!$E$2:$E$4</c:f>
              <c:strCache>
                <c:ptCount val="3"/>
                <c:pt idx="0">
                  <c:v>2 s</c:v>
                </c:pt>
                <c:pt idx="1">
                  <c:v>20 s</c:v>
                </c:pt>
                <c:pt idx="2">
                  <c:v>100 s</c:v>
                </c:pt>
              </c:strCache>
            </c:strRef>
          </c:cat>
          <c:val>
            <c:numRef>
              <c:f>'Chart Data'!$F$2:$F$4</c:f>
              <c:numCache>
                <c:formatCode>0</c:formatCode>
                <c:ptCount val="3"/>
                <c:pt idx="0">
                  <c:v>2.24</c:v>
                </c:pt>
                <c:pt idx="1">
                  <c:v>4.36</c:v>
                </c:pt>
                <c:pt idx="2">
                  <c:v>5.05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Simulated recall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24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D86A653-2BD2-45DA-BA7A-FF5AEC530E36}"/>
              </a:ext>
            </a:extLst>
          </p:cNvPr>
          <p:cNvSpPr>
            <a:spLocks xmlns:a="http://schemas.openxmlformats.org/drawingml/2006/main" noGrp="1"/>
          </p:cNvSpPr>
          <p:nvPr/>
        </p:nvSpPr>
        <p:spPr>
          <a:xfrm xmlns:a="http://schemas.openxmlformats.org/drawingml/2006/main">
            <a:off x="800100" y="1352550"/>
            <a:ext cx="13525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Sub-THz</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atmospheric sensing</a:t>
            </a:r>
          </a:p>
        </p:txBody>
      </p:sp>
      <p:sp>
        <p:nvSpPr>
          <p:cNvPr id="2" name="">
            <a:extLst xmlns:a="http://schemas.openxmlformats.org/drawingml/2006/main">
              <a:ext uri="{FF2B5EF4-FFF2-40B4-BE49-F238E27FC236}">
                <a16:creationId xmlns:a16="http://schemas.microsoft.com/office/drawing/2014/main" id="{F7672E66-D50C-41D4-97B5-5FEBAA572023}"/>
              </a:ext>
            </a:extLst>
          </p:cNvPr>
          <p:cNvSpPr>
            <a:spLocks xmlns:a="http://schemas.openxmlformats.org/drawingml/2006/main" noGrp="1"/>
          </p:cNvSpPr>
          <p:nvPr/>
        </p:nvSpPr>
        <p:spPr>
          <a:xfrm xmlns:a="http://schemas.openxmlformats.org/drawingml/2006/main">
            <a:off x="857250" y="4552950"/>
            <a:ext cx="1333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0">
                <a:solidFill>
                  <a:srgbClr val="BCDDE0"/>
                </a:solidFill>
                <a:latin typeface="Arial"/>
                <a:ea typeface="Arial"/>
                <a:cs typeface="Arial"/>
              </a:defRPr>
            </a:pPr>
            <a:r>
              <a:rPr sz="2850" b="0">
                <a:solidFill>
                  <a:srgbClr val="BCDDE0"/>
                </a:solidFill>
                <a:latin typeface="Arial"/>
                <a:ea typeface="Arial"/>
                <a:cs typeface="Arial"/>
              </a:rPr>
              <a:t>What worked, how we achieved it, and what remains unresolved</a:t>
            </a:r>
          </a:p>
        </p:txBody>
      </p:sp>
      <p:sp>
        <p:nvSpPr>
          <p:cNvPr id="3" name="">
            <a:extLst xmlns:a="http://schemas.openxmlformats.org/drawingml/2006/main">
              <a:ext uri="{FF2B5EF4-FFF2-40B4-BE49-F238E27FC236}">
                <a16:creationId xmlns:a16="http://schemas.microsoft.com/office/drawing/2014/main" id="{DE5CEDBF-47BC-4DD7-B3A1-59ED9F133B9B}"/>
              </a:ext>
            </a:extLst>
          </p:cNvPr>
          <p:cNvSpPr>
            <a:spLocks xmlns:a="http://schemas.openxmlformats.org/drawingml/2006/main" noGrp="1"/>
          </p:cNvSpPr>
          <p:nvPr/>
        </p:nvSpPr>
        <p:spPr>
          <a:xfrm xmlns:a="http://schemas.openxmlformats.org/drawingml/2006/main">
            <a:off x="857250" y="6838950"/>
            <a:ext cx="13049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Guillem Moreno Garcia</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Universitat Politècnica de Catalunya</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Supervisor research review · 27 September 2026</a:t>
            </a:r>
          </a:p>
        </p:txBody>
      </p:sp>
    </p:spTree>
    <p:extLst>
      <p:ext uri="{BB962C8B-B14F-4D97-AF65-F5344CB8AC3E}">
        <p14:creationId xmlns:p14="http://schemas.microsoft.com/office/powerpoint/2010/main" val="12774356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A53EBAE-C46F-445E-8396-4C494541E122}"/>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Problem statement</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Frequency scope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60–400 GHz</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Satellite altitude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550 km</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Current outputs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5 VOCs + 3 PM</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Family false alarms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 budget</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9A40C79-CE8E-4CAF-B848-F723E50DB9B7}"/>
              </a:ext>
            </a:extLst>
          </p:cNvPr>
          <p:cNvSpPr>
            <a:spLocks xmlns:a="http://schemas.openxmlformats.org/drawingml/2006/main" noGrp="1"/>
          </p:cNvSpPr>
          <p:nvPr/>
        </p:nvSpPr>
        <p:spPr>
          <a:xfrm xmlns:a="http://schemas.openxmlformats.org/drawingml/2006/main">
            <a:off x="723900" y="1752600"/>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Can a satellite communication downlink also detect gas and particle concentration changes using the same transmitted signal?</a:t>
            </a:r>
          </a:p>
        </p:txBody>
      </p:sp>
      <p:sp>
        <p:nvSpPr>
          <p:cNvPr id="4" name="">
            <a:extLst xmlns:a="http://schemas.openxmlformats.org/drawingml/2006/main">
              <a:ext uri="{FF2B5EF4-FFF2-40B4-BE49-F238E27FC236}">
                <a16:creationId xmlns:a16="http://schemas.microsoft.com/office/drawing/2014/main" id="{39348E76-45F3-4CF6-9EC6-413EB833A86D}"/>
              </a:ext>
            </a:extLst>
          </p:cNvPr>
          <p:cNvSpPr>
            <a:spLocks xmlns:a="http://schemas.openxmlformats.org/drawingml/2006/main" noGrp="1"/>
          </p:cNvSpPr>
          <p:nvPr/>
        </p:nvSpPr>
        <p:spPr>
          <a:xfrm xmlns:a="http://schemas.openxmlformats.org/drawingml/2006/main">
            <a:off x="723900" y="2291525"/>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The proposal covers 60–400 GHz. Gas rotational lines provide spectral structure. Small particles produce a much smoother extinction signature.</a:t>
            </a:r>
          </a:p>
        </p:txBody>
      </p:sp>
      <p:sp>
        <p:nvSpPr>
          <p:cNvPr id="5" name="">
            <a:extLst xmlns:a="http://schemas.openxmlformats.org/drawingml/2006/main">
              <a:ext uri="{FF2B5EF4-FFF2-40B4-BE49-F238E27FC236}">
                <a16:creationId xmlns:a16="http://schemas.microsoft.com/office/drawing/2014/main" id="{3D2725F8-4896-4A97-B989-4FAAF1172E82}"/>
              </a:ext>
            </a:extLst>
          </p:cNvPr>
          <p:cNvSpPr>
            <a:spLocks xmlns:a="http://schemas.openxmlformats.org/drawingml/2006/main" noGrp="1"/>
          </p:cNvSpPr>
          <p:nvPr/>
        </p:nvSpPr>
        <p:spPr>
          <a:xfrm xmlns:a="http://schemas.openxmlformats.org/drawingml/2006/main">
            <a:off x="723900" y="2830449"/>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The intended outcome combines useful recall, defensible concentration limits and an acceptable communication cost.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606e4aa04254959">
            <a:extLst>
              <a:ext uri="{96DAC541-7B7A-43D3-8B79-37D633B846F1}">
                <asvg:svgBlip xmlns:asvg="http://schemas.microsoft.com/office/drawing/2016/SVG/main" r:embed="R16bdc25c76f244bb"/>
              </a:ext>
            </a:extLst>
          </a:blip>
          <a:stretch xmlns:a="http://schemas.openxmlformats.org/drawingml/2006/main"/>
        </p:blipFill>
        <p:spPr>
          <a:xfrm xmlns:a="http://schemas.openxmlformats.org/drawingml/2006/main">
            <a:off x="723900" y="3621631"/>
            <a:ext cx="6988483" cy="109663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5B8304E-791E-406A-A23D-0E07796CB86A}"/>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practical question is whether pollutant information survives the other unknowns.</a:t>
            </a:r>
          </a:p>
        </p:txBody>
      </p:sp>
      <p:sp>
        <p:nvSpPr>
          <p:cNvPr id="8" name="">
            <a:extLst xmlns:a="http://schemas.openxmlformats.org/drawingml/2006/main">
              <a:ext uri="{FF2B5EF4-FFF2-40B4-BE49-F238E27FC236}">
                <a16:creationId xmlns:a16="http://schemas.microsoft.com/office/drawing/2014/main" id="{3EB8B2F8-8C1A-492D-B383-03BD817BEA4C}"/>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correct forward model alone does not establish a useful environmental sensor.</a:t>
            </a:r>
          </a:p>
        </p:txBody>
      </p:sp>
      <p:sp>
        <p:nvSpPr>
          <p:cNvPr id="9" name="">
            <a:extLst xmlns:a="http://schemas.openxmlformats.org/drawingml/2006/main">
              <a:ext uri="{FF2B5EF4-FFF2-40B4-BE49-F238E27FC236}">
                <a16:creationId xmlns:a16="http://schemas.microsoft.com/office/drawing/2014/main" id="{35B54891-34AE-43F3-A4D2-D225B5F6DA9D}"/>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9BB47F10-D8C3-4C09-8061-94B5BE60520E}"/>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 measured attenuation vector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 target spectral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target concentrations (µg/m³)</a:t>
            </a:r>
          </a:p>
        </p:txBody>
      </p:sp>
      <p:sp>
        <p:nvSpPr>
          <p:cNvPr id="11" name="">
            <a:extLst xmlns:a="http://schemas.openxmlformats.org/drawingml/2006/main">
              <a:ext uri="{FF2B5EF4-FFF2-40B4-BE49-F238E27FC236}">
                <a16:creationId xmlns:a16="http://schemas.microsoft.com/office/drawing/2014/main" id="{0E407DF5-BE88-4AA4-AF70-EA8C5F1EB5A7}"/>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 background / instrument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β: nuisance parameter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 c and N β: attenuation contributions (dB)</a:t>
            </a:r>
          </a:p>
        </p:txBody>
      </p:sp>
      <p:sp>
        <p:nvSpPr>
          <p:cNvPr id="12" name="">
            <a:extLst xmlns:a="http://schemas.openxmlformats.org/drawingml/2006/main">
              <a:ext uri="{FF2B5EF4-FFF2-40B4-BE49-F238E27FC236}">
                <a16:creationId xmlns:a16="http://schemas.microsoft.com/office/drawing/2014/main" id="{EC31470D-06C6-4115-AD2C-106734623D33}"/>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 measurement error vector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Bold letters: vectors or matrices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Matrix products sum spectral contributions</a:t>
            </a:r>
          </a:p>
        </p:txBody>
      </p:sp>
      <p:sp>
        <p:nvSpPr>
          <p:cNvPr id="13" name="">
            <a:extLst xmlns:a="http://schemas.openxmlformats.org/drawingml/2006/main">
              <a:ext uri="{FF2B5EF4-FFF2-40B4-BE49-F238E27FC236}">
                <a16:creationId xmlns:a16="http://schemas.microsoft.com/office/drawing/2014/main" id="{17F6DB15-C31F-4FF0-A7E6-BEA22BC8E1D4}"/>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02</a:t>
            </a:r>
          </a:p>
        </p:txBody>
      </p:sp>
    </p:spTree>
    <p:extLst>
      <p:ext uri="{BB962C8B-B14F-4D97-AF65-F5344CB8AC3E}">
        <p14:creationId xmlns:p14="http://schemas.microsoft.com/office/powerpoint/2010/main" val="20777453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017B9D-B268-408D-A9AB-3F0F20B585E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we have achieved</a:t>
            </a:r>
          </a:p>
        </p:txBody>
      </p:sp>
      <p:sp>
        <p:nvSpPr>
          <p:cNvPr id="2" name="">
            <a:extLst xmlns:a="http://schemas.openxmlformats.org/drawingml/2006/main">
              <a:ext uri="{FF2B5EF4-FFF2-40B4-BE49-F238E27FC236}">
                <a16:creationId xmlns:a16="http://schemas.microsoft.com/office/drawing/2014/main" id="{FF9C5360-96DC-4BF7-BEB9-1C8DBB75AB87}"/>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A completed computational assessment with a conditional VOC improvement</a:t>
            </a:r>
          </a:p>
        </p:txBody>
      </p:sp>
      <p:graphicFrame>
        <p:nvGraphicFramePr>
          <p:cNvPr id="14"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3174106"/>
                <a:gridCol w="5249482"/>
                <a:gridCol w="5444812"/>
              </a:tblGrid>
              <a:tr h="807720">
                <a:tc>
                  <a:txBody>
                    <a:bodyPr/>
                    <a:lstStyle/>
                    <a:p>
                      <a:r>
                        <a:rPr sz="1950" b="1">
                          <a:solidFill>
                            <a:srgbClr val="FFFFFF"/>
                          </a:solidFill>
                          <a:latin typeface="Arial"/>
                          <a:ea typeface="Arial"/>
                          <a:cs typeface="Arial"/>
                        </a:rPr>
                        <a:t>Achievement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Evidence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Boundary</a:t>
                      </a:r>
                    </a:p>
                  </a:txBody>
                  <a:tcPr marL="114300" marR="114300" marT="57150" marB="57150" anchor="ctr">
                    <a:solidFill>
                      <a:srgbClr val="153246"/>
                    </a:solidFill>
                  </a:tcPr>
                </a:tc>
              </a:tr>
              <a:tr h="807720">
                <a:tc>
                  <a:txBody>
                    <a:bodyPr/>
                    <a:lstStyle/>
                    <a:p>
                      <a:r>
                        <a:rPr sz="1950" b="0">
                          <a:solidFill>
                            <a:srgbClr val="153246"/>
                          </a:solidFill>
                          <a:latin typeface="Arial"/>
                          <a:ea typeface="Arial"/>
                          <a:cs typeface="Arial"/>
                        </a:rPr>
                        <a:t>Physical model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Layered gas, particle, ray and thermal calculations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Conditional atmospheric and material assumptions</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VOC detection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CH₃CN recall 97.67% at 1 µg/m³</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 total and assumed 0.0001 dB residual</a:t>
                      </a:r>
                    </a:p>
                  </a:txBody>
                  <a:tcPr marL="114300" marR="114300" marT="57150" marB="57150" anchor="ctr">
                    <a:solidFill>
                      <a:srgbClr val="FFFFFF"/>
                    </a:solidFill>
                  </a:tcPr>
                </a:tc>
              </a:tr>
              <a:tr h="807720">
                <a:tc>
                  <a:txBody>
                    <a:bodyPr/>
                    <a:lstStyle/>
                    <a:p>
                      <a:r>
                        <a:rPr sz="1950" b="0">
                          <a:solidFill>
                            <a:srgbClr val="153246"/>
                          </a:solidFill>
                          <a:latin typeface="Arial"/>
                          <a:ea typeface="Arial"/>
                          <a:cs typeface="Arial"/>
                        </a:rPr>
                        <a:t>Engineering comparison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Sequential bands and moving coded-frame controls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RF specifications remain unmeasured</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Failure diagnosis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PM information, gain drift and communication cost quantified</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Useful joint VOC/PM retrieval remains open</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DDF24F7-271E-4803-9E6F-5ACBCC1D060F}"/>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interval</a:t>
            </a:r>
          </a:p>
        </p:txBody>
      </p:sp>
      <p:sp>
        <p:nvSpPr>
          <p:cNvPr id="5" name="">
            <a:extLst xmlns:a="http://schemas.openxmlformats.org/drawingml/2006/main">
              <a:ext uri="{FF2B5EF4-FFF2-40B4-BE49-F238E27FC236}">
                <a16:creationId xmlns:a16="http://schemas.microsoft.com/office/drawing/2014/main" id="{45F126D2-C009-4612-81F6-6236C138DB78}"/>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97.36–97.96%</a:t>
            </a:r>
          </a:p>
        </p:txBody>
      </p:sp>
      <p:sp>
        <p:nvSpPr>
          <p:cNvPr id="6" name="">
            <a:extLst xmlns:a="http://schemas.openxmlformats.org/drawingml/2006/main">
              <a:ext uri="{FF2B5EF4-FFF2-40B4-BE49-F238E27FC236}">
                <a16:creationId xmlns:a16="http://schemas.microsoft.com/office/drawing/2014/main" id="{BFAC9D39-2E26-4B29-9CEF-0E27428C14E1}"/>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Family false alarms</a:t>
            </a:r>
          </a:p>
        </p:txBody>
      </p:sp>
      <p:sp>
        <p:nvSpPr>
          <p:cNvPr id="7" name="">
            <a:extLst xmlns:a="http://schemas.openxmlformats.org/drawingml/2006/main">
              <a:ext uri="{FF2B5EF4-FFF2-40B4-BE49-F238E27FC236}">
                <a16:creationId xmlns:a16="http://schemas.microsoft.com/office/drawing/2014/main" id="{2AB85260-182F-45F6-83FB-A7FBD4EAF992}"/>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0.79%</a:t>
            </a:r>
          </a:p>
        </p:txBody>
      </p:sp>
      <p:sp>
        <p:nvSpPr>
          <p:cNvPr id="8" name="">
            <a:extLst xmlns:a="http://schemas.openxmlformats.org/drawingml/2006/main">
              <a:ext uri="{FF2B5EF4-FFF2-40B4-BE49-F238E27FC236}">
                <a16:creationId xmlns:a16="http://schemas.microsoft.com/office/drawing/2014/main" id="{3E2BDF1E-0DF3-48EA-8451-F8171F23C6CE}"/>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Band-selection gain</a:t>
            </a:r>
          </a:p>
        </p:txBody>
      </p:sp>
      <p:sp>
        <p:nvSpPr>
          <p:cNvPr id="9" name="">
            <a:extLst xmlns:a="http://schemas.openxmlformats.org/drawingml/2006/main">
              <a:ext uri="{FF2B5EF4-FFF2-40B4-BE49-F238E27FC236}">
                <a16:creationId xmlns:a16="http://schemas.microsoft.com/office/drawing/2014/main" id="{5AAAD57F-A948-419D-8977-B67577D37618}"/>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40.27 percentage points</a:t>
            </a:r>
          </a:p>
        </p:txBody>
      </p:sp>
      <p:sp>
        <p:nvSpPr>
          <p:cNvPr id="10" name="">
            <a:extLst xmlns:a="http://schemas.openxmlformats.org/drawingml/2006/main">
              <a:ext uri="{FF2B5EF4-FFF2-40B4-BE49-F238E27FC236}">
                <a16:creationId xmlns:a16="http://schemas.microsoft.com/office/drawing/2014/main" id="{7A5C7F2F-F23E-48DE-BC15-35BA1A0899FC}"/>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97.67% result uses the selected five-gas design with matched reference weather, 45° elevation, 23 dBm and 6 dB noise figure.</a:t>
            </a:r>
          </a:p>
        </p:txBody>
      </p:sp>
      <p:sp>
        <p:nvSpPr>
          <p:cNvPr id="11" name="">
            <a:extLst xmlns:a="http://schemas.openxmlformats.org/drawingml/2006/main">
              <a:ext uri="{FF2B5EF4-FFF2-40B4-BE49-F238E27FC236}">
                <a16:creationId xmlns:a16="http://schemas.microsoft.com/office/drawing/2014/main" id="{D4A3FFFA-5017-4523-BA36-48CBD1144A3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03</a:t>
            </a:r>
          </a:p>
        </p:txBody>
      </p:sp>
    </p:spTree>
    <p:extLst>
      <p:ext uri="{BB962C8B-B14F-4D97-AF65-F5344CB8AC3E}">
        <p14:creationId xmlns:p14="http://schemas.microsoft.com/office/powerpoint/2010/main" val="13531939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774CB7-2231-4463-88BF-1AF5B7AEE8C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original eleven tasks</a:t>
            </a:r>
          </a:p>
        </p:txBody>
      </p:sp>
      <p:graphicFrame>
        <p:nvGraphicFramePr>
          <p:cNvPr id="13" name=""/>
          <p:cNvGraphicFramePr/>
          <p:nvPr/>
        </p:nvGraphicFramePr>
        <p:xfrm>
          <a:off xmlns:a="http://schemas.openxmlformats.org/drawingml/2006/main" x="685800" y="1752600"/>
          <a:ext xmlns:a="http://schemas.openxmlformats.org/drawingml/2006/main" cx="13868400" cy="4648200"/>
        </p:xfrm>
        <a:graphic xmlns:a="http://schemas.openxmlformats.org/drawingml/2006/main">
          <a:graphicData uri="http://schemas.openxmlformats.org/drawingml/2006/table">
            <a:tbl>
              <a:tblPr/>
              <a:tblGrid>
                <a:gridCol w="1342891"/>
                <a:gridCol w="4822199"/>
                <a:gridCol w="7703310"/>
              </a:tblGrid>
              <a:tr h="387350">
                <a:tc>
                  <a:txBody>
                    <a:bodyPr/>
                    <a:lstStyle/>
                    <a:p>
                      <a:r>
                        <a:rPr sz="1800" b="1">
                          <a:solidFill>
                            <a:srgbClr val="FFFFFF"/>
                          </a:solidFill>
                          <a:latin typeface="Arial"/>
                          <a:ea typeface="Arial"/>
                          <a:cs typeface="Arial"/>
                        </a:rPr>
                        <a:t>Task</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Original requirement</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Current outcome</a:t>
                      </a:r>
                    </a:p>
                  </a:txBody>
                  <a:tcPr marL="114300" marR="114300" marT="57150" marB="57150" anchor="ctr">
                    <a:solidFill>
                      <a:srgbClr val="153246"/>
                    </a:solidFill>
                  </a:tcPr>
                </a:tc>
              </a:tr>
              <a:tr h="387350">
                <a:tc>
                  <a:txBody>
                    <a:bodyPr/>
                    <a:lstStyle/>
                    <a:p>
                      <a:r>
                        <a:rPr sz="1800" b="0">
                          <a:solidFill>
                            <a:srgbClr val="153246"/>
                          </a:solidFill>
                          <a:latin typeface="Arial"/>
                          <a:ea typeface="Arial"/>
                          <a:cs typeface="Arial"/>
                        </a:rPr>
                        <a:t>1.1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Stratified atmosphere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Implemented with standard and measured weather</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1.2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Spectroscopic inputs</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Five target VOCs and traceable catalog gaps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1.3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Line shape and slant integration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Voigt profiles and refracted spherical paths</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1.4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Particle extinction baseline</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Rayleigh and Mie models, negative retrieval finding</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2.1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Link and radio parameters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Explicit sequential receiver and resource budget</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2.2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Simulated CSI</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AWGN and bounded moving waveform controls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3.1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Spectral separation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Joint inference with nuisance projection</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3.2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Concentration inversion</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Payload moments and signed statistical estimates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4.1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Variance lower bounds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Nuisance-aware likelihood and Fisher bounds</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4.2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Sensitivity</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Common VOC/PM multivariable comparisons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4.3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Detection floors and standards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Conditional limits, no positive compliance claim</a:t>
                      </a:r>
                    </a:p>
                  </a:txBody>
                  <a:tcPr marL="114300" marR="114300" marT="57150" marB="5715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FA0630DC-6DE8-4B07-B45F-9E4FF7811416}"/>
              </a:ext>
            </a:extLst>
          </p:cNvPr>
          <p:cNvSpPr>
            <a:spLocks xmlns:a="http://schemas.openxmlformats.org/drawingml/2006/main" noGrp="1"/>
          </p:cNvSpPr>
          <p:nvPr/>
        </p:nvSpPr>
        <p:spPr>
          <a:xfrm xmlns:a="http://schemas.openxmlformats.org/drawingml/2006/main">
            <a:off x="723900"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Physical subtasks</a:t>
            </a:r>
          </a:p>
        </p:txBody>
      </p:sp>
      <p:sp>
        <p:nvSpPr>
          <p:cNvPr id="4" name="">
            <a:extLst xmlns:a="http://schemas.openxmlformats.org/drawingml/2006/main">
              <a:ext uri="{FF2B5EF4-FFF2-40B4-BE49-F238E27FC236}">
                <a16:creationId xmlns:a16="http://schemas.microsoft.com/office/drawing/2014/main" id="{3B6A4074-589A-4281-A9EE-03BC01CBC09A}"/>
              </a:ext>
            </a:extLst>
          </p:cNvPr>
          <p:cNvSpPr>
            <a:spLocks xmlns:a="http://schemas.openxmlformats.org/drawingml/2006/main" noGrp="1"/>
          </p:cNvSpPr>
          <p:nvPr/>
        </p:nvSpPr>
        <p:spPr>
          <a:xfrm xmlns:a="http://schemas.openxmlformats.org/drawingml/2006/main">
            <a:off x="723900"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DF62B728-A3D0-4292-B6EE-3D5B99DBEA17}"/>
              </a:ext>
            </a:extLst>
          </p:cNvPr>
          <p:cNvSpPr>
            <a:spLocks xmlns:a="http://schemas.openxmlformats.org/drawingml/2006/main" noGrp="1"/>
          </p:cNvSpPr>
          <p:nvPr/>
        </p:nvSpPr>
        <p:spPr>
          <a:xfrm xmlns:a="http://schemas.openxmlformats.org/drawingml/2006/main">
            <a:off x="4164806"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Radio subtasks</a:t>
            </a:r>
          </a:p>
        </p:txBody>
      </p:sp>
      <p:sp>
        <p:nvSpPr>
          <p:cNvPr id="6" name="">
            <a:extLst xmlns:a="http://schemas.openxmlformats.org/drawingml/2006/main">
              <a:ext uri="{FF2B5EF4-FFF2-40B4-BE49-F238E27FC236}">
                <a16:creationId xmlns:a16="http://schemas.microsoft.com/office/drawing/2014/main" id="{7231ED63-58B8-4319-B429-2FA0C5DF7A75}"/>
              </a:ext>
            </a:extLst>
          </p:cNvPr>
          <p:cNvSpPr>
            <a:spLocks xmlns:a="http://schemas.openxmlformats.org/drawingml/2006/main" noGrp="1"/>
          </p:cNvSpPr>
          <p:nvPr/>
        </p:nvSpPr>
        <p:spPr>
          <a:xfrm xmlns:a="http://schemas.openxmlformats.org/drawingml/2006/main">
            <a:off x="4164806"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8347DB9E-A058-4757-8FC7-4454B5BAB42B}"/>
              </a:ext>
            </a:extLst>
          </p:cNvPr>
          <p:cNvSpPr>
            <a:spLocks xmlns:a="http://schemas.openxmlformats.org/drawingml/2006/main" noGrp="1"/>
          </p:cNvSpPr>
          <p:nvPr/>
        </p:nvSpPr>
        <p:spPr>
          <a:xfrm xmlns:a="http://schemas.openxmlformats.org/drawingml/2006/main">
            <a:off x="7605713"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Inversion subtasks</a:t>
            </a:r>
          </a:p>
        </p:txBody>
      </p:sp>
      <p:sp>
        <p:nvSpPr>
          <p:cNvPr id="8" name="">
            <a:extLst xmlns:a="http://schemas.openxmlformats.org/drawingml/2006/main">
              <a:ext uri="{FF2B5EF4-FFF2-40B4-BE49-F238E27FC236}">
                <a16:creationId xmlns:a16="http://schemas.microsoft.com/office/drawing/2014/main" id="{6A3FF8E8-BEE0-4F90-BD22-29BAFAD08F54}"/>
              </a:ext>
            </a:extLst>
          </p:cNvPr>
          <p:cNvSpPr>
            <a:spLocks xmlns:a="http://schemas.openxmlformats.org/drawingml/2006/main" noGrp="1"/>
          </p:cNvSpPr>
          <p:nvPr/>
        </p:nvSpPr>
        <p:spPr>
          <a:xfrm xmlns:a="http://schemas.openxmlformats.org/drawingml/2006/main">
            <a:off x="7605713"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D9B5DC1E-52D2-43B6-AE7D-B6C5ED35BA80}"/>
              </a:ext>
            </a:extLst>
          </p:cNvPr>
          <p:cNvSpPr>
            <a:spLocks xmlns:a="http://schemas.openxmlformats.org/drawingml/2006/main" noGrp="1"/>
          </p:cNvSpPr>
          <p:nvPr/>
        </p:nvSpPr>
        <p:spPr>
          <a:xfrm xmlns:a="http://schemas.openxmlformats.org/drawingml/2006/main">
            <a:off x="11046619"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Performance subtasks</a:t>
            </a:r>
          </a:p>
        </p:txBody>
      </p:sp>
      <p:sp>
        <p:nvSpPr>
          <p:cNvPr id="10" name="">
            <a:extLst xmlns:a="http://schemas.openxmlformats.org/drawingml/2006/main">
              <a:ext uri="{FF2B5EF4-FFF2-40B4-BE49-F238E27FC236}">
                <a16:creationId xmlns:a16="http://schemas.microsoft.com/office/drawing/2014/main" id="{AF7D90D1-0BDE-41AF-8DA0-B767BBABC56D}"/>
              </a:ext>
            </a:extLst>
          </p:cNvPr>
          <p:cNvSpPr>
            <a:spLocks xmlns:a="http://schemas.openxmlformats.org/drawingml/2006/main" noGrp="1"/>
          </p:cNvSpPr>
          <p:nvPr/>
        </p:nvSpPr>
        <p:spPr>
          <a:xfrm xmlns:a="http://schemas.openxmlformats.org/drawingml/2006/main">
            <a:off x="11046619"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37333E5F-7E9C-41F5-A3F0-28ED32FA8DF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04</a:t>
            </a:r>
          </a:p>
        </p:txBody>
      </p:sp>
    </p:spTree>
    <p:extLst>
      <p:ext uri="{BB962C8B-B14F-4D97-AF65-F5344CB8AC3E}">
        <p14:creationId xmlns:p14="http://schemas.microsoft.com/office/powerpoint/2010/main" val="9807229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617B105-9C79-440B-8DC1-B3DCD442D49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Evidence and operating conditions</a:t>
            </a:r>
          </a:p>
        </p:txBody>
      </p:sp>
      <p:sp>
        <p:nvSpPr>
          <p:cNvPr id="2" name="">
            <a:extLst xmlns:a="http://schemas.openxmlformats.org/drawingml/2006/main">
              <a:ext uri="{FF2B5EF4-FFF2-40B4-BE49-F238E27FC236}">
                <a16:creationId xmlns:a16="http://schemas.microsoft.com/office/drawing/2014/main" id="{441F5362-5659-4291-8DBF-A333EB2F432E}"/>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Exact dataset subsets and their roles are documented on slides 40–44.</a:t>
            </a:r>
          </a:p>
        </p:txBody>
      </p:sp>
      <p:graphicFrame>
        <p:nvGraphicFramePr>
          <p:cNvPr id="16"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3235146"/>
                <a:gridCol w="4883239"/>
                <a:gridCol w="5750014"/>
              </a:tblGrid>
              <a:tr h="673100">
                <a:tc>
                  <a:txBody>
                    <a:bodyPr/>
                    <a:lstStyle/>
                    <a:p>
                      <a:r>
                        <a:rPr sz="1950" b="1">
                          <a:solidFill>
                            <a:srgbClr val="FFFFFF"/>
                          </a:solidFill>
                          <a:latin typeface="Arial"/>
                          <a:ea typeface="Arial"/>
                          <a:cs typeface="Arial"/>
                        </a:rPr>
                        <a:t>Evidence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What it supports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What it cannot establish</a:t>
                      </a:r>
                    </a:p>
                  </a:txBody>
                  <a:tcPr marL="114300" marR="114300" marT="57150" marB="57150" anchor="ctr">
                    <a:solidFill>
                      <a:srgbClr val="153246"/>
                    </a:solidFill>
                  </a:tcPr>
                </a:tc>
              </a:tr>
              <a:tr h="673100">
                <a:tc>
                  <a:txBody>
                    <a:bodyPr/>
                    <a:lstStyle/>
                    <a:p>
                      <a:r>
                        <a:rPr sz="1950" b="0">
                          <a:solidFill>
                            <a:srgbClr val="153246"/>
                          </a:solidFill>
                          <a:latin typeface="Arial"/>
                          <a:ea typeface="Arial"/>
                          <a:cs typeface="Arial"/>
                        </a:rPr>
                        <a:t>HITRAN / ITU models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External physical parameters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Measured atmospheric radio performance</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NOAA weather soundings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Actual weather profiles at selected times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Paired VOC/PM concentration truth</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Monte Carlo responses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Conditional recall and concentration errors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Field recall under unknown model error</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Raw coded OFDM frames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Bounded modem and synchronization checks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Full mission or continuous trajectory validation</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Public water / calcite data</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Limited independent physical checks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Calibrated joint VOC and PM retrieval</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406723BF-BC12-449C-A2AF-AC303716587C}"/>
              </a:ext>
            </a:extLst>
          </p:cNvPr>
          <p:cNvSpPr>
            <a:spLocks xmlns:a="http://schemas.openxmlformats.org/drawingml/2006/main" noGrp="1"/>
          </p:cNvSpPr>
          <p:nvPr/>
        </p:nvSpPr>
        <p:spPr>
          <a:xfrm xmlns:a="http://schemas.openxmlformats.org/drawingml/2006/main">
            <a:off x="723900"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Trials per class</a:t>
            </a:r>
          </a:p>
        </p:txBody>
      </p:sp>
      <p:sp>
        <p:nvSpPr>
          <p:cNvPr id="5" name="">
            <a:extLst xmlns:a="http://schemas.openxmlformats.org/drawingml/2006/main">
              <a:ext uri="{FF2B5EF4-FFF2-40B4-BE49-F238E27FC236}">
                <a16:creationId xmlns:a16="http://schemas.microsoft.com/office/drawing/2014/main" id="{DF95337E-B405-4605-91F9-9A8E07197B86}"/>
              </a:ext>
            </a:extLst>
          </p:cNvPr>
          <p:cNvSpPr>
            <a:spLocks xmlns:a="http://schemas.openxmlformats.org/drawingml/2006/main" noGrp="1"/>
          </p:cNvSpPr>
          <p:nvPr/>
        </p:nvSpPr>
        <p:spPr>
          <a:xfrm xmlns:a="http://schemas.openxmlformats.org/drawingml/2006/main">
            <a:off x="723900"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6" name="">
            <a:extLst xmlns:a="http://schemas.openxmlformats.org/drawingml/2006/main">
              <a:ext uri="{FF2B5EF4-FFF2-40B4-BE49-F238E27FC236}">
                <a16:creationId xmlns:a16="http://schemas.microsoft.com/office/drawing/2014/main" id="{555BE493-93E6-4D79-BFF3-63E76A89BA10}"/>
              </a:ext>
            </a:extLst>
          </p:cNvPr>
          <p:cNvSpPr>
            <a:spLocks xmlns:a="http://schemas.openxmlformats.org/drawingml/2006/main" noGrp="1"/>
          </p:cNvSpPr>
          <p:nvPr/>
        </p:nvSpPr>
        <p:spPr>
          <a:xfrm xmlns:a="http://schemas.openxmlformats.org/drawingml/2006/main">
            <a:off x="4164806"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MC cases</a:t>
            </a:r>
          </a:p>
        </p:txBody>
      </p:sp>
      <p:sp>
        <p:nvSpPr>
          <p:cNvPr id="7" name="">
            <a:extLst xmlns:a="http://schemas.openxmlformats.org/drawingml/2006/main">
              <a:ext uri="{FF2B5EF4-FFF2-40B4-BE49-F238E27FC236}">
                <a16:creationId xmlns:a16="http://schemas.microsoft.com/office/drawing/2014/main" id="{A1A0AE18-815C-4071-A335-AFD46269AD0A}"/>
              </a:ext>
            </a:extLst>
          </p:cNvPr>
          <p:cNvSpPr>
            <a:spLocks xmlns:a="http://schemas.openxmlformats.org/drawingml/2006/main" noGrp="1"/>
          </p:cNvSpPr>
          <p:nvPr/>
        </p:nvSpPr>
        <p:spPr>
          <a:xfrm xmlns:a="http://schemas.openxmlformats.org/drawingml/2006/main">
            <a:off x="4164806"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12</a:t>
            </a:r>
          </a:p>
        </p:txBody>
      </p:sp>
      <p:sp>
        <p:nvSpPr>
          <p:cNvPr id="8" name="">
            <a:extLst xmlns:a="http://schemas.openxmlformats.org/drawingml/2006/main">
              <a:ext uri="{FF2B5EF4-FFF2-40B4-BE49-F238E27FC236}">
                <a16:creationId xmlns:a16="http://schemas.microsoft.com/office/drawing/2014/main" id="{D3AAF6B7-06D4-4B44-8E0D-4502576CA232}"/>
              </a:ext>
            </a:extLst>
          </p:cNvPr>
          <p:cNvSpPr>
            <a:spLocks xmlns:a="http://schemas.openxmlformats.org/drawingml/2006/main" noGrp="1"/>
          </p:cNvSpPr>
          <p:nvPr/>
        </p:nvSpPr>
        <p:spPr>
          <a:xfrm xmlns:a="http://schemas.openxmlformats.org/drawingml/2006/main">
            <a:off x="7605713"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Reference / sample</a:t>
            </a:r>
          </a:p>
        </p:txBody>
      </p:sp>
      <p:sp>
        <p:nvSpPr>
          <p:cNvPr id="9" name="">
            <a:extLst xmlns:a="http://schemas.openxmlformats.org/drawingml/2006/main">
              <a:ext uri="{FF2B5EF4-FFF2-40B4-BE49-F238E27FC236}">
                <a16:creationId xmlns:a16="http://schemas.microsoft.com/office/drawing/2014/main" id="{A55FC0A6-E6A2-4C5D-98E8-FF7AB60040C6}"/>
              </a:ext>
            </a:extLst>
          </p:cNvPr>
          <p:cNvSpPr>
            <a:spLocks xmlns:a="http://schemas.openxmlformats.org/drawingml/2006/main" noGrp="1"/>
          </p:cNvSpPr>
          <p:nvPr/>
        </p:nvSpPr>
        <p:spPr>
          <a:xfrm xmlns:a="http://schemas.openxmlformats.org/drawingml/2006/main">
            <a:off x="7605713"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 s / 10 s at 20 s</a:t>
            </a:r>
          </a:p>
        </p:txBody>
      </p:sp>
      <p:sp>
        <p:nvSpPr>
          <p:cNvPr id="10" name="">
            <a:extLst xmlns:a="http://schemas.openxmlformats.org/drawingml/2006/main">
              <a:ext uri="{FF2B5EF4-FFF2-40B4-BE49-F238E27FC236}">
                <a16:creationId xmlns:a16="http://schemas.microsoft.com/office/drawing/2014/main" id="{CB0BC7DD-AA59-4F96-839B-FA575603DA4B}"/>
              </a:ext>
            </a:extLst>
          </p:cNvPr>
          <p:cNvSpPr>
            <a:spLocks xmlns:a="http://schemas.openxmlformats.org/drawingml/2006/main" noGrp="1"/>
          </p:cNvSpPr>
          <p:nvPr/>
        </p:nvSpPr>
        <p:spPr>
          <a:xfrm xmlns:a="http://schemas.openxmlformats.org/drawingml/2006/main">
            <a:off x="11046619"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Measured field recall</a:t>
            </a:r>
          </a:p>
        </p:txBody>
      </p:sp>
      <p:sp>
        <p:nvSpPr>
          <p:cNvPr id="11" name="">
            <a:extLst xmlns:a="http://schemas.openxmlformats.org/drawingml/2006/main">
              <a:ext uri="{FF2B5EF4-FFF2-40B4-BE49-F238E27FC236}">
                <a16:creationId xmlns:a16="http://schemas.microsoft.com/office/drawing/2014/main" id="{5FEDE958-7EF1-41D2-92F1-8B9DF3C6157B}"/>
              </a:ext>
            </a:extLst>
          </p:cNvPr>
          <p:cNvSpPr>
            <a:spLocks xmlns:a="http://schemas.openxmlformats.org/drawingml/2006/main" noGrp="1"/>
          </p:cNvSpPr>
          <p:nvPr/>
        </p:nvSpPr>
        <p:spPr>
          <a:xfrm xmlns:a="http://schemas.openxmlformats.org/drawingml/2006/main">
            <a:off x="11046619"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Unavailable</a:t>
            </a:r>
          </a:p>
        </p:txBody>
      </p:sp>
      <p:sp>
        <p:nvSpPr>
          <p:cNvPr id="12" name="">
            <a:extLst xmlns:a="http://schemas.openxmlformats.org/drawingml/2006/main">
              <a:ext uri="{FF2B5EF4-FFF2-40B4-BE49-F238E27FC236}">
                <a16:creationId xmlns:a16="http://schemas.microsoft.com/office/drawing/2014/main" id="{E85C4BD2-8DCD-45D1-B351-FD4D6E24EC33}"/>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Every favorable result needs its time, calibration, concentration and receiver assumptions.</a:t>
            </a:r>
          </a:p>
        </p:txBody>
      </p:sp>
      <p:sp>
        <p:nvSpPr>
          <p:cNvPr id="13" name="">
            <a:extLst xmlns:a="http://schemas.openxmlformats.org/drawingml/2006/main">
              <a:ext uri="{FF2B5EF4-FFF2-40B4-BE49-F238E27FC236}">
                <a16:creationId xmlns:a16="http://schemas.microsoft.com/office/drawing/2014/main" id="{E6551F74-A739-45FF-9D51-38C2241C2BB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05</a:t>
            </a:r>
          </a:p>
        </p:txBody>
      </p:sp>
    </p:spTree>
    <p:extLst>
      <p:ext uri="{BB962C8B-B14F-4D97-AF65-F5344CB8AC3E}">
        <p14:creationId xmlns:p14="http://schemas.microsoft.com/office/powerpoint/2010/main" val="8965109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9127E50-6715-4FBD-8FAD-B3617AA4C750}"/>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1.1 · Stratified atmosphere</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Soundings parsed</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521</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Vertical levels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103,322</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Gas scale height</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1,500 m</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PM scale height</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1,000 m</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4A147EB-10B6-480E-802D-B5AF83977F68}"/>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Implemented ITU-R P.835 reference layers through 100 km and NOAA IGRA measured weather profiles.</a:t>
            </a:r>
          </a:p>
        </p:txBody>
      </p:sp>
      <p:sp>
        <p:nvSpPr>
          <p:cNvPr id="4" name="">
            <a:extLst xmlns:a="http://schemas.openxmlformats.org/drawingml/2006/main">
              <a:ext uri="{FF2B5EF4-FFF2-40B4-BE49-F238E27FC236}">
                <a16:creationId xmlns:a16="http://schemas.microsoft.com/office/drawing/2014/main" id="{189F462E-887D-49C1-B01D-A280BF47E2E2}"/>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Interpolated temperature and log pressure / water vapor across height. Explicitly modeled the continuation above each sounding.</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bee6f22c7d94c6e">
            <a:extLst>
              <a:ext uri="{96DAC541-7B7A-43D3-8B79-37D633B846F1}">
                <asvg:svgBlip xmlns:asvg="http://schemas.microsoft.com/office/drawing/2016/SVG/main" r:embed="R0c019c46c3284be8"/>
              </a:ext>
            </a:extLst>
          </a:blip>
          <a:stretch xmlns:a="http://schemas.openxmlformats.org/drawingml/2006/main"/>
        </p:blipFill>
        <p:spPr>
          <a:xfrm xmlns:a="http://schemas.openxmlformats.org/drawingml/2006/main">
            <a:off x="723900" y="3408426"/>
            <a:ext cx="6261688"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EADC9DD-7F46-4507-A486-76074F45AFC3}"/>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nₛ is molecular number density. Use consistent mass units for cₛ,₀ and molar mass Mₛ. Hₛ is an assumed concentration scale height.</a:t>
            </a:r>
          </a:p>
        </p:txBody>
      </p:sp>
      <p:sp>
        <p:nvSpPr>
          <p:cNvPr id="7" name="">
            <a:extLst xmlns:a="http://schemas.openxmlformats.org/drawingml/2006/main">
              <a:ext uri="{FF2B5EF4-FFF2-40B4-BE49-F238E27FC236}">
                <a16:creationId xmlns:a16="http://schemas.microsoft.com/office/drawing/2014/main" id="{DAB8D209-52BE-4872-B26A-E747896569C8}"/>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channel responds to vertical weather variation instead of using one homogeneous slab.</a:t>
            </a:r>
          </a:p>
        </p:txBody>
      </p:sp>
      <p:sp>
        <p:nvSpPr>
          <p:cNvPr id="8" name="">
            <a:extLst xmlns:a="http://schemas.openxmlformats.org/drawingml/2006/main">
              <a:ext uri="{FF2B5EF4-FFF2-40B4-BE49-F238E27FC236}">
                <a16:creationId xmlns:a16="http://schemas.microsoft.com/office/drawing/2014/main" id="{16091C71-086A-4613-AF48-5D6497573D78}"/>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assumed pollutant profile does not become measured truth because the weather profile is measured.</a:t>
            </a:r>
          </a:p>
        </p:txBody>
      </p:sp>
      <p:sp>
        <p:nvSpPr>
          <p:cNvPr id="9" name="">
            <a:extLst xmlns:a="http://schemas.openxmlformats.org/drawingml/2006/main">
              <a:ext uri="{FF2B5EF4-FFF2-40B4-BE49-F238E27FC236}">
                <a16:creationId xmlns:a16="http://schemas.microsoft.com/office/drawing/2014/main" id="{9E3B78F2-DB2C-4811-835E-280F916658E2}"/>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4038A448-0C7F-4043-AFAF-4BB79F219AE5}"/>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gas species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n_s(z): molecular number density (m⁻³)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c_s,0: surface mass concentration (kg/m³)</a:t>
            </a:r>
          </a:p>
        </p:txBody>
      </p:sp>
      <p:sp>
        <p:nvSpPr>
          <p:cNvPr id="11" name="">
            <a:extLst xmlns:a="http://schemas.openxmlformats.org/drawingml/2006/main">
              <a:ext uri="{FF2B5EF4-FFF2-40B4-BE49-F238E27FC236}">
                <a16:creationId xmlns:a16="http://schemas.microsoft.com/office/drawing/2014/main" id="{0D9F6D8F-F79F-40F9-A640-AABDEECF2685}"/>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N_A: Avogadro constant (mol⁻¹)</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M_s: gas molar mass (kg/mol)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H_s: assumed concentration scale height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 exponential function</a:t>
            </a:r>
          </a:p>
        </p:txBody>
      </p:sp>
      <p:sp>
        <p:nvSpPr>
          <p:cNvPr id="12" name="">
            <a:extLst xmlns:a="http://schemas.openxmlformats.org/drawingml/2006/main">
              <a:ext uri="{FF2B5EF4-FFF2-40B4-BE49-F238E27FC236}">
                <a16:creationId xmlns:a16="http://schemas.microsoft.com/office/drawing/2014/main" id="{B8FAFDC2-4E41-4B51-BF5C-F54AFFC31A95}"/>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P(z): atmospheric pressure (Pa)</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T(z): atmospheric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ρ_H₂O(z): water vapour mass density (kg/m³)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Convert µg/m³ to kg/m³ before substitution</a:t>
            </a:r>
          </a:p>
        </p:txBody>
      </p:sp>
      <p:sp>
        <p:nvSpPr>
          <p:cNvPr id="13" name="">
            <a:extLst xmlns:a="http://schemas.openxmlformats.org/drawingml/2006/main">
              <a:ext uri="{FF2B5EF4-FFF2-40B4-BE49-F238E27FC236}">
                <a16:creationId xmlns:a16="http://schemas.microsoft.com/office/drawing/2014/main" id="{4B94FCA5-93A1-4F48-BFFB-CBE8F1FBD20C}"/>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06</a:t>
            </a:r>
          </a:p>
        </p:txBody>
      </p:sp>
    </p:spTree>
    <p:extLst>
      <p:ext uri="{BB962C8B-B14F-4D97-AF65-F5344CB8AC3E}">
        <p14:creationId xmlns:p14="http://schemas.microsoft.com/office/powerpoint/2010/main" val="14851319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D37977A-0299-4970-A761-2C2A1625488B}"/>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1.1 · Results and profile uncertainty</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3357227"/>
                <a:gridCol w="5371563"/>
                <a:gridCol w="5139610"/>
              </a:tblGrid>
              <a:tr h="462382">
                <a:tc>
                  <a:txBody>
                    <a:bodyPr/>
                    <a:lstStyle/>
                    <a:p>
                      <a:r>
                        <a:rPr sz="1599" b="1">
                          <a:solidFill>
                            <a:srgbClr val="FFFFFF"/>
                          </a:solidFill>
                          <a:latin typeface="Arial"/>
                          <a:ea typeface="Arial"/>
                          <a:cs typeface="Arial"/>
                        </a:rPr>
                        <a:t>Component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Implemented result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Remaining uncertainty</a:t>
                      </a:r>
                    </a:p>
                  </a:txBody>
                  <a:tcPr marL="114300" marR="114300" marT="57150" marB="57150" anchor="ctr">
                    <a:solidFill>
                      <a:srgbClr val="153246"/>
                    </a:solidFill>
                  </a:tcPr>
                </a:tc>
              </a:tr>
              <a:tr h="462382">
                <a:tc>
                  <a:txBody>
                    <a:bodyPr/>
                    <a:lstStyle/>
                    <a:p>
                      <a:r>
                        <a:rPr sz="1599" b="0">
                          <a:solidFill>
                            <a:srgbClr val="153246"/>
                          </a:solidFill>
                          <a:latin typeface="Arial"/>
                          <a:ea typeface="Arial"/>
                          <a:cs typeface="Arial"/>
                        </a:rPr>
                        <a:t>Weather archive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103,322 levels from 521 soundings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Only selected dates enter sensing comparisons</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Seasonal cases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January, April, July and September examples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Four profiles do not describe a population</a:t>
                      </a:r>
                    </a:p>
                  </a:txBody>
                  <a:tcPr marL="114300" marR="114300" marT="57150" marB="57150" anchor="ctr">
                    <a:solidFill>
                      <a:srgbClr val="FFFFFF"/>
                    </a:solidFill>
                  </a:tcPr>
                </a:tc>
              </a:tr>
              <a:tr h="462382">
                <a:tc>
                  <a:txBody>
                    <a:bodyPr/>
                    <a:lstStyle/>
                    <a:p>
                      <a:r>
                        <a:rPr sz="1599" b="0">
                          <a:solidFill>
                            <a:srgbClr val="153246"/>
                          </a:solidFill>
                          <a:latin typeface="Arial"/>
                          <a:ea typeface="Arial"/>
                          <a:cs typeface="Arial"/>
                        </a:rPr>
                        <a:t>Measured profile tops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28.8–37.0 km above the station</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Upper continuation follows a model</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Gas / PM scale height</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1,500 m / 1,000 m</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Unknown real pollutant distributions</a:t>
                      </a:r>
                    </a:p>
                  </a:txBody>
                  <a:tcPr marL="114300" marR="114300" marT="57150" marB="57150" anchor="ctr">
                    <a:solidFill>
                      <a:srgbClr val="FFFFFF"/>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d169a70424541d8">
            <a:extLst>
              <a:ext uri="{96DAC541-7B7A-43D3-8B79-37D633B846F1}">
                <asvg:svgBlip xmlns:asvg="http://schemas.microsoft.com/office/drawing/2016/SVG/main" r:embed="R773128d4209b4df6"/>
              </a:ext>
            </a:extLst>
          </a:blip>
          <a:stretch xmlns:a="http://schemas.openxmlformats.org/drawingml/2006/main"/>
        </p:blipFill>
        <p:spPr>
          <a:xfrm xmlns:a="http://schemas.openxmlformats.org/drawingml/2006/main">
            <a:off x="781050" y="4220718"/>
            <a:ext cx="6795662"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87CC795-9F98-42B9-9E69-BB0A2C9266AB}"/>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reported concentration is a surface-equivalent enhancement under the chosen profile.</a:t>
            </a:r>
          </a:p>
        </p:txBody>
      </p:sp>
      <p:sp>
        <p:nvSpPr>
          <p:cNvPr id="5" name="">
            <a:extLst xmlns:a="http://schemas.openxmlformats.org/drawingml/2006/main">
              <a:ext uri="{FF2B5EF4-FFF2-40B4-BE49-F238E27FC236}">
                <a16:creationId xmlns:a16="http://schemas.microsoft.com/office/drawing/2014/main" id="{1FA6A1F1-4BD2-4AE0-A4AC-0088745CAC48}"/>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Atmosphere top</a:t>
            </a:r>
          </a:p>
        </p:txBody>
      </p:sp>
      <p:sp>
        <p:nvSpPr>
          <p:cNvPr id="6" name="">
            <a:extLst xmlns:a="http://schemas.openxmlformats.org/drawingml/2006/main">
              <a:ext uri="{FF2B5EF4-FFF2-40B4-BE49-F238E27FC236}">
                <a16:creationId xmlns:a16="http://schemas.microsoft.com/office/drawing/2014/main" id="{5AD90DF8-C5D5-414E-8A26-45FFB7149C59}"/>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100 km</a:t>
            </a:r>
          </a:p>
        </p:txBody>
      </p:sp>
      <p:sp>
        <p:nvSpPr>
          <p:cNvPr id="7" name="">
            <a:extLst xmlns:a="http://schemas.openxmlformats.org/drawingml/2006/main">
              <a:ext uri="{FF2B5EF4-FFF2-40B4-BE49-F238E27FC236}">
                <a16:creationId xmlns:a16="http://schemas.microsoft.com/office/drawing/2014/main" id="{56EEC597-298C-404E-990C-39DBEC217545}"/>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Earlier weather cases</a:t>
            </a:r>
          </a:p>
        </p:txBody>
      </p:sp>
      <p:sp>
        <p:nvSpPr>
          <p:cNvPr id="8" name="">
            <a:extLst xmlns:a="http://schemas.openxmlformats.org/drawingml/2006/main">
              <a:ext uri="{FF2B5EF4-FFF2-40B4-BE49-F238E27FC236}">
                <a16:creationId xmlns:a16="http://schemas.microsoft.com/office/drawing/2014/main" id="{5F0E1941-3A20-470E-B423-55B5C8E259D0}"/>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4 months</a:t>
            </a:r>
          </a:p>
        </p:txBody>
      </p:sp>
      <p:sp>
        <p:nvSpPr>
          <p:cNvPr id="9" name="">
            <a:extLst xmlns:a="http://schemas.openxmlformats.org/drawingml/2006/main">
              <a:ext uri="{FF2B5EF4-FFF2-40B4-BE49-F238E27FC236}">
                <a16:creationId xmlns:a16="http://schemas.microsoft.com/office/drawing/2014/main" id="{65E61F27-ADCA-4735-A4C2-6737CEA78ECB}"/>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Newest exact grid</a:t>
            </a:r>
          </a:p>
        </p:txBody>
      </p:sp>
      <p:sp>
        <p:nvSpPr>
          <p:cNvPr id="10" name="">
            <a:extLst xmlns:a="http://schemas.openxmlformats.org/drawingml/2006/main">
              <a:ext uri="{FF2B5EF4-FFF2-40B4-BE49-F238E27FC236}">
                <a16:creationId xmlns:a16="http://schemas.microsoft.com/office/drawing/2014/main" id="{50BB0A4D-3E30-46ED-A517-44D25C510BD1}"/>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2 atmospheres</a:t>
            </a:r>
          </a:p>
        </p:txBody>
      </p:sp>
      <p:sp>
        <p:nvSpPr>
          <p:cNvPr id="11" name="">
            <a:extLst xmlns:a="http://schemas.openxmlformats.org/drawingml/2006/main">
              <a:ext uri="{FF2B5EF4-FFF2-40B4-BE49-F238E27FC236}">
                <a16:creationId xmlns:a16="http://schemas.microsoft.com/office/drawing/2014/main" id="{0D55ADAD-5358-43EF-95AF-C089FA5CADDD}"/>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Absolute ground concentration still requires baseline abundance and a validated column-to-surface mapping.</a:t>
            </a:r>
          </a:p>
        </p:txBody>
      </p:sp>
      <p:sp>
        <p:nvSpPr>
          <p:cNvPr id="12" name="">
            <a:extLst xmlns:a="http://schemas.openxmlformats.org/drawingml/2006/main">
              <a:ext uri="{FF2B5EF4-FFF2-40B4-BE49-F238E27FC236}">
                <a16:creationId xmlns:a16="http://schemas.microsoft.com/office/drawing/2014/main" id="{6BDC2935-F092-42A7-9C2A-A8BE6EEAD142}"/>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AEAF050D-9D50-48D6-863A-4FD73192DA04}"/>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c(z): mass concentration at altitude 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c₀: surface mass concentration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and c₀ use the same mass / volume units</a:t>
            </a:r>
          </a:p>
        </p:txBody>
      </p:sp>
      <p:sp>
        <p:nvSpPr>
          <p:cNvPr id="14" name="">
            <a:extLst xmlns:a="http://schemas.openxmlformats.org/drawingml/2006/main">
              <a:ext uri="{FF2B5EF4-FFF2-40B4-BE49-F238E27FC236}">
                <a16:creationId xmlns:a16="http://schemas.microsoft.com/office/drawing/2014/main" id="{A7E360DF-0BE8-4E5B-9133-F36D2E96D3E7}"/>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 assumed concentration scale height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 exponential function</a:t>
            </a:r>
          </a:p>
        </p:txBody>
      </p:sp>
      <p:sp>
        <p:nvSpPr>
          <p:cNvPr id="15" name="">
            <a:extLst xmlns:a="http://schemas.openxmlformats.org/drawingml/2006/main">
              <a:ext uri="{FF2B5EF4-FFF2-40B4-BE49-F238E27FC236}">
                <a16:creationId xmlns:a16="http://schemas.microsoft.com/office/drawing/2014/main" id="{AB846A87-8718-4342-ADBF-D37B4EE42F8D}"/>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ĉ₀: estimated surface mass concentration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Hat: estimated quantity</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implication under the assumed profile</a:t>
            </a:r>
          </a:p>
        </p:txBody>
      </p:sp>
      <p:sp>
        <p:nvSpPr>
          <p:cNvPr id="16" name="">
            <a:extLst xmlns:a="http://schemas.openxmlformats.org/drawingml/2006/main">
              <a:ext uri="{FF2B5EF4-FFF2-40B4-BE49-F238E27FC236}">
                <a16:creationId xmlns:a16="http://schemas.microsoft.com/office/drawing/2014/main" id="{98B3B91E-5F1B-49C0-975E-1CA4A404A7AC}"/>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07</a:t>
            </a:r>
          </a:p>
        </p:txBody>
      </p:sp>
    </p:spTree>
    <p:extLst>
      <p:ext uri="{BB962C8B-B14F-4D97-AF65-F5344CB8AC3E}">
        <p14:creationId xmlns:p14="http://schemas.microsoft.com/office/powerpoint/2010/main" val="10397943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007AFD3-D37E-4A05-8B1B-7C088E87C229}"/>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1.2 · Spectroscopic extraction</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Current target gases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5</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Interfering gases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4</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Historical isotope tables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34</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Historical 60–400 GHz lines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31,474</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8D7CF78-C61B-46EC-88D5-7E0FCBBA728C}"/>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Acquired line positions, strengths, pressure shifts, air broadening and temperature exponents from HITRAN.</a:t>
            </a:r>
          </a:p>
        </p:txBody>
      </p:sp>
      <p:sp>
        <p:nvSpPr>
          <p:cNvPr id="4" name="">
            <a:extLst xmlns:a="http://schemas.openxmlformats.org/drawingml/2006/main">
              <a:ext uri="{FF2B5EF4-FFF2-40B4-BE49-F238E27FC236}">
                <a16:creationId xmlns:a16="http://schemas.microsoft.com/office/drawing/2014/main" id="{A0C29AA7-49BF-4B9F-9095-D567A66AB12D}"/>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Used isotope-specific masses and partition functions. Preserved line-source hashes and failed acquisition requests.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c1044bf1d634312">
            <a:extLst>
              <a:ext uri="{96DAC541-7B7A-43D3-8B79-37D633B846F1}">
                <asvg:svgBlip xmlns:asvg="http://schemas.microsoft.com/office/drawing/2016/SVG/main" r:embed="Rcee4183c253d488a"/>
              </a:ext>
            </a:extLst>
          </a:blip>
          <a:stretch xmlns:a="http://schemas.openxmlformats.org/drawingml/2006/main"/>
        </p:blipFill>
        <p:spPr>
          <a:xfrm xmlns:a="http://schemas.openxmlformats.org/drawingml/2006/main">
            <a:off x="723900" y="3590867"/>
            <a:ext cx="8319186" cy="115816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1CCDB63-6969-4673-9021-1885CDED39EC}"/>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σₛ is molecular cross section. Sℓ is line strength and Vℓ is the normalized Voigt profile for local temperature and pressure.</a:t>
            </a:r>
          </a:p>
        </p:txBody>
      </p:sp>
      <p:sp>
        <p:nvSpPr>
          <p:cNvPr id="7" name="">
            <a:extLst xmlns:a="http://schemas.openxmlformats.org/drawingml/2006/main">
              <a:ext uri="{FF2B5EF4-FFF2-40B4-BE49-F238E27FC236}">
                <a16:creationId xmlns:a16="http://schemas.microsoft.com/office/drawing/2014/main" id="{D4A699C1-249D-4A5B-87CD-F42713D967DD}"/>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joint receiver now includes five organic gas targets and four interfering gases.</a:t>
            </a:r>
          </a:p>
        </p:txBody>
      </p:sp>
      <p:sp>
        <p:nvSpPr>
          <p:cNvPr id="8" name="">
            <a:extLst xmlns:a="http://schemas.openxmlformats.org/drawingml/2006/main">
              <a:ext uri="{FF2B5EF4-FFF2-40B4-BE49-F238E27FC236}">
                <a16:creationId xmlns:a16="http://schemas.microsoft.com/office/drawing/2014/main" id="{9EF3B40B-1A27-452A-ADE9-6D3554AA6F4A}"/>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HITRAN strengths already include natural isotope abundance. Applying it twice would understate absorption.</a:t>
            </a:r>
          </a:p>
        </p:txBody>
      </p:sp>
      <p:sp>
        <p:nvSpPr>
          <p:cNvPr id="9" name="">
            <a:extLst xmlns:a="http://schemas.openxmlformats.org/drawingml/2006/main">
              <a:ext uri="{FF2B5EF4-FFF2-40B4-BE49-F238E27FC236}">
                <a16:creationId xmlns:a16="http://schemas.microsoft.com/office/drawing/2014/main" id="{7EA0F18B-9E47-418D-9321-856C4517BAFE}"/>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7028E829-FE3E-40A2-8E07-BAE28D3A9858}"/>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species index, ℓ: spectral line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 spectral frequency, ν_ℓ: line centre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σ_s: molecular absorption cross section (m²)</a:t>
            </a:r>
          </a:p>
        </p:txBody>
      </p:sp>
      <p:sp>
        <p:nvSpPr>
          <p:cNvPr id="11" name="">
            <a:extLst xmlns:a="http://schemas.openxmlformats.org/drawingml/2006/main">
              <a:ext uri="{FF2B5EF4-FFF2-40B4-BE49-F238E27FC236}">
                <a16:creationId xmlns:a16="http://schemas.microsoft.com/office/drawing/2014/main" id="{014F9EBB-F724-454A-B785-72233DB2C829}"/>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S_ℓ(T): integrated line strength at 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V_ℓ: normalized Voigt line profile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S_ℓ × V_ℓ has cross section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 matching spectral units for S_ℓ and V_ℓ</a:t>
            </a:r>
          </a:p>
        </p:txBody>
      </p:sp>
      <p:sp>
        <p:nvSpPr>
          <p:cNvPr id="12" name="">
            <a:extLst xmlns:a="http://schemas.openxmlformats.org/drawingml/2006/main">
              <a:ext uri="{FF2B5EF4-FFF2-40B4-BE49-F238E27FC236}">
                <a16:creationId xmlns:a16="http://schemas.microsoft.com/office/drawing/2014/main" id="{0BDA44C2-EB50-46C6-A944-D0FABA5727B8}"/>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T(z): atmospheric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P(z): atmospheric pressure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δ_ℓ: line shift per unit pressure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δ_ℓ P(z): pressure shift in frequency units</a:t>
            </a:r>
          </a:p>
        </p:txBody>
      </p:sp>
      <p:sp>
        <p:nvSpPr>
          <p:cNvPr id="13" name="">
            <a:extLst xmlns:a="http://schemas.openxmlformats.org/drawingml/2006/main">
              <a:ext uri="{FF2B5EF4-FFF2-40B4-BE49-F238E27FC236}">
                <a16:creationId xmlns:a16="http://schemas.microsoft.com/office/drawing/2014/main" id="{DD2365CE-8019-4ECB-A0BD-B585F4C6422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08</a:t>
            </a:r>
          </a:p>
        </p:txBody>
      </p:sp>
    </p:spTree>
    <p:extLst>
      <p:ext uri="{BB962C8B-B14F-4D97-AF65-F5344CB8AC3E}">
        <p14:creationId xmlns:p14="http://schemas.microsoft.com/office/powerpoint/2010/main" val="9749938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BC404D-3311-48B9-B9B5-367E3DA012EB}"/>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1.2 · Every target gas and catalog gap</a:t>
            </a:r>
          </a:p>
        </p:txBody>
      </p:sp>
      <p:sp>
        <p:nvSpPr>
          <p:cNvPr id="2" name="">
            <a:extLst xmlns:a="http://schemas.openxmlformats.org/drawingml/2006/main">
              <a:ext uri="{FF2B5EF4-FFF2-40B4-BE49-F238E27FC236}">
                <a16:creationId xmlns:a16="http://schemas.microsoft.com/office/drawing/2014/main" id="{1C9F1663-D2C5-40ED-AFC7-2865F198C0B0}"/>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CO, O₃, SO₂ and NO₂ enter as interferents. H₂O and O₂ enter the atmospheric background.</a:t>
            </a:r>
          </a:p>
        </p:txBody>
      </p:sp>
      <p:graphicFrame>
        <p:nvGraphicFramePr>
          <p:cNvPr id="14"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2136417"/>
                <a:gridCol w="5554685"/>
                <a:gridCol w="6177298"/>
              </a:tblGrid>
              <a:tr h="673100">
                <a:tc>
                  <a:txBody>
                    <a:bodyPr/>
                    <a:lstStyle/>
                    <a:p>
                      <a:r>
                        <a:rPr sz="1950" b="1">
                          <a:solidFill>
                            <a:srgbClr val="FFFFFF"/>
                          </a:solidFill>
                          <a:latin typeface="Arial"/>
                          <a:ea typeface="Arial"/>
                          <a:cs typeface="Arial"/>
                        </a:rPr>
                        <a:t>Target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Chemical identity</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Current sensing result</a:t>
                      </a:r>
                    </a:p>
                  </a:txBody>
                  <a:tcPr marL="114300" marR="114300" marT="57150" marB="57150" anchor="ctr">
                    <a:solidFill>
                      <a:srgbClr val="153246"/>
                    </a:solidFill>
                  </a:tcPr>
                </a:tc>
              </a:tr>
              <a:tr h="673100">
                <a:tc>
                  <a:txBody>
                    <a:bodyPr/>
                    <a:lstStyle/>
                    <a:p>
                      <a:r>
                        <a:rPr sz="1950" b="0">
                          <a:solidFill>
                            <a:srgbClr val="153246"/>
                          </a:solidFill>
                          <a:latin typeface="Arial"/>
                          <a:ea typeface="Arial"/>
                          <a:cs typeface="Arial"/>
                        </a:rPr>
                        <a:t>H₂CO</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Formaldehyde, an aldehyde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Weak recall at 1 µg/m³</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CH₃OH</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Methanol, an alcohol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Weak recall at 1 µg/m³</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CH₃CN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Acetonitrile, a nitrile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Strongest low-concentration candidate</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CH₃Cl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Chloromethane, a halogenated gas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Improves at higher concentration</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HCOOH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Formic acid, a carboxylic acid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Largest current 95% concentration limit</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8A5426B1-BA49-47EA-946C-75B0FCB66C95}"/>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Formaldehyde 95% limit</a:t>
            </a:r>
          </a:p>
        </p:txBody>
      </p:sp>
      <p:sp>
        <p:nvSpPr>
          <p:cNvPr id="5" name="">
            <a:extLst xmlns:a="http://schemas.openxmlformats.org/drawingml/2006/main">
              <a:ext uri="{FF2B5EF4-FFF2-40B4-BE49-F238E27FC236}">
                <a16:creationId xmlns:a16="http://schemas.microsoft.com/office/drawing/2014/main" id="{15029625-234A-4F01-BF9A-864C1BCEC80C}"/>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7.846 µg/m³</a:t>
            </a:r>
          </a:p>
        </p:txBody>
      </p:sp>
      <p:sp>
        <p:nvSpPr>
          <p:cNvPr id="6" name="">
            <a:extLst xmlns:a="http://schemas.openxmlformats.org/drawingml/2006/main">
              <a:ext uri="{FF2B5EF4-FFF2-40B4-BE49-F238E27FC236}">
                <a16:creationId xmlns:a16="http://schemas.microsoft.com/office/drawing/2014/main" id="{63BF5522-3651-42BE-B9DD-0D3ADBD7D5C9}"/>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Acetonitrile 95% limit</a:t>
            </a:r>
          </a:p>
        </p:txBody>
      </p:sp>
      <p:sp>
        <p:nvSpPr>
          <p:cNvPr id="7" name="">
            <a:extLst xmlns:a="http://schemas.openxmlformats.org/drawingml/2006/main">
              <a:ext uri="{FF2B5EF4-FFF2-40B4-BE49-F238E27FC236}">
                <a16:creationId xmlns:a16="http://schemas.microsoft.com/office/drawing/2014/main" id="{6CEB1744-D016-41D0-A23C-55B1D92ED691}"/>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0.927 µg/m³</a:t>
            </a:r>
          </a:p>
        </p:txBody>
      </p:sp>
      <p:sp>
        <p:nvSpPr>
          <p:cNvPr id="8" name="">
            <a:extLst xmlns:a="http://schemas.openxmlformats.org/drawingml/2006/main">
              <a:ext uri="{FF2B5EF4-FFF2-40B4-BE49-F238E27FC236}">
                <a16:creationId xmlns:a16="http://schemas.microsoft.com/office/drawing/2014/main" id="{01838E14-1E0F-4C42-ACD7-37EA8C731EC7}"/>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Formic acid 95% limit</a:t>
            </a:r>
          </a:p>
        </p:txBody>
      </p:sp>
      <p:sp>
        <p:nvSpPr>
          <p:cNvPr id="9" name="">
            <a:extLst xmlns:a="http://schemas.openxmlformats.org/drawingml/2006/main">
              <a:ext uri="{FF2B5EF4-FFF2-40B4-BE49-F238E27FC236}">
                <a16:creationId xmlns:a16="http://schemas.microsoft.com/office/drawing/2014/main" id="{F7C6168B-5F47-4206-9931-D6BB57D36A8C}"/>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30.550 µg/m³</a:t>
            </a:r>
          </a:p>
        </p:txBody>
      </p:sp>
      <p:sp>
        <p:nvSpPr>
          <p:cNvPr id="10" name="">
            <a:extLst xmlns:a="http://schemas.openxmlformats.org/drawingml/2006/main">
              <a:ext uri="{FF2B5EF4-FFF2-40B4-BE49-F238E27FC236}">
                <a16:creationId xmlns:a16="http://schemas.microsoft.com/office/drawing/2014/main" id="{B392BB91-9160-405C-81FF-2F46600928B6}"/>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CH₃Br, C₂H₄, CH₃F and CH₃I lack suitable lines in the acquired HITRAN window. This does not prove zero absorption.</a:t>
            </a:r>
          </a:p>
        </p:txBody>
      </p:sp>
      <p:sp>
        <p:nvSpPr>
          <p:cNvPr id="11" name="">
            <a:extLst xmlns:a="http://schemas.openxmlformats.org/drawingml/2006/main">
              <a:ext uri="{FF2B5EF4-FFF2-40B4-BE49-F238E27FC236}">
                <a16:creationId xmlns:a16="http://schemas.microsoft.com/office/drawing/2014/main" id="{8944FDDA-F230-4FE7-A2D7-52571B12C3C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09</a:t>
            </a:r>
          </a:p>
        </p:txBody>
      </p:sp>
    </p:spTree>
    <p:extLst>
      <p:ext uri="{BB962C8B-B14F-4D97-AF65-F5344CB8AC3E}">
        <p14:creationId xmlns:p14="http://schemas.microsoft.com/office/powerpoint/2010/main" val="9901064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6AE5598-7393-4572-83C8-122599741CED}"/>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1.3 · Voigt profiles and slant propagation</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Current elevations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30°, 45°, 60°, 90°</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Numerical tolerance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0.1% RMS</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Gas convergence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0.00381% RMS</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Background convergence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0.00200% RMS</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3D0153B-C976-46C0-8158-1FE00A029C28}"/>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Combined Doppler and pressure broadening at each atmospheric layer.</a:t>
            </a:r>
          </a:p>
        </p:txBody>
      </p:sp>
      <p:sp>
        <p:nvSpPr>
          <p:cNvPr id="4" name="">
            <a:extLst xmlns:a="http://schemas.openxmlformats.org/drawingml/2006/main">
              <a:ext uri="{FF2B5EF4-FFF2-40B4-BE49-F238E27FC236}">
                <a16:creationId xmlns:a16="http://schemas.microsoft.com/office/drawing/2014/main" id="{F4A84BF8-3B29-4C96-A387-CBEC4DAC9E5C}"/>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Integrated along a spherical refracted ray connecting receiver and satellite. Used atmospheric interfaces and numerical quadrature.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fc39ef306f141ad">
            <a:extLst>
              <a:ext uri="{96DAC541-7B7A-43D3-8B79-37D633B846F1}">
                <asvg:svgBlip xmlns:asvg="http://schemas.microsoft.com/office/drawing/2016/SVG/main" r:embed="R227537787c95445f"/>
              </a:ext>
            </a:extLst>
          </a:blip>
          <a:stretch xmlns:a="http://schemas.openxmlformats.org/drawingml/2006/main"/>
        </p:blipFill>
        <p:spPr>
          <a:xfrm xmlns:a="http://schemas.openxmlformats.org/drawingml/2006/main">
            <a:off x="723900" y="3408426"/>
            <a:ext cx="3948440"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15532D0-DBB1-4567-A65D-6492D594A5E2}"/>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A is power attenuation in dB. b is the spherical ray invariant and ζ is the local zenith angle.</a:t>
            </a:r>
          </a:p>
        </p:txBody>
      </p:sp>
      <p:sp>
        <p:nvSpPr>
          <p:cNvPr id="7" name="">
            <a:extLst xmlns:a="http://schemas.openxmlformats.org/drawingml/2006/main">
              <a:ext uri="{FF2B5EF4-FFF2-40B4-BE49-F238E27FC236}">
                <a16:creationId xmlns:a16="http://schemas.microsoft.com/office/drawing/2014/main" id="{2EF090D8-7B8B-4684-B600-9EDF99F76562}"/>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Elevation changes both the optical path and the received SNR.</a:t>
            </a:r>
          </a:p>
        </p:txBody>
      </p:sp>
      <p:sp>
        <p:nvSpPr>
          <p:cNvPr id="8" name="">
            <a:extLst xmlns:a="http://schemas.openxmlformats.org/drawingml/2006/main">
              <a:ext uri="{FF2B5EF4-FFF2-40B4-BE49-F238E27FC236}">
                <a16:creationId xmlns:a16="http://schemas.microsoft.com/office/drawing/2014/main" id="{192BBAF9-8CB1-42D9-A98D-EEE518CA2B20}"/>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secant factor applied after vertical integration cannot represent all refracted path effects.</a:t>
            </a:r>
          </a:p>
        </p:txBody>
      </p:sp>
      <p:sp>
        <p:nvSpPr>
          <p:cNvPr id="9" name="">
            <a:extLst xmlns:a="http://schemas.openxmlformats.org/drawingml/2006/main">
              <a:ext uri="{FF2B5EF4-FFF2-40B4-BE49-F238E27FC236}">
                <a16:creationId xmlns:a16="http://schemas.microsoft.com/office/drawing/2014/main" id="{F0C270DF-F524-4973-9975-D7D8D388D93E}"/>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A345BCBE-C716-43D6-A01F-840AFAF4F052}"/>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gas species, ν: frequency</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A_s and A: power attenuation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n_s: molecular number density (m⁻³)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σ_s: molecular cross section (m²)</a:t>
            </a:r>
          </a:p>
        </p:txBody>
      </p:sp>
      <p:sp>
        <p:nvSpPr>
          <p:cNvPr id="11" name="">
            <a:extLst xmlns:a="http://schemas.openxmlformats.org/drawingml/2006/main">
              <a:ext uri="{FF2B5EF4-FFF2-40B4-BE49-F238E27FC236}">
                <a16:creationId xmlns:a16="http://schemas.microsoft.com/office/drawing/2014/main" id="{21BA8C4B-BFEF-4B9A-84D6-229A59867313}"/>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ds: differential path length along ray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P_in and P_out: input and output power (W)</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ln: natural logarithm</a:t>
            </a:r>
          </a:p>
        </p:txBody>
      </p:sp>
      <p:sp>
        <p:nvSpPr>
          <p:cNvPr id="12" name="">
            <a:extLst xmlns:a="http://schemas.openxmlformats.org/drawingml/2006/main">
              <a:ext uri="{FF2B5EF4-FFF2-40B4-BE49-F238E27FC236}">
                <a16:creationId xmlns:a16="http://schemas.microsoft.com/office/drawing/2014/main" id="{E3F7C276-3485-4804-ADE3-87DFC4A2ABEE}"/>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 conserved spherical ray invariant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n(r): refractive index at radial distance 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distance from Earth’s centre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ζ: local zenith angle</a:t>
            </a:r>
          </a:p>
        </p:txBody>
      </p:sp>
      <p:sp>
        <p:nvSpPr>
          <p:cNvPr id="13" name="">
            <a:extLst xmlns:a="http://schemas.openxmlformats.org/drawingml/2006/main">
              <a:ext uri="{FF2B5EF4-FFF2-40B4-BE49-F238E27FC236}">
                <a16:creationId xmlns:a16="http://schemas.microsoft.com/office/drawing/2014/main" id="{92E9E6EB-0D7F-4F30-A321-0FEA971E5A91}"/>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10</a:t>
            </a:r>
          </a:p>
        </p:txBody>
      </p:sp>
    </p:spTree>
    <p:extLst>
      <p:ext uri="{BB962C8B-B14F-4D97-AF65-F5344CB8AC3E}">
        <p14:creationId xmlns:p14="http://schemas.microsoft.com/office/powerpoint/2010/main" val="2574384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0C27EA4-4CF3-4F23-B8C0-C66963B2C57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1.3 · Numerical convergence and thermal correction</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4761158"/>
                <a:gridCol w="2868903"/>
                <a:gridCol w="6238338"/>
              </a:tblGrid>
              <a:tr h="385318">
                <a:tc>
                  <a:txBody>
                    <a:bodyPr/>
                    <a:lstStyle/>
                    <a:p>
                      <a:r>
                        <a:rPr sz="1599" b="1">
                          <a:solidFill>
                            <a:srgbClr val="FFFFFF"/>
                          </a:solidFill>
                          <a:latin typeface="Arial"/>
                          <a:ea typeface="Arial"/>
                          <a:cs typeface="Arial"/>
                        </a:rPr>
                        <a:t>Quantity</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Relative RMS difference</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Interpretation</a:t>
                      </a:r>
                    </a:p>
                  </a:txBody>
                  <a:tcPr marL="114300" marR="114300" marT="57150" marB="57150" anchor="ctr">
                    <a:solidFill>
                      <a:srgbClr val="153246"/>
                    </a:solidFill>
                  </a:tcPr>
                </a:tc>
              </a:tr>
              <a:tr h="385318">
                <a:tc>
                  <a:txBody>
                    <a:bodyPr/>
                    <a:lstStyle/>
                    <a:p>
                      <a:r>
                        <a:rPr sz="1599" b="0">
                          <a:solidFill>
                            <a:srgbClr val="153246"/>
                          </a:solidFill>
                          <a:latin typeface="Arial"/>
                          <a:ea typeface="Arial"/>
                          <a:cs typeface="Arial"/>
                        </a:rPr>
                        <a:t>Gas integration</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0.00381%</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Below the declared 0.1% numerical tolerance</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PM integration</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0.0225%</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Below the declared tolerance</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Atmospheric background</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0.00200%</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Below the declared tolerance</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Thermal calculation, initial</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0.11596%</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Failed and triggered refinement</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Thermal calculation, refined</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0.00319%</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Passed without relaxing the tolerance</a:t>
                      </a:r>
                    </a:p>
                  </a:txBody>
                  <a:tcPr marL="114300" marR="114300" marT="57150" marB="57150" anchor="ctr">
                    <a:solidFill>
                      <a:srgbClr val="F0F5F7"/>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bfe73588e7f4ea1">
            <a:extLst>
              <a:ext uri="{96DAC541-7B7A-43D3-8B79-37D633B846F1}">
                <asvg:svgBlip xmlns:asvg="http://schemas.microsoft.com/office/drawing/2016/SVG/main" r:embed="R1b2ec501f4e64b26"/>
              </a:ext>
            </a:extLst>
          </a:blip>
          <a:stretch xmlns:a="http://schemas.openxmlformats.org/drawingml/2006/main"/>
        </p:blipFill>
        <p:spPr>
          <a:xfrm xmlns:a="http://schemas.openxmlformats.org/drawingml/2006/main">
            <a:off x="781050" y="4220718"/>
            <a:ext cx="5051327"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BCB21BF-5310-4A4C-85E5-91491D806925}"/>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Layer emission contributes receiver noise as well as attenuation.</a:t>
            </a:r>
          </a:p>
        </p:txBody>
      </p:sp>
      <p:sp>
        <p:nvSpPr>
          <p:cNvPr id="5" name="">
            <a:extLst xmlns:a="http://schemas.openxmlformats.org/drawingml/2006/main">
              <a:ext uri="{FF2B5EF4-FFF2-40B4-BE49-F238E27FC236}">
                <a16:creationId xmlns:a16="http://schemas.microsoft.com/office/drawing/2014/main" id="{837296F0-3F4A-43E4-A35D-450E610E7D3F}"/>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Lower-atmosphere refinement</a:t>
            </a:r>
          </a:p>
        </p:txBody>
      </p:sp>
      <p:sp>
        <p:nvSpPr>
          <p:cNvPr id="6" name="">
            <a:extLst xmlns:a="http://schemas.openxmlformats.org/drawingml/2006/main">
              <a:ext uri="{FF2B5EF4-FFF2-40B4-BE49-F238E27FC236}">
                <a16:creationId xmlns:a16="http://schemas.microsoft.com/office/drawing/2014/main" id="{111F6C64-F905-4DF7-974B-1C2740B0AB0B}"/>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100 m steps</a:t>
            </a:r>
          </a:p>
        </p:txBody>
      </p:sp>
      <p:sp>
        <p:nvSpPr>
          <p:cNvPr id="7" name="">
            <a:extLst xmlns:a="http://schemas.openxmlformats.org/drawingml/2006/main">
              <a:ext uri="{FF2B5EF4-FFF2-40B4-BE49-F238E27FC236}">
                <a16:creationId xmlns:a16="http://schemas.microsoft.com/office/drawing/2014/main" id="{4ACB209C-99A1-45A2-ACB4-4EEF4E9E2A5A}"/>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Above 20 km</a:t>
            </a:r>
          </a:p>
        </p:txBody>
      </p:sp>
      <p:sp>
        <p:nvSpPr>
          <p:cNvPr id="8" name="">
            <a:extLst xmlns:a="http://schemas.openxmlformats.org/drawingml/2006/main">
              <a:ext uri="{FF2B5EF4-FFF2-40B4-BE49-F238E27FC236}">
                <a16:creationId xmlns:a16="http://schemas.microsoft.com/office/drawing/2014/main" id="{BEA8D210-087F-4DA2-95CB-FF3927242CD7}"/>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500 m steps</a:t>
            </a:r>
          </a:p>
        </p:txBody>
      </p:sp>
      <p:sp>
        <p:nvSpPr>
          <p:cNvPr id="9" name="">
            <a:extLst xmlns:a="http://schemas.openxmlformats.org/drawingml/2006/main">
              <a:ext uri="{FF2B5EF4-FFF2-40B4-BE49-F238E27FC236}">
                <a16:creationId xmlns:a16="http://schemas.microsoft.com/office/drawing/2014/main" id="{63E33665-573D-4C84-AACE-8753766F8E24}"/>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Separate September check</a:t>
            </a:r>
          </a:p>
        </p:txBody>
      </p:sp>
      <p:sp>
        <p:nvSpPr>
          <p:cNvPr id="10" name="">
            <a:extLst xmlns:a="http://schemas.openxmlformats.org/drawingml/2006/main">
              <a:ext uri="{FF2B5EF4-FFF2-40B4-BE49-F238E27FC236}">
                <a16:creationId xmlns:a16="http://schemas.microsoft.com/office/drawing/2014/main" id="{6D09502B-B004-4DAE-B6D9-B1DFEA4BF456}"/>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0.05304% RMS</a:t>
            </a:r>
          </a:p>
        </p:txBody>
      </p:sp>
      <p:sp>
        <p:nvSpPr>
          <p:cNvPr id="11" name="">
            <a:extLst xmlns:a="http://schemas.openxmlformats.org/drawingml/2006/main">
              <a:ext uri="{FF2B5EF4-FFF2-40B4-BE49-F238E27FC236}">
                <a16:creationId xmlns:a16="http://schemas.microsoft.com/office/drawing/2014/main" id="{598D1303-164E-49D9-8848-5A9E32DEF031}"/>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These are numerical checks on the tested grid. They do not measure atmospheric model error.</a:t>
            </a:r>
          </a:p>
        </p:txBody>
      </p:sp>
      <p:sp>
        <p:nvSpPr>
          <p:cNvPr id="12" name="">
            <a:extLst xmlns:a="http://schemas.openxmlformats.org/drawingml/2006/main">
              <a:ext uri="{FF2B5EF4-FFF2-40B4-BE49-F238E27FC236}">
                <a16:creationId xmlns:a16="http://schemas.microsoft.com/office/drawing/2014/main" id="{948E73D0-9A33-4688-9907-1B53E6D37C17}"/>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41CF8CCA-93D9-41D2-B01A-CD61F12BE6D9}"/>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T_sky: equivalent sky noise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 frequency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T_i: physical temperature of layer i (K)</a:t>
            </a:r>
          </a:p>
        </p:txBody>
      </p:sp>
      <p:sp>
        <p:nvSpPr>
          <p:cNvPr id="14" name="">
            <a:extLst xmlns:a="http://schemas.openxmlformats.org/drawingml/2006/main">
              <a:ext uri="{FF2B5EF4-FFF2-40B4-BE49-F238E27FC236}">
                <a16:creationId xmlns:a16="http://schemas.microsoft.com/office/drawing/2014/main" id="{3DFEBBEF-AF5F-42C7-87D8-72B39A568533}"/>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J_ν(T): Planck brightness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τ_i: dimensionless optical depth of layer i</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 emitting layer, j: intervening layer</a:t>
            </a:r>
          </a:p>
        </p:txBody>
      </p:sp>
      <p:sp>
        <p:nvSpPr>
          <p:cNvPr id="15" name="">
            <a:extLst xmlns:a="http://schemas.openxmlformats.org/drawingml/2006/main">
              <a:ext uri="{FF2B5EF4-FFF2-40B4-BE49-F238E27FC236}">
                <a16:creationId xmlns:a16="http://schemas.microsoft.com/office/drawing/2014/main" id="{47793E1F-4E59-44FE-99B4-2D3939DBEDF0}"/>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 &lt; i: layers between layer i and receiver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T_space: space background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exp(−τ): power transmission through a layer</a:t>
            </a:r>
          </a:p>
        </p:txBody>
      </p:sp>
      <p:sp>
        <p:nvSpPr>
          <p:cNvPr id="16" name="">
            <a:extLst xmlns:a="http://schemas.openxmlformats.org/drawingml/2006/main">
              <a:ext uri="{FF2B5EF4-FFF2-40B4-BE49-F238E27FC236}">
                <a16:creationId xmlns:a16="http://schemas.microsoft.com/office/drawing/2014/main" id="{450EDA3D-454D-4362-8C8A-E5E107F04DD9}"/>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11</a:t>
            </a:r>
          </a:p>
        </p:txBody>
      </p:sp>
    </p:spTree>
    <p:extLst>
      <p:ext uri="{BB962C8B-B14F-4D97-AF65-F5344CB8AC3E}">
        <p14:creationId xmlns:p14="http://schemas.microsoft.com/office/powerpoint/2010/main" val="7683763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505B77C-DD29-4670-8B37-29ABD0F4F524}"/>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1.4 · Rayleigh and Mie particle models</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Fine density</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1,500 kg/m³</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Coarse density</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1,800 kg/m³</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Fine index</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1.5 + 0.01i</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Coarse index</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1.53 + 0.01i</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11CF937-C9DE-49CF-B9F1-762F4A24832F}"/>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Integrated spherical Mie extinction over truncated lognormal particle size distributions and normalized it by dry mass.</a:t>
            </a:r>
          </a:p>
        </p:txBody>
      </p:sp>
      <p:sp>
        <p:nvSpPr>
          <p:cNvPr id="4" name="">
            <a:extLst xmlns:a="http://schemas.openxmlformats.org/drawingml/2006/main">
              <a:ext uri="{FF2B5EF4-FFF2-40B4-BE49-F238E27FC236}">
                <a16:creationId xmlns:a16="http://schemas.microsoft.com/office/drawing/2014/main" id="{DD832083-A851-4E42-8843-553E81E10815}"/>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Converted aerodynamic size cuts to physical particle dimensions using the assumed density and shape model.</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53e2105ca614cbd">
            <a:extLst>
              <a:ext uri="{96DAC541-7B7A-43D3-8B79-37D633B846F1}">
                <asvg:svgBlip xmlns:asvg="http://schemas.microsoft.com/office/drawing/2016/SVG/main" r:embed="Rc65b403a0b3a4919"/>
              </a:ext>
            </a:extLst>
          </a:blip>
          <a:stretch xmlns:a="http://schemas.openxmlformats.org/drawingml/2006/main"/>
        </p:blipFill>
        <p:spPr>
          <a:xfrm xmlns:a="http://schemas.openxmlformats.org/drawingml/2006/main">
            <a:off x="723900" y="3408426"/>
            <a:ext cx="3592521"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A4C1926-EA18-4A54-BC41-F7AF72435F75}"/>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q = (m² − 1)/(m² + 2). k is wave number, m complex refractive index, ρ density and r sphere radius.</a:t>
            </a:r>
          </a:p>
        </p:txBody>
      </p:sp>
      <p:sp>
        <p:nvSpPr>
          <p:cNvPr id="7" name="">
            <a:extLst xmlns:a="http://schemas.openxmlformats.org/drawingml/2006/main">
              <a:ext uri="{FF2B5EF4-FFF2-40B4-BE49-F238E27FC236}">
                <a16:creationId xmlns:a16="http://schemas.microsoft.com/office/drawing/2014/main" id="{A41AE15E-A951-4910-9F14-90D4989818F8}"/>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Rayleigh and full Mie agree closely in this particle-size and frequency regime.</a:t>
            </a:r>
          </a:p>
        </p:txBody>
      </p:sp>
      <p:sp>
        <p:nvSpPr>
          <p:cNvPr id="8" name="">
            <a:extLst xmlns:a="http://schemas.openxmlformats.org/drawingml/2006/main">
              <a:ext uri="{FF2B5EF4-FFF2-40B4-BE49-F238E27FC236}">
                <a16:creationId xmlns:a16="http://schemas.microsoft.com/office/drawing/2014/main" id="{76D12E28-8AB2-4371-BF66-EF22E4317214}"/>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Material refractive index, shape, composition and humidity response remain assumptions.</a:t>
            </a:r>
          </a:p>
        </p:txBody>
      </p:sp>
      <p:sp>
        <p:nvSpPr>
          <p:cNvPr id="9" name="">
            <a:extLst xmlns:a="http://schemas.openxmlformats.org/drawingml/2006/main">
              <a:ext uri="{FF2B5EF4-FFF2-40B4-BE49-F238E27FC236}">
                <a16:creationId xmlns:a16="http://schemas.microsoft.com/office/drawing/2014/main" id="{F7FCA920-8976-4B1E-9139-4DE1D67AB269}"/>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8896C22A-D2F2-466E-8310-2B819943F7B4}"/>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κ_ext, κ_abs, κ_sca: mass coefficients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Extinction, absorption, scattering (m²/kg)</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C_ext(r): particle extinction cross section (m²)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p(r): particle number distribution in radius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physical particle radius (m)</a:t>
            </a:r>
          </a:p>
        </p:txBody>
      </p:sp>
      <p:sp>
        <p:nvSpPr>
          <p:cNvPr id="11" name="">
            <a:extLst xmlns:a="http://schemas.openxmlformats.org/drawingml/2006/main">
              <a:ext uri="{FF2B5EF4-FFF2-40B4-BE49-F238E27FC236}">
                <a16:creationId xmlns:a16="http://schemas.microsoft.com/office/drawing/2014/main" id="{03433A4A-AA1F-4F16-A580-6782F79438D5}"/>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ρ: particle material density (kg/m³)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 2π/λ: electromagnetic wavenumber (m⁻¹)</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λ: wavelength in the surrounding medium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q = (m² − 1)/(m² + 2): contrast factor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 complex relative refractive index</a:t>
            </a:r>
          </a:p>
        </p:txBody>
      </p:sp>
      <p:sp>
        <p:nvSpPr>
          <p:cNvPr id="12" name="">
            <a:extLst xmlns:a="http://schemas.openxmlformats.org/drawingml/2006/main">
              <a:ext uri="{FF2B5EF4-FFF2-40B4-BE49-F238E27FC236}">
                <a16:creationId xmlns:a16="http://schemas.microsoft.com/office/drawing/2014/main" id="{E5CDC66C-ACE1-4D71-A2DB-008C8AE26587}"/>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Im(q): imaginary part of q</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|q|²: squared complex magnitude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dr: radius integration element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Rayleigh approximation for small particles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two final terms describe one radius r</a:t>
            </a:r>
          </a:p>
        </p:txBody>
      </p:sp>
      <p:sp>
        <p:nvSpPr>
          <p:cNvPr id="13" name="">
            <a:extLst xmlns:a="http://schemas.openxmlformats.org/drawingml/2006/main">
              <a:ext uri="{FF2B5EF4-FFF2-40B4-BE49-F238E27FC236}">
                <a16:creationId xmlns:a16="http://schemas.microsoft.com/office/drawing/2014/main" id="{8D58EBD4-4D33-4D6F-8BB5-32672575C2E0}"/>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12</a:t>
            </a:r>
          </a:p>
        </p:txBody>
      </p:sp>
    </p:spTree>
    <p:extLst>
      <p:ext uri="{BB962C8B-B14F-4D97-AF65-F5344CB8AC3E}">
        <p14:creationId xmlns:p14="http://schemas.microsoft.com/office/powerpoint/2010/main" val="9406764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55658BE-31D1-4688-AC99-7BAD1918437D}"/>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1.4 · PM definitions and the negative result</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2258498"/>
                <a:gridCol w="5310523"/>
                <a:gridCol w="6299379"/>
              </a:tblGrid>
              <a:tr h="462382">
                <a:tc>
                  <a:txBody>
                    <a:bodyPr/>
                    <a:lstStyle/>
                    <a:p>
                      <a:r>
                        <a:rPr sz="1599" b="1">
                          <a:solidFill>
                            <a:srgbClr val="FFFFFF"/>
                          </a:solidFill>
                          <a:latin typeface="Arial"/>
                          <a:ea typeface="Arial"/>
                          <a:cs typeface="Arial"/>
                        </a:rPr>
                        <a:t>Output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Mass represented</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Current result</a:t>
                      </a:r>
                    </a:p>
                  </a:txBody>
                  <a:tcPr marL="114300" marR="114300" marT="57150" marB="57150" anchor="ctr">
                    <a:solidFill>
                      <a:srgbClr val="153246"/>
                    </a:solidFill>
                  </a:tcPr>
                </a:tc>
              </a:tr>
              <a:tr h="462382">
                <a:tc>
                  <a:txBody>
                    <a:bodyPr/>
                    <a:lstStyle/>
                    <a:p>
                      <a:r>
                        <a:rPr sz="1599" b="0">
                          <a:solidFill>
                            <a:srgbClr val="153246"/>
                          </a:solidFill>
                          <a:latin typeface="Arial"/>
                          <a:ea typeface="Arial"/>
                          <a:cs typeface="Arial"/>
                        </a:rPr>
                        <a:t>PM1</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Below 1 µm aerodynamic diameter</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Exploratory extra split fails numerical separation</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PM2.5</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Fine mass below 2.5 µm</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No useful mass retrieval in the tested grid</a:t>
                      </a:r>
                    </a:p>
                  </a:txBody>
                  <a:tcPr marL="114300" marR="114300" marT="57150" marB="57150" anchor="ctr">
                    <a:solidFill>
                      <a:srgbClr val="FFFFFF"/>
                    </a:solidFill>
                  </a:tcPr>
                </a:tc>
              </a:tr>
              <a:tr h="462382">
                <a:tc>
                  <a:txBody>
                    <a:bodyPr/>
                    <a:lstStyle/>
                    <a:p>
                      <a:r>
                        <a:rPr sz="1599" b="0">
                          <a:solidFill>
                            <a:srgbClr val="153246"/>
                          </a:solidFill>
                          <a:latin typeface="Arial"/>
                          <a:ea typeface="Arial"/>
                          <a:cs typeface="Arial"/>
                        </a:rPr>
                        <a:t>Coarse PM</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Disjoint 2.5–10 µm mass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Nearly collinear with the fine-mode signature</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PM10</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Fine plus coarse mass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Includes their covariance, no valid 95% limit</a:t>
                      </a:r>
                    </a:p>
                  </a:txBody>
                  <a:tcPr marL="114300" marR="114300" marT="57150" marB="57150" anchor="ctr">
                    <a:solidFill>
                      <a:srgbClr val="FFFFFF"/>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5f05e61af2b479b">
            <a:extLst>
              <a:ext uri="{96DAC541-7B7A-43D3-8B79-37D633B846F1}">
                <asvg:svgBlip xmlns:asvg="http://schemas.microsoft.com/office/drawing/2016/SVG/main" r:embed="R83bdb33bc1604e74"/>
              </a:ext>
            </a:extLst>
          </a:blip>
          <a:stretch xmlns:a="http://schemas.openxmlformats.org/drawingml/2006/main"/>
        </p:blipFill>
        <p:spPr>
          <a:xfrm xmlns:a="http://schemas.openxmlformats.org/drawingml/2006/main">
            <a:off x="781050" y="4279111"/>
            <a:ext cx="8362512" cy="72674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727F26A-3CE8-4FD5-944B-EA82171743CF}"/>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fine model truncates below 0.03 µm. PM10 includes PM2.5, so they are not disjoint particle populations.</a:t>
            </a:r>
          </a:p>
        </p:txBody>
      </p:sp>
      <p:sp>
        <p:nvSpPr>
          <p:cNvPr id="5" name="">
            <a:extLst xmlns:a="http://schemas.openxmlformats.org/drawingml/2006/main">
              <a:ext uri="{FF2B5EF4-FFF2-40B4-BE49-F238E27FC236}">
                <a16:creationId xmlns:a16="http://schemas.microsoft.com/office/drawing/2014/main" id="{3419822F-91B6-4467-B2DA-759BA525822E}"/>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Fine Rayleigh/Mie difference</a:t>
            </a:r>
          </a:p>
        </p:txBody>
      </p:sp>
      <p:sp>
        <p:nvSpPr>
          <p:cNvPr id="6" name="">
            <a:extLst xmlns:a="http://schemas.openxmlformats.org/drawingml/2006/main">
              <a:ext uri="{FF2B5EF4-FFF2-40B4-BE49-F238E27FC236}">
                <a16:creationId xmlns:a16="http://schemas.microsoft.com/office/drawing/2014/main" id="{A3D0E574-8D93-4632-9FEC-E12B8F7B5B8D}"/>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0.00086% RMS</a:t>
            </a:r>
          </a:p>
        </p:txBody>
      </p:sp>
      <p:sp>
        <p:nvSpPr>
          <p:cNvPr id="7" name="">
            <a:extLst xmlns:a="http://schemas.openxmlformats.org/drawingml/2006/main">
              <a:ext uri="{FF2B5EF4-FFF2-40B4-BE49-F238E27FC236}">
                <a16:creationId xmlns:a16="http://schemas.microsoft.com/office/drawing/2014/main" id="{2A5D1E56-D3FA-455D-88D9-6871CA646E9B}"/>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Coarse difference</a:t>
            </a:r>
          </a:p>
        </p:txBody>
      </p:sp>
      <p:sp>
        <p:nvSpPr>
          <p:cNvPr id="8" name="">
            <a:extLst xmlns:a="http://schemas.openxmlformats.org/drawingml/2006/main">
              <a:ext uri="{FF2B5EF4-FFF2-40B4-BE49-F238E27FC236}">
                <a16:creationId xmlns:a16="http://schemas.microsoft.com/office/drawing/2014/main" id="{554EDAD9-71EB-41AF-A645-7BE66B5560CF}"/>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0.0201% RMS</a:t>
            </a:r>
          </a:p>
        </p:txBody>
      </p:sp>
      <p:sp>
        <p:nvSpPr>
          <p:cNvPr id="9" name="">
            <a:extLst xmlns:a="http://schemas.openxmlformats.org/drawingml/2006/main">
              <a:ext uri="{FF2B5EF4-FFF2-40B4-BE49-F238E27FC236}">
                <a16:creationId xmlns:a16="http://schemas.microsoft.com/office/drawing/2014/main" id="{7A4A5775-2291-407D-950B-22D0EB3C2AE4}"/>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Three-bin inverse identity error</a:t>
            </a:r>
          </a:p>
        </p:txBody>
      </p:sp>
      <p:sp>
        <p:nvSpPr>
          <p:cNvPr id="10" name="">
            <a:extLst xmlns:a="http://schemas.openxmlformats.org/drawingml/2006/main">
              <a:ext uri="{FF2B5EF4-FFF2-40B4-BE49-F238E27FC236}">
                <a16:creationId xmlns:a16="http://schemas.microsoft.com/office/drawing/2014/main" id="{2A4622A6-27EA-4582-AB31-F97D45F68815}"/>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0.508, rejected</a:t>
            </a:r>
          </a:p>
        </p:txBody>
      </p:sp>
      <p:sp>
        <p:nvSpPr>
          <p:cNvPr id="11" name="">
            <a:extLst xmlns:a="http://schemas.openxmlformats.org/drawingml/2006/main">
              <a:ext uri="{FF2B5EF4-FFF2-40B4-BE49-F238E27FC236}">
                <a16:creationId xmlns:a16="http://schemas.microsoft.com/office/drawing/2014/main" id="{9B362397-5AF6-47E9-8EF8-1BC5DCF10C17}"/>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gain slope removes much of smooth Rayleigh absorption. Shared scattering shapes leave extremely weak size information.</a:t>
            </a:r>
          </a:p>
        </p:txBody>
      </p:sp>
      <p:sp>
        <p:nvSpPr>
          <p:cNvPr id="12" name="">
            <a:extLst xmlns:a="http://schemas.openxmlformats.org/drawingml/2006/main">
              <a:ext uri="{FF2B5EF4-FFF2-40B4-BE49-F238E27FC236}">
                <a16:creationId xmlns:a16="http://schemas.microsoft.com/office/drawing/2014/main" id="{D8768196-C84C-4C9A-AB55-AD59B818F3E9}"/>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91995AF7-219A-46BF-B277-734E48737ACD}"/>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PM₁₀: total fine plus coarse mass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c_fine: modeled PM2.5 mass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c_coarse: modeled 2.5–10 µm mass (µg/m³)</a:t>
            </a:r>
          </a:p>
        </p:txBody>
      </p:sp>
      <p:sp>
        <p:nvSpPr>
          <p:cNvPr id="14" name="">
            <a:extLst xmlns:a="http://schemas.openxmlformats.org/drawingml/2006/main">
              <a:ext uri="{FF2B5EF4-FFF2-40B4-BE49-F238E27FC236}">
                <a16:creationId xmlns:a16="http://schemas.microsoft.com/office/drawing/2014/main" id="{7926F98B-2414-48BF-ACF7-F6EBD27E3F6F}"/>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Var: variance of a concentration estimate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Cov: covariance between the two estimates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All variance terms have units (µg/m³)²</a:t>
            </a:r>
          </a:p>
        </p:txBody>
      </p:sp>
      <p:sp>
        <p:nvSpPr>
          <p:cNvPr id="15" name="">
            <a:extLst xmlns:a="http://schemas.openxmlformats.org/drawingml/2006/main">
              <a:ext uri="{FF2B5EF4-FFF2-40B4-BE49-F238E27FC236}">
                <a16:creationId xmlns:a16="http://schemas.microsoft.com/office/drawing/2014/main" id="{FE495C4C-A95D-4240-A12C-CED61A904BB4}"/>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Fine and coarse bins are disjoint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PM₁₀ = c_fine + c_coarse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Their covariance must enter the total error</a:t>
            </a:r>
          </a:p>
        </p:txBody>
      </p:sp>
      <p:sp>
        <p:nvSpPr>
          <p:cNvPr id="16" name="">
            <a:extLst xmlns:a="http://schemas.openxmlformats.org/drawingml/2006/main">
              <a:ext uri="{FF2B5EF4-FFF2-40B4-BE49-F238E27FC236}">
                <a16:creationId xmlns:a16="http://schemas.microsoft.com/office/drawing/2014/main" id="{21DF1775-21C6-4768-AB93-80877D229B21}"/>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13</a:t>
            </a:r>
          </a:p>
        </p:txBody>
      </p:sp>
    </p:spTree>
    <p:extLst>
      <p:ext uri="{BB962C8B-B14F-4D97-AF65-F5344CB8AC3E}">
        <p14:creationId xmlns:p14="http://schemas.microsoft.com/office/powerpoint/2010/main" val="21180517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EB04EB6-7722-445D-93B2-FA3AAB627F98}"/>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2.1 · Link budget and sequential receiver</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Power / noise figure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23 dBm / 6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Implementation loss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5 dB</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Instantaneous bandwidth</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16 MHz</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Settling per hop</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 ms</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6ACFABC-65DE-41E6-AE57-BEB4B725F9BA}"/>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Specified a 550 km downlink, 23 dBm active transmit power, 0.50 / 0.30 m apertures and a nominal 6 dB noise figure.</a:t>
            </a:r>
          </a:p>
        </p:txBody>
      </p:sp>
      <p:sp>
        <p:nvSpPr>
          <p:cNvPr id="4" name="">
            <a:extLst xmlns:a="http://schemas.openxmlformats.org/drawingml/2006/main">
              <a:ext uri="{FF2B5EF4-FFF2-40B4-BE49-F238E27FC236}">
                <a16:creationId xmlns:a16="http://schemas.microsoft.com/office/drawing/2014/main" id="{A0C41C04-1FEB-4B91-8108-F14CC7657940}"/>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Replaced the ideal simultaneous broad reference with one RF chain hopping across sixteen 16 MHz blocks within 220–330 GHz.</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cb74b86221a4626">
            <a:extLst>
              <a:ext uri="{96DAC541-7B7A-43D3-8B79-37D633B846F1}">
                <asvg:svgBlip xmlns:asvg="http://schemas.microsoft.com/office/drawing/2016/SVG/main" r:embed="Rdfc9d462fb3c4271"/>
              </a:ext>
            </a:extLst>
          </a:blip>
          <a:stretch xmlns:a="http://schemas.openxmlformats.org/drawingml/2006/main"/>
        </p:blipFill>
        <p:spPr>
          <a:xfrm xmlns:a="http://schemas.openxmlformats.org/drawingml/2006/main">
            <a:off x="723900" y="3408426"/>
            <a:ext cx="4568190"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55A7D9B-3876-45B5-BB63-809B88DB294E}"/>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R is range, F the linear noise factor and Limpl the linear implementation loss. Receiver noise figure enters once.</a:t>
            </a:r>
          </a:p>
        </p:txBody>
      </p:sp>
      <p:sp>
        <p:nvSpPr>
          <p:cNvPr id="7" name="">
            <a:extLst xmlns:a="http://schemas.openxmlformats.org/drawingml/2006/main">
              <a:ext uri="{FF2B5EF4-FFF2-40B4-BE49-F238E27FC236}">
                <a16:creationId xmlns:a16="http://schemas.microsoft.com/office/drawing/2014/main" id="{A37B7EEC-1D8C-4A7E-B55C-E825AC7D7FD2}"/>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Each block has sixteen 1 MHz tones. CP, pilots, full frames, reference time and retuning all consume the time budget.</a:t>
            </a:r>
          </a:p>
        </p:txBody>
      </p:sp>
      <p:sp>
        <p:nvSpPr>
          <p:cNvPr id="8" name="">
            <a:extLst xmlns:a="http://schemas.openxmlformats.org/drawingml/2006/main">
              <a:ext uri="{FF2B5EF4-FFF2-40B4-BE49-F238E27FC236}">
                <a16:creationId xmlns:a16="http://schemas.microsoft.com/office/drawing/2014/main" id="{30517B12-2DA8-4119-A0EC-29E04D42832E}"/>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23 dBm across the selected bands and 6 dB receiver noise are unverified RF requirements.</a:t>
            </a:r>
          </a:p>
        </p:txBody>
      </p:sp>
      <p:sp>
        <p:nvSpPr>
          <p:cNvPr id="9" name="">
            <a:extLst xmlns:a="http://schemas.openxmlformats.org/drawingml/2006/main">
              <a:ext uri="{FF2B5EF4-FFF2-40B4-BE49-F238E27FC236}">
                <a16:creationId xmlns:a16="http://schemas.microsoft.com/office/drawing/2014/main" id="{FFA46B7E-8565-4867-BCE9-B484404EB7D0}"/>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6C12ED1C-2F7F-4A42-8461-FAC827DDA1DF}"/>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 frequency (Hz), λ: wavelength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P_t, P_r: transmit and received power (W)</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G_t, G_r: antenna power gains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L_impl: implementation loss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propagation distance (m)</a:t>
            </a:r>
          </a:p>
        </p:txBody>
      </p:sp>
      <p:sp>
        <p:nvSpPr>
          <p:cNvPr id="11" name="">
            <a:extLst xmlns:a="http://schemas.openxmlformats.org/drawingml/2006/main">
              <a:ext uri="{FF2B5EF4-FFF2-40B4-BE49-F238E27FC236}">
                <a16:creationId xmlns:a16="http://schemas.microsoft.com/office/drawing/2014/main" id="{2A1F7A34-3637-40E0-90F4-2748DD1B3388}"/>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A(ν): atmospheric attenuation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SNR: signal to noise power ratio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Boltzmann constant (J/K)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 receiver noise bandwidth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T_sky: sky noise temperature (K)</a:t>
            </a:r>
          </a:p>
        </p:txBody>
      </p:sp>
      <p:sp>
        <p:nvSpPr>
          <p:cNvPr id="12" name="">
            <a:extLst xmlns:a="http://schemas.openxmlformats.org/drawingml/2006/main">
              <a:ext uri="{FF2B5EF4-FFF2-40B4-BE49-F238E27FC236}">
                <a16:creationId xmlns:a16="http://schemas.microsoft.com/office/drawing/2014/main" id="{B1886822-9821-482D-80F1-CC8CB15504C3}"/>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T₀: receiver noise reference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 receiver noise factor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 = 10^(noise figure in dB / 10)</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T₀(F − 1): receiver noise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Gains and losses must be converted from dB</a:t>
            </a:r>
          </a:p>
        </p:txBody>
      </p:sp>
      <p:sp>
        <p:nvSpPr>
          <p:cNvPr id="13" name="">
            <a:extLst xmlns:a="http://schemas.openxmlformats.org/drawingml/2006/main">
              <a:ext uri="{FF2B5EF4-FFF2-40B4-BE49-F238E27FC236}">
                <a16:creationId xmlns:a16="http://schemas.microsoft.com/office/drawing/2014/main" id="{951DB0EA-106E-4BD5-BAD2-B83250BFC236}"/>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14</a:t>
            </a:r>
          </a:p>
        </p:txBody>
      </p:sp>
    </p:spTree>
    <p:extLst>
      <p:ext uri="{BB962C8B-B14F-4D97-AF65-F5344CB8AC3E}">
        <p14:creationId xmlns:p14="http://schemas.microsoft.com/office/powerpoint/2010/main" val="63839251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CF75BF5-3D57-439F-BAAE-859D208AE0CD}"/>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2.1 · Resources and communication cost</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7569021"/>
                <a:gridCol w="6299379"/>
              </a:tblGrid>
              <a:tr h="330273">
                <a:tc>
                  <a:txBody>
                    <a:bodyPr/>
                    <a:lstStyle/>
                    <a:p>
                      <a:r>
                        <a:rPr sz="1599" b="1">
                          <a:solidFill>
                            <a:srgbClr val="FFFFFF"/>
                          </a:solidFill>
                          <a:latin typeface="Arial"/>
                          <a:ea typeface="Arial"/>
                          <a:cs typeface="Arial"/>
                        </a:rPr>
                        <a:t>Quantity</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Current result</a:t>
                      </a:r>
                    </a:p>
                  </a:txBody>
                  <a:tcPr marL="114300" marR="114300" marT="57150" marB="57150" anchor="ctr">
                    <a:solidFill>
                      <a:srgbClr val="153246"/>
                    </a:solidFill>
                  </a:tcPr>
                </a:tc>
              </a:tr>
              <a:tr h="330273">
                <a:tc>
                  <a:txBody>
                    <a:bodyPr/>
                    <a:lstStyle/>
                    <a:p>
                      <a:r>
                        <a:rPr sz="1599" b="0">
                          <a:solidFill>
                            <a:srgbClr val="153246"/>
                          </a:solidFill>
                          <a:latin typeface="Arial"/>
                          <a:ea typeface="Arial"/>
                          <a:cs typeface="Arial"/>
                        </a:rPr>
                        <a:t>Total reference + sample time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20 s, split equally</a:t>
                      </a:r>
                    </a:p>
                  </a:txBody>
                  <a:tcPr marL="114300" marR="114300" marT="57150" marB="57150" anchor="ctr">
                    <a:solidFill>
                      <a:srgbClr val="F0F5F7"/>
                    </a:solidFill>
                  </a:tcPr>
                </a:tc>
              </a:tr>
              <a:tr h="330273">
                <a:tc>
                  <a:txBody>
                    <a:bodyPr/>
                    <a:lstStyle/>
                    <a:p>
                      <a:r>
                        <a:rPr sz="1599" b="0">
                          <a:solidFill>
                            <a:srgbClr val="153246"/>
                          </a:solidFill>
                          <a:latin typeface="Arial"/>
                          <a:ea typeface="Arial"/>
                          <a:cs typeface="Arial"/>
                        </a:rPr>
                        <a:t>Actual frame transmission / retuning</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19.72 s / 0.032 s</a:t>
                      </a:r>
                    </a:p>
                  </a:txBody>
                  <a:tcPr marL="114300" marR="114300" marT="57150" marB="57150" anchor="ctr">
                    <a:solidFill>
                      <a:srgbClr val="FFFFFF"/>
                    </a:solidFill>
                  </a:tcPr>
                </a:tc>
              </a:tr>
              <a:tr h="330273">
                <a:tc>
                  <a:txBody>
                    <a:bodyPr/>
                    <a:lstStyle/>
                    <a:p>
                      <a:r>
                        <a:rPr sz="1599" b="0">
                          <a:solidFill>
                            <a:srgbClr val="153246"/>
                          </a:solidFill>
                          <a:latin typeface="Arial"/>
                          <a:ea typeface="Arial"/>
                          <a:cs typeface="Arial"/>
                        </a:rPr>
                        <a:t>Instantaneous bandwidth / RF chains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16 MHz / one</a:t>
                      </a:r>
                    </a:p>
                  </a:txBody>
                  <a:tcPr marL="114300" marR="114300" marT="57150" marB="57150" anchor="ctr">
                    <a:solidFill>
                      <a:srgbClr val="F0F5F7"/>
                    </a:solidFill>
                  </a:tcPr>
                </a:tc>
              </a:tr>
              <a:tr h="330273">
                <a:tc>
                  <a:txBody>
                    <a:bodyPr/>
                    <a:lstStyle/>
                    <a:p>
                      <a:r>
                        <a:rPr sz="1599" b="0">
                          <a:solidFill>
                            <a:srgbClr val="153246"/>
                          </a:solidFill>
                          <a:latin typeface="Arial"/>
                          <a:ea typeface="Arial"/>
                          <a:cs typeface="Arial"/>
                        </a:rPr>
                        <a:t>Selected schedule Gaussian rate</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109.52 Mbit/s</a:t>
                      </a:r>
                    </a:p>
                  </a:txBody>
                  <a:tcPr marL="114300" marR="114300" marT="57150" marB="57150" anchor="ctr">
                    <a:solidFill>
                      <a:srgbClr val="FFFFFF"/>
                    </a:solidFill>
                  </a:tcPr>
                </a:tc>
              </a:tr>
              <a:tr h="330273">
                <a:tc>
                  <a:txBody>
                    <a:bodyPr/>
                    <a:lstStyle/>
                    <a:p>
                      <a:r>
                        <a:rPr sz="1599" b="0">
                          <a:solidFill>
                            <a:srgbClr val="153246"/>
                          </a:solidFill>
                          <a:latin typeface="Arial"/>
                          <a:ea typeface="Arial"/>
                          <a:cs typeface="Arial"/>
                        </a:rPr>
                        <a:t>Best tested fixed block Gaussian rate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128.31 Mbit/s</a:t>
                      </a:r>
                    </a:p>
                  </a:txBody>
                  <a:tcPr marL="114300" marR="114300" marT="57150" marB="57150" anchor="ctr">
                    <a:solidFill>
                      <a:srgbClr val="F0F5F7"/>
                    </a:solidFill>
                  </a:tcPr>
                </a:tc>
              </a:tr>
              <a:tr h="330273">
                <a:tc>
                  <a:txBody>
                    <a:bodyPr/>
                    <a:lstStyle/>
                    <a:p>
                      <a:r>
                        <a:rPr sz="1599" b="0">
                          <a:solidFill>
                            <a:srgbClr val="153246"/>
                          </a:solidFill>
                          <a:latin typeface="Arial"/>
                          <a:ea typeface="Arial"/>
                          <a:cs typeface="Arial"/>
                        </a:rPr>
                        <a:t>Rate loss against that fixed block</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14.64%</a:t>
                      </a:r>
                    </a:p>
                  </a:txBody>
                  <a:tcPr marL="114300" marR="114300" marT="57150" marB="57150" anchor="ctr">
                    <a:solidFill>
                      <a:srgbClr val="FFFFFF"/>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bcfa361a77344a5">
            <a:extLst>
              <a:ext uri="{96DAC541-7B7A-43D3-8B79-37D633B846F1}">
                <asvg:svgBlip xmlns:asvg="http://schemas.microsoft.com/office/drawing/2016/SVG/main" r:embed="Re62ca893b2394057"/>
              </a:ext>
            </a:extLst>
          </a:blip>
          <a:stretch xmlns:a="http://schemas.openxmlformats.org/drawingml/2006/main"/>
        </p:blipFill>
        <p:spPr>
          <a:xfrm xmlns:a="http://schemas.openxmlformats.org/drawingml/2006/main">
            <a:off x="781050" y="4220718"/>
            <a:ext cx="3541954"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7B8736B-D1BC-448B-BC94-6C0FAB637509}"/>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comparison uses equal instantaneous bandwidth, power and CP/pilot overhead. Both reference and sample carry payload.</a:t>
            </a:r>
          </a:p>
        </p:txBody>
      </p:sp>
      <p:sp>
        <p:nvSpPr>
          <p:cNvPr id="5" name="">
            <a:extLst xmlns:a="http://schemas.openxmlformats.org/drawingml/2006/main">
              <a:ext uri="{FF2B5EF4-FFF2-40B4-BE49-F238E27FC236}">
                <a16:creationId xmlns:a16="http://schemas.microsoft.com/office/drawing/2014/main" id="{B41C8358-1061-4705-A1C4-5A851F9E3C1E}"/>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Selected center range</a:t>
            </a:r>
          </a:p>
        </p:txBody>
      </p:sp>
      <p:sp>
        <p:nvSpPr>
          <p:cNvPr id="6" name="">
            <a:extLst xmlns:a="http://schemas.openxmlformats.org/drawingml/2006/main">
              <a:ext uri="{FF2B5EF4-FFF2-40B4-BE49-F238E27FC236}">
                <a16:creationId xmlns:a16="http://schemas.microsoft.com/office/drawing/2014/main" id="{4DACEF44-8040-4BE4-918A-EE9E4218E890}"/>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224–318.67 GHz</a:t>
            </a:r>
          </a:p>
        </p:txBody>
      </p:sp>
      <p:sp>
        <p:nvSpPr>
          <p:cNvPr id="7" name="">
            <a:extLst xmlns:a="http://schemas.openxmlformats.org/drawingml/2006/main">
              <a:ext uri="{FF2B5EF4-FFF2-40B4-BE49-F238E27FC236}">
                <a16:creationId xmlns:a16="http://schemas.microsoft.com/office/drawing/2014/main" id="{2495239F-F25B-43B2-965D-79B0F0E8C2AC}"/>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Pilot / frame symbols</a:t>
            </a:r>
          </a:p>
        </p:txBody>
      </p:sp>
      <p:sp>
        <p:nvSpPr>
          <p:cNvPr id="8" name="">
            <a:extLst xmlns:a="http://schemas.openxmlformats.org/drawingml/2006/main">
              <a:ext uri="{FF2B5EF4-FFF2-40B4-BE49-F238E27FC236}">
                <a16:creationId xmlns:a16="http://schemas.microsoft.com/office/drawing/2014/main" id="{F47EC401-394D-470E-99A0-8E939E765CF6}"/>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30 / 10,000</a:t>
            </a:r>
          </a:p>
        </p:txBody>
      </p:sp>
      <p:sp>
        <p:nvSpPr>
          <p:cNvPr id="9" name="">
            <a:extLst xmlns:a="http://schemas.openxmlformats.org/drawingml/2006/main">
              <a:ext uri="{FF2B5EF4-FFF2-40B4-BE49-F238E27FC236}">
                <a16:creationId xmlns:a16="http://schemas.microsoft.com/office/drawing/2014/main" id="{1A78C4F1-B5D8-432F-9CA7-BD7B62F9D3CD}"/>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CP / useful symbol</a:t>
            </a:r>
          </a:p>
        </p:txBody>
      </p:sp>
      <p:sp>
        <p:nvSpPr>
          <p:cNvPr id="10" name="">
            <a:extLst xmlns:a="http://schemas.openxmlformats.org/drawingml/2006/main">
              <a:ext uri="{FF2B5EF4-FFF2-40B4-BE49-F238E27FC236}">
                <a16:creationId xmlns:a16="http://schemas.microsoft.com/office/drawing/2014/main" id="{8B2D49B7-7C42-41EB-A15E-03C0A5B387A5}"/>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 / 16</a:t>
            </a:r>
          </a:p>
        </p:txBody>
      </p:sp>
      <p:sp>
        <p:nvSpPr>
          <p:cNvPr id="11" name="">
            <a:extLst xmlns:a="http://schemas.openxmlformats.org/drawingml/2006/main">
              <a:ext uri="{FF2B5EF4-FFF2-40B4-BE49-F238E27FC236}">
                <a16:creationId xmlns:a16="http://schemas.microsoft.com/office/drawing/2014/main" id="{0311CA99-C3DF-4FDD-9363-1D667A260FC4}"/>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Zero architecture cost is not established. Gaussian rate is different from coded QPSK throughput.</a:t>
            </a:r>
          </a:p>
        </p:txBody>
      </p:sp>
      <p:sp>
        <p:nvSpPr>
          <p:cNvPr id="12" name="">
            <a:extLst xmlns:a="http://schemas.openxmlformats.org/drawingml/2006/main">
              <a:ext uri="{FF2B5EF4-FFF2-40B4-BE49-F238E27FC236}">
                <a16:creationId xmlns:a16="http://schemas.microsoft.com/office/drawing/2014/main" id="{734ACD14-14E2-40B6-91B5-A0CE19186CA0}"/>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D1CA4FDE-0702-407D-BE4F-9B8F5A8AC459}"/>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average Gaussian information rate (bit/s)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 selected frequency block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tone index within block b</a:t>
            </a:r>
          </a:p>
        </p:txBody>
      </p:sp>
      <p:sp>
        <p:nvSpPr>
          <p:cNvPr id="14" name="">
            <a:extLst xmlns:a="http://schemas.openxmlformats.org/drawingml/2006/main">
              <a:ext uri="{FF2B5EF4-FFF2-40B4-BE49-F238E27FC236}">
                <a16:creationId xmlns:a16="http://schemas.microsoft.com/office/drawing/2014/main" id="{D56408FF-7AEF-4259-8C9F-FAD9DEE6DDEA}"/>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t_b: transmission time in block b (s)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t_total: total acquisition time (s)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t_b / t_total: block’s time fraction</a:t>
            </a:r>
          </a:p>
        </p:txBody>
      </p:sp>
      <p:sp>
        <p:nvSpPr>
          <p:cNvPr id="15" name="">
            <a:extLst xmlns:a="http://schemas.openxmlformats.org/drawingml/2006/main">
              <a:ext uri="{FF2B5EF4-FFF2-40B4-BE49-F238E27FC236}">
                <a16:creationId xmlns:a16="http://schemas.microsoft.com/office/drawing/2014/main" id="{981DDE38-3616-471F-AFBB-9099A5010845}"/>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Δf: bandwidth per tone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SNR_k: tone signal to noise ratio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log₂: base two logarithm</a:t>
            </a:r>
          </a:p>
        </p:txBody>
      </p:sp>
      <p:sp>
        <p:nvSpPr>
          <p:cNvPr id="16" name="">
            <a:extLst xmlns:a="http://schemas.openxmlformats.org/drawingml/2006/main">
              <a:ext uri="{FF2B5EF4-FFF2-40B4-BE49-F238E27FC236}">
                <a16:creationId xmlns:a16="http://schemas.microsoft.com/office/drawing/2014/main" id="{CD5E0BB9-F7D4-4B55-89D3-114C44547CB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15</a:t>
            </a:r>
          </a:p>
        </p:txBody>
      </p:sp>
    </p:spTree>
    <p:extLst>
      <p:ext uri="{BB962C8B-B14F-4D97-AF65-F5344CB8AC3E}">
        <p14:creationId xmlns:p14="http://schemas.microsoft.com/office/powerpoint/2010/main" val="6556874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65EA3EC-3D2F-48B9-B5D2-03C0185F716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2.2 · CSI and raw waveform simulation</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Blocks / tones per block</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16 / 16</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Frame length</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10,000 symbols</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Pilots per frame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30</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Acquisition CFO stress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100 kHz</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C84C29B-19C5-4763-A33F-274091BFDB0A}"/>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Generated complex line-of-sight observations with frequency-dependent attenuation and additive complex Gaussian noise.</a:t>
            </a:r>
          </a:p>
        </p:txBody>
      </p:sp>
      <p:sp>
        <p:nvSpPr>
          <p:cNvPr id="4" name="">
            <a:extLst xmlns:a="http://schemas.openxmlformats.org/drawingml/2006/main">
              <a:ext uri="{FF2B5EF4-FFF2-40B4-BE49-F238E27FC236}">
                <a16:creationId xmlns:a16="http://schemas.microsoft.com/office/drawing/2014/main" id="{3BEE047D-433E-4CBB-98F3-2BB445A8B289}"/>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Added raw IFFT/CP frames, timing acquisition, Doppler correction, pilot tracking and coded packet checks.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f8be2af56764d63">
            <a:extLst>
              <a:ext uri="{96DAC541-7B7A-43D3-8B79-37D633B846F1}">
                <asvg:svgBlip xmlns:asvg="http://schemas.microsoft.com/office/drawing/2016/SVG/main" r:embed="R3df0f269643e4ff7"/>
              </a:ext>
            </a:extLst>
          </a:blip>
          <a:stretch xmlns:a="http://schemas.openxmlformats.org/drawingml/2006/main"/>
        </p:blipFill>
        <p:spPr>
          <a:xfrm xmlns:a="http://schemas.openxmlformats.org/drawingml/2006/main">
            <a:off x="723900" y="3526825"/>
            <a:ext cx="6077470" cy="128624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2D5B76D-A988-4D41-9302-63B4B912DBC7}"/>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Separate raw frames test modem behavior. Large recall experiments draw joint sample moments and apply nonlinear inversion.</a:t>
            </a:r>
          </a:p>
        </p:txBody>
      </p:sp>
      <p:sp>
        <p:nvSpPr>
          <p:cNvPr id="7" name="">
            <a:extLst xmlns:a="http://schemas.openxmlformats.org/drawingml/2006/main">
              <a:ext uri="{FF2B5EF4-FFF2-40B4-BE49-F238E27FC236}">
                <a16:creationId xmlns:a16="http://schemas.microsoft.com/office/drawing/2014/main" id="{AE39038B-AE91-4281-ADE1-8FB08E066DB8}"/>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simulation connects physical channel attenuation to a bounded moving receiver.</a:t>
            </a:r>
          </a:p>
        </p:txBody>
      </p:sp>
      <p:sp>
        <p:nvSpPr>
          <p:cNvPr id="8" name="">
            <a:extLst xmlns:a="http://schemas.openxmlformats.org/drawingml/2006/main">
              <a:ext uri="{FF2B5EF4-FFF2-40B4-BE49-F238E27FC236}">
                <a16:creationId xmlns:a16="http://schemas.microsoft.com/office/drawing/2014/main" id="{0C6A75E9-6817-4443-98D5-62ED38C5445F}"/>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large recall study does not generate every raw waveform sample for every Monte Carlo trial.</a:t>
            </a:r>
          </a:p>
        </p:txBody>
      </p:sp>
      <p:sp>
        <p:nvSpPr>
          <p:cNvPr id="9" name="">
            <a:extLst xmlns:a="http://schemas.openxmlformats.org/drawingml/2006/main">
              <a:ext uri="{FF2B5EF4-FFF2-40B4-BE49-F238E27FC236}">
                <a16:creationId xmlns:a16="http://schemas.microsoft.com/office/drawing/2014/main" id="{2397317F-1FC7-4FC8-A5B3-2E87CF2FC6AF}"/>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E4550262-C0F0-40CC-9B48-C58959516E33}"/>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tone index, n: time sample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x_k: transmitted tone symbol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y_k: received tone symbol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h_k: complex channel coefficient</a:t>
            </a:r>
          </a:p>
        </p:txBody>
      </p:sp>
      <p:sp>
        <p:nvSpPr>
          <p:cNvPr id="11" name="">
            <a:extLst xmlns:a="http://schemas.openxmlformats.org/drawingml/2006/main">
              <a:ext uri="{FF2B5EF4-FFF2-40B4-BE49-F238E27FC236}">
                <a16:creationId xmlns:a16="http://schemas.microsoft.com/office/drawing/2014/main" id="{4D832DA1-5F9E-4345-A746-157469EDF659}"/>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w_k: additive complex receiver noise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V_k: noise variance in symbol power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CN(0,V_k): circular complex Gaussian noise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Its real / imaginary variances are V_k / 2</a:t>
            </a:r>
          </a:p>
        </p:txBody>
      </p:sp>
      <p:sp>
        <p:nvSpPr>
          <p:cNvPr id="12" name="">
            <a:extLst xmlns:a="http://schemas.openxmlformats.org/drawingml/2006/main">
              <a:ext uri="{FF2B5EF4-FFF2-40B4-BE49-F238E27FC236}">
                <a16:creationId xmlns:a16="http://schemas.microsoft.com/office/drawing/2014/main" id="{70CCCCCD-3F1B-4168-8485-EA0FD1863EC5}"/>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X_k: frequency domain OFDM symbols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x[n]: transmitted time domain samples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IFFT: inverse fast Fourier transform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h_k scales amplitude and rotates phase</a:t>
            </a:r>
          </a:p>
        </p:txBody>
      </p:sp>
      <p:sp>
        <p:nvSpPr>
          <p:cNvPr id="13" name="">
            <a:extLst xmlns:a="http://schemas.openxmlformats.org/drawingml/2006/main">
              <a:ext uri="{FF2B5EF4-FFF2-40B4-BE49-F238E27FC236}">
                <a16:creationId xmlns:a16="http://schemas.microsoft.com/office/drawing/2014/main" id="{9EE9CCAF-5DF0-48A8-A5C0-DF396241AEB1}"/>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16</a:t>
            </a:r>
          </a:p>
        </p:txBody>
      </p:sp>
    </p:spTree>
    <p:extLst>
      <p:ext uri="{BB962C8B-B14F-4D97-AF65-F5344CB8AC3E}">
        <p14:creationId xmlns:p14="http://schemas.microsoft.com/office/powerpoint/2010/main" val="20340856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A79A213-7CEE-4DDA-A918-0F473C7C00BA}"/>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2.2 · What the waveform controls establish</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3906592"/>
                <a:gridCol w="4333875"/>
                <a:gridCol w="5627933"/>
              </a:tblGrid>
              <a:tr h="385318">
                <a:tc>
                  <a:txBody>
                    <a:bodyPr/>
                    <a:lstStyle/>
                    <a:p>
                      <a:r>
                        <a:rPr sz="1599" b="1">
                          <a:solidFill>
                            <a:srgbClr val="FFFFFF"/>
                          </a:solidFill>
                          <a:latin typeface="Arial"/>
                          <a:ea typeface="Arial"/>
                          <a:cs typeface="Arial"/>
                        </a:rPr>
                        <a:t>Control</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Retained result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Boundary</a:t>
                      </a:r>
                    </a:p>
                  </a:txBody>
                  <a:tcPr marL="114300" marR="114300" marT="57150" marB="57150" anchor="ctr">
                    <a:solidFill>
                      <a:srgbClr val="153246"/>
                    </a:solidFill>
                  </a:tcPr>
                </a:tc>
              </a:tr>
              <a:tr h="385318">
                <a:tc>
                  <a:txBody>
                    <a:bodyPr/>
                    <a:lstStyle/>
                    <a:p>
                      <a:r>
                        <a:rPr sz="1599" b="0">
                          <a:solidFill>
                            <a:srgbClr val="153246"/>
                          </a:solidFill>
                          <a:latin typeface="Arial"/>
                          <a:ea typeface="Arial"/>
                          <a:cs typeface="Arial"/>
                        </a:rPr>
                        <a:t>Selected-frequency coverage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16 fresh raw frames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One frequency spot check per selected block</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Timing acquisition</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16 / 16 correct</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Bounded integer timing model</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Passive sensing</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Identical decoded outputs in every case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Comparison uses the same scheduled modem</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Coded information errors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1,391 errors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Across 2,826,240 information bits</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Full mission dynamics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Still open</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Fractional timing, clock drift and time dilation</a:t>
                      </a:r>
                    </a:p>
                  </a:txBody>
                  <a:tcPr marL="114300" marR="114300" marT="57150" marB="57150" anchor="ctr">
                    <a:solidFill>
                      <a:srgbClr val="F0F5F7"/>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fafc6865d3d414c">
            <a:extLst>
              <a:ext uri="{96DAC541-7B7A-43D3-8B79-37D633B846F1}">
                <asvg:svgBlip xmlns:asvg="http://schemas.microsoft.com/office/drawing/2016/SVG/main" r:embed="Racc59730d0014635"/>
              </a:ext>
            </a:extLst>
          </a:blip>
          <a:stretch xmlns:a="http://schemas.openxmlformats.org/drawingml/2006/main"/>
        </p:blipFill>
        <p:spPr>
          <a:xfrm xmlns:a="http://schemas.openxmlformats.org/drawingml/2006/main">
            <a:off x="781050" y="4220718"/>
            <a:ext cx="1328302"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AB3A459-4EF3-4F99-9541-5CBD3C947C4D}"/>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Narrowband Doppler correction addresses carrier shift. Wideband time scaling requires additional receiver modeling.</a:t>
            </a:r>
          </a:p>
        </p:txBody>
      </p:sp>
      <p:sp>
        <p:nvSpPr>
          <p:cNvPr id="5" name="">
            <a:extLst xmlns:a="http://schemas.openxmlformats.org/drawingml/2006/main">
              <a:ext uri="{FF2B5EF4-FFF2-40B4-BE49-F238E27FC236}">
                <a16:creationId xmlns:a16="http://schemas.microsoft.com/office/drawing/2014/main" id="{01DD6F8F-7258-402E-A953-B0ED13DD321D}"/>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Information bits</a:t>
            </a:r>
          </a:p>
        </p:txBody>
      </p:sp>
      <p:sp>
        <p:nvSpPr>
          <p:cNvPr id="6" name="">
            <a:extLst xmlns:a="http://schemas.openxmlformats.org/drawingml/2006/main">
              <a:ext uri="{FF2B5EF4-FFF2-40B4-BE49-F238E27FC236}">
                <a16:creationId xmlns:a16="http://schemas.microsoft.com/office/drawing/2014/main" id="{2F57A99A-56ED-4EE4-9B19-54DE335AD0E5}"/>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2,826,240</a:t>
            </a:r>
          </a:p>
        </p:txBody>
      </p:sp>
      <p:sp>
        <p:nvSpPr>
          <p:cNvPr id="7" name="">
            <a:extLst xmlns:a="http://schemas.openxmlformats.org/drawingml/2006/main">
              <a:ext uri="{FF2B5EF4-FFF2-40B4-BE49-F238E27FC236}">
                <a16:creationId xmlns:a16="http://schemas.microsoft.com/office/drawing/2014/main" id="{7A2176C6-FC2A-4372-B774-997054D9217E}"/>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Information bit errors</a:t>
            </a:r>
          </a:p>
        </p:txBody>
      </p:sp>
      <p:sp>
        <p:nvSpPr>
          <p:cNvPr id="8" name="">
            <a:extLst xmlns:a="http://schemas.openxmlformats.org/drawingml/2006/main">
              <a:ext uri="{FF2B5EF4-FFF2-40B4-BE49-F238E27FC236}">
                <a16:creationId xmlns:a16="http://schemas.microsoft.com/office/drawing/2014/main" id="{F4E62FEE-70A2-4698-AF6E-7FF9852F49D0}"/>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1,391</a:t>
            </a:r>
          </a:p>
        </p:txBody>
      </p:sp>
      <p:sp>
        <p:nvSpPr>
          <p:cNvPr id="9" name="">
            <a:extLst xmlns:a="http://schemas.openxmlformats.org/drawingml/2006/main">
              <a:ext uri="{FF2B5EF4-FFF2-40B4-BE49-F238E27FC236}">
                <a16:creationId xmlns:a16="http://schemas.microsoft.com/office/drawing/2014/main" id="{4A1CD311-414C-49D9-90E3-96462606AE41}"/>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Raw coded bit error rate</a:t>
            </a:r>
          </a:p>
        </p:txBody>
      </p:sp>
      <p:sp>
        <p:nvSpPr>
          <p:cNvPr id="10" name="">
            <a:extLst xmlns:a="http://schemas.openxmlformats.org/drawingml/2006/main">
              <a:ext uri="{FF2B5EF4-FFF2-40B4-BE49-F238E27FC236}">
                <a16:creationId xmlns:a16="http://schemas.microsoft.com/office/drawing/2014/main" id="{E5D2FCCD-BC50-4BEA-B47B-5B14D67D43DB}"/>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0.0492%</a:t>
            </a:r>
          </a:p>
        </p:txBody>
      </p:sp>
      <p:sp>
        <p:nvSpPr>
          <p:cNvPr id="11" name="">
            <a:extLst xmlns:a="http://schemas.openxmlformats.org/drawingml/2006/main">
              <a:ext uri="{FF2B5EF4-FFF2-40B4-BE49-F238E27FC236}">
                <a16:creationId xmlns:a16="http://schemas.microsoft.com/office/drawing/2014/main" id="{9E7B97EE-647E-4998-A22A-4533CC0CEE46}"/>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Oscillator noise, pointing, multipath and realistic reference availability remain open.</a:t>
            </a:r>
          </a:p>
        </p:txBody>
      </p:sp>
      <p:sp>
        <p:nvSpPr>
          <p:cNvPr id="12" name="">
            <a:extLst xmlns:a="http://schemas.openxmlformats.org/drawingml/2006/main">
              <a:ext uri="{FF2B5EF4-FFF2-40B4-BE49-F238E27FC236}">
                <a16:creationId xmlns:a16="http://schemas.microsoft.com/office/drawing/2014/main" id="{33E05F5B-1161-4DE5-8C24-DFD9F7EE37A1}"/>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E138FF16-DC41-4D1F-92EC-801A057F8576}"/>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f_D: Doppler frequency shift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f_c: carrier frequency (Hz)</a:t>
            </a:r>
          </a:p>
        </p:txBody>
      </p:sp>
      <p:sp>
        <p:nvSpPr>
          <p:cNvPr id="14" name="">
            <a:extLst xmlns:a="http://schemas.openxmlformats.org/drawingml/2006/main">
              <a:ext uri="{FF2B5EF4-FFF2-40B4-BE49-F238E27FC236}">
                <a16:creationId xmlns:a16="http://schemas.microsoft.com/office/drawing/2014/main" id="{CA1404C5-9A75-499C-B287-ADBB46F623D1}"/>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v_r: signed radial relative velocity (m/s)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speed of light (m/s)</a:t>
            </a:r>
          </a:p>
        </p:txBody>
      </p:sp>
      <p:sp>
        <p:nvSpPr>
          <p:cNvPr id="15" name="">
            <a:extLst xmlns:a="http://schemas.openxmlformats.org/drawingml/2006/main">
              <a:ext uri="{FF2B5EF4-FFF2-40B4-BE49-F238E27FC236}">
                <a16:creationId xmlns:a16="http://schemas.microsoft.com/office/drawing/2014/main" id="{787B966A-CF74-4CD9-9F1A-8746CFD57CD5}"/>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first order narrowband approximation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shift sign follows the velocity convention</a:t>
            </a:r>
          </a:p>
        </p:txBody>
      </p:sp>
      <p:sp>
        <p:nvSpPr>
          <p:cNvPr id="16" name="">
            <a:extLst xmlns:a="http://schemas.openxmlformats.org/drawingml/2006/main">
              <a:ext uri="{FF2B5EF4-FFF2-40B4-BE49-F238E27FC236}">
                <a16:creationId xmlns:a16="http://schemas.microsoft.com/office/drawing/2014/main" id="{85E6B5EC-8198-4671-AF7D-12D31FF1C7F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17</a:t>
            </a:r>
          </a:p>
        </p:txBody>
      </p:sp>
    </p:spTree>
    <p:extLst>
      <p:ext uri="{BB962C8B-B14F-4D97-AF65-F5344CB8AC3E}">
        <p14:creationId xmlns:p14="http://schemas.microsoft.com/office/powerpoint/2010/main" val="8350321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61BECE8-310B-43E7-B947-85BD04E708C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3.1 · Joint spectral isolation</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Unknown target masses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7</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Reported outputs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8 with PM10</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Selected frequencies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256 tones</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Scaled identity tolerance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10⁻⁵</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AEF25EE-B11D-4F1F-9B5C-F54F205DDA93}"/>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Fitted all five gas signatures and two PM modes simultaneously.</a:t>
            </a:r>
          </a:p>
        </p:txBody>
      </p:sp>
      <p:sp>
        <p:nvSpPr>
          <p:cNvPr id="4" name="">
            <a:extLst xmlns:a="http://schemas.openxmlformats.org/drawingml/2006/main">
              <a:ext uri="{FF2B5EF4-FFF2-40B4-BE49-F238E27FC236}">
                <a16:creationId xmlns:a16="http://schemas.microsoft.com/office/drawing/2014/main" id="{FB5C607F-3ECB-4FC8-89CB-DF7965E8A227}"/>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Whitened the observation covariance and projected out gain offset/slope, atmospheric background and four interfering gases.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01dc3206d7649ae">
            <a:extLst>
              <a:ext uri="{96DAC541-7B7A-43D3-8B79-37D633B846F1}">
                <asvg:svgBlip xmlns:asvg="http://schemas.microsoft.com/office/drawing/2016/SVG/main" r:embed="Rfc66a1d434bf4661"/>
              </a:ext>
            </a:extLst>
          </a:blip>
          <a:stretch xmlns:a="http://schemas.openxmlformats.org/drawingml/2006/main"/>
        </p:blipFill>
        <p:spPr>
          <a:xfrm xmlns:a="http://schemas.openxmlformats.org/drawingml/2006/main">
            <a:off x="723900" y="3427573"/>
            <a:ext cx="5752705" cy="148475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43389B0-3DA4-4D70-9A7E-935ED698AC36}"/>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D contains target signatures. N contains nuisance signatures. QN spans the whitened nuisance space. An SVD constructs H.</a:t>
            </a:r>
          </a:p>
        </p:txBody>
      </p:sp>
      <p:sp>
        <p:nvSpPr>
          <p:cNvPr id="7" name="">
            <a:extLst xmlns:a="http://schemas.openxmlformats.org/drawingml/2006/main">
              <a:ext uri="{FF2B5EF4-FFF2-40B4-BE49-F238E27FC236}">
                <a16:creationId xmlns:a16="http://schemas.microsoft.com/office/drawing/2014/main" id="{0F88AF89-49B1-4AD7-8CD5-7AC00BDB6704}"/>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Numerical gates check scaled H D ≈ I and nuisance rejection H N ≈ 0.</a:t>
            </a:r>
          </a:p>
        </p:txBody>
      </p:sp>
      <p:sp>
        <p:nvSpPr>
          <p:cNvPr id="8" name="">
            <a:extLst xmlns:a="http://schemas.openxmlformats.org/drawingml/2006/main">
              <a:ext uri="{FF2B5EF4-FFF2-40B4-BE49-F238E27FC236}">
                <a16:creationId xmlns:a16="http://schemas.microsoft.com/office/drawing/2014/main" id="{C2137047-7F2E-484F-915F-B9C48FF3F2E2}"/>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No algorithm can separate an arbitrary gain error that occupies the same spectral direction as the pollutant.</a:t>
            </a:r>
          </a:p>
        </p:txBody>
      </p:sp>
      <p:sp>
        <p:nvSpPr>
          <p:cNvPr id="9" name="">
            <a:extLst xmlns:a="http://schemas.openxmlformats.org/drawingml/2006/main">
              <a:ext uri="{FF2B5EF4-FFF2-40B4-BE49-F238E27FC236}">
                <a16:creationId xmlns:a16="http://schemas.microsoft.com/office/drawing/2014/main" id="{928BCCDF-73BB-497B-9388-A459330517C5}"/>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16F18E17-F996-4216-A926-A8C06840B359}"/>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 attenuation vector (dB), e: error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 target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ĉ: true / estimated concentrations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 β: nuisance attenuation contribution (dB)</a:t>
            </a:r>
          </a:p>
        </p:txBody>
      </p:sp>
      <p:sp>
        <p:nvSpPr>
          <p:cNvPr id="11" name="">
            <a:extLst xmlns:a="http://schemas.openxmlformats.org/drawingml/2006/main">
              <a:ext uri="{FF2B5EF4-FFF2-40B4-BE49-F238E27FC236}">
                <a16:creationId xmlns:a16="http://schemas.microsoft.com/office/drawing/2014/main" id="{54D82A30-C183-4CC0-8001-F1C4013960E7}"/>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 Cov(e): observation covariance (dB²)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 nuisance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β: nuisance coefficients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Q_N: orthonormal whitened nuisance basis</a:t>
            </a:r>
          </a:p>
        </p:txBody>
      </p:sp>
      <p:sp>
        <p:nvSpPr>
          <p:cNvPr id="12" name="">
            <a:extLst xmlns:a="http://schemas.openxmlformats.org/drawingml/2006/main">
              <a:ext uri="{FF2B5EF4-FFF2-40B4-BE49-F238E27FC236}">
                <a16:creationId xmlns:a16="http://schemas.microsoft.com/office/drawing/2014/main" id="{DE153953-50CA-43AF-8D79-58A4887F9F9A}"/>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 projector away from nuisance space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 identity matrix, T: matrix transpose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 linear concentration retrieval operator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Bold symbols denote vectors or matrices</a:t>
            </a:r>
          </a:p>
        </p:txBody>
      </p:sp>
      <p:sp>
        <p:nvSpPr>
          <p:cNvPr id="13" name="">
            <a:extLst xmlns:a="http://schemas.openxmlformats.org/drawingml/2006/main">
              <a:ext uri="{FF2B5EF4-FFF2-40B4-BE49-F238E27FC236}">
                <a16:creationId xmlns:a16="http://schemas.microsoft.com/office/drawing/2014/main" id="{0D3922BF-A090-4AB8-82A3-A8467850FC9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18</a:t>
            </a:r>
          </a:p>
        </p:txBody>
      </p:sp>
    </p:spTree>
    <p:extLst>
      <p:ext uri="{BB962C8B-B14F-4D97-AF65-F5344CB8AC3E}">
        <p14:creationId xmlns:p14="http://schemas.microsoft.com/office/powerpoint/2010/main" val="52737937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7EC52E7-5B31-445D-8196-C809F7E47F8B}"/>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3.1 · Frequency selection improves five-gas inference</a:t>
            </a:r>
          </a:p>
        </p:txBody>
      </p:sp>
      <p:sp>
        <p:nvSpPr>
          <p:cNvPr id="2" name="">
            <a:extLst xmlns:a="http://schemas.openxmlformats.org/drawingml/2006/main">
              <a:ext uri="{FF2B5EF4-FFF2-40B4-BE49-F238E27FC236}">
                <a16:creationId xmlns:a16="http://schemas.microsoft.com/office/drawing/2014/main" id="{624C8807-26E0-4C64-BC72-417C07AC5235}"/>
              </a:ext>
            </a:extLst>
          </p:cNvPr>
          <p:cNvSpPr>
            <a:spLocks xmlns:a="http://schemas.openxmlformats.org/drawingml/2006/main" noGrp="1"/>
          </p:cNvSpPr>
          <p:nvPr/>
        </p:nvSpPr>
        <p:spPr>
          <a:xfrm xmlns:a="http://schemas.openxmlformats.org/drawingml/2006/main">
            <a:off x="723900" y="17526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A deterministic coordinate-exchange screen selected sixteen blocks using the standard 45° design case.</a:t>
            </a:r>
          </a:p>
        </p:txBody>
      </p:sp>
      <p:sp>
        <p:nvSpPr>
          <p:cNvPr id="3" name="">
            <a:extLst xmlns:a="http://schemas.openxmlformats.org/drawingml/2006/main">
              <a:ext uri="{FF2B5EF4-FFF2-40B4-BE49-F238E27FC236}">
                <a16:creationId xmlns:a16="http://schemas.microsoft.com/office/drawing/2014/main" id="{065EF543-872D-4CC5-A71D-9196D86CB343}"/>
              </a:ext>
            </a:extLst>
          </p:cNvPr>
          <p:cNvSpPr>
            <a:spLocks xmlns:a="http://schemas.openxmlformats.org/drawingml/2006/main" noGrp="1"/>
          </p:cNvSpPr>
          <p:nvPr/>
        </p:nvSpPr>
        <p:spPr>
          <a:xfrm xmlns:a="http://schemas.openxmlformats.org/drawingml/2006/main">
            <a:off x="723900" y="23812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The selection optimized the worst relative gas uncertainty while retaining PM and nuisance parameters. Exact tone spectra followed the coarse screen.</a:t>
            </a:r>
          </a:p>
        </p:txBody>
      </p:sp>
      <p:graphicFrame>
        <p:nvGraphicFramePr>
          <p:cNvPr id="17" name=""/>
          <p:cNvGraphicFramePr/>
          <p:nvPr/>
        </p:nvGraphicFramePr>
        <p:xfrm>
          <a:off xmlns:a="http://schemas.openxmlformats.org/drawingml/2006/main" x="685800" y="3162300"/>
          <a:ext xmlns:a="http://schemas.openxmlformats.org/drawingml/2006/main" cx="13868400" cy="3124200"/>
        </p:xfrm>
        <a:graphic xmlns:a="http://schemas.openxmlformats.org/drawingml/2006/main">
          <a:graphicData uri="http://schemas.openxmlformats.org/drawingml/2006/table">
            <a:tbl>
              <a:tblPr/>
              <a:tblGrid>
                <a:gridCol w="7324859"/>
                <a:gridCol w="3271770"/>
                <a:gridCol w="3271770"/>
              </a:tblGrid>
              <a:tr h="781050">
                <a:tc>
                  <a:txBody>
                    <a:bodyPr/>
                    <a:lstStyle/>
                    <a:p>
                      <a:r>
                        <a:rPr sz="1950" b="1">
                          <a:solidFill>
                            <a:srgbClr val="FFFFFF"/>
                          </a:solidFill>
                          <a:latin typeface="Arial"/>
                          <a:ea typeface="Arial"/>
                          <a:cs typeface="Arial"/>
                        </a:rPr>
                        <a:t>CH₃CN at 1 µg/m³</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Uniform bands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Selected bands</a:t>
                      </a:r>
                    </a:p>
                  </a:txBody>
                  <a:tcPr marL="114300" marR="114300" marT="57150" marB="57150" anchor="ctr">
                    <a:solidFill>
                      <a:srgbClr val="153246"/>
                    </a:solidFill>
                  </a:tcPr>
                </a:tc>
              </a:tr>
              <a:tr h="781050">
                <a:tc>
                  <a:txBody>
                    <a:bodyPr/>
                    <a:lstStyle/>
                    <a:p>
                      <a:r>
                        <a:rPr sz="1950" b="0">
                          <a:solidFill>
                            <a:srgbClr val="153246"/>
                          </a:solidFill>
                          <a:latin typeface="Arial"/>
                          <a:ea typeface="Arial"/>
                          <a:cs typeface="Arial"/>
                        </a:rPr>
                        <a:t>Simulated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57.40%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97.67%</a:t>
                      </a:r>
                    </a:p>
                  </a:txBody>
                  <a:tcPr marL="114300" marR="114300" marT="57150" marB="57150" anchor="ctr">
                    <a:solidFill>
                      <a:srgbClr val="F0F5F7"/>
                    </a:solidFill>
                  </a:tcPr>
                </a:tc>
              </a:tr>
              <a:tr h="781050">
                <a:tc>
                  <a:txBody>
                    <a:bodyPr/>
                    <a:lstStyle/>
                    <a:p>
                      <a:r>
                        <a:rPr sz="1950" b="0">
                          <a:solidFill>
                            <a:srgbClr val="153246"/>
                          </a:solidFill>
                          <a:latin typeface="Arial"/>
                          <a:ea typeface="Arial"/>
                          <a:cs typeface="Arial"/>
                        </a:rPr>
                        <a:t>Total acquisition time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a:t>
                      </a:r>
                    </a:p>
                  </a:txBody>
                  <a:tcPr marL="114300" marR="114300" marT="57150" marB="57150" anchor="ctr">
                    <a:solidFill>
                      <a:srgbClr val="FFFFFF"/>
                    </a:solidFill>
                  </a:tcPr>
                </a:tc>
              </a:tr>
              <a:tr h="781050">
                <a:tc>
                  <a:txBody>
                    <a:bodyPr/>
                    <a:lstStyle/>
                    <a:p>
                      <a:r>
                        <a:rPr sz="1950" b="0">
                          <a:solidFill>
                            <a:srgbClr val="153246"/>
                          </a:solidFill>
                          <a:latin typeface="Arial"/>
                          <a:ea typeface="Arial"/>
                          <a:cs typeface="Arial"/>
                        </a:rPr>
                        <a:t>Assumed residual standard deviation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0.0001 dB</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0.0001 dB</a:t>
                      </a:r>
                    </a:p>
                  </a:txBody>
                  <a:tcPr marL="114300" marR="114300" marT="57150" marB="57150" anchor="ctr">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66C4E7CE-BE7F-49F7-B11C-267149C2EBD3}"/>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Deterministic starts</a:t>
            </a:r>
          </a:p>
        </p:txBody>
      </p:sp>
      <p:sp>
        <p:nvSpPr>
          <p:cNvPr id="6" name="">
            <a:extLst xmlns:a="http://schemas.openxmlformats.org/drawingml/2006/main">
              <a:ext uri="{FF2B5EF4-FFF2-40B4-BE49-F238E27FC236}">
                <a16:creationId xmlns:a16="http://schemas.microsoft.com/office/drawing/2014/main" id="{059E9CAE-EFE5-4EAB-8469-E5A6952268D3}"/>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C8D65C11-A288-4787-A648-57A14AB30237}"/>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Selected blocks</a:t>
            </a:r>
          </a:p>
        </p:txBody>
      </p:sp>
      <p:sp>
        <p:nvSpPr>
          <p:cNvPr id="8" name="">
            <a:extLst xmlns:a="http://schemas.openxmlformats.org/drawingml/2006/main">
              <a:ext uri="{FF2B5EF4-FFF2-40B4-BE49-F238E27FC236}">
                <a16:creationId xmlns:a16="http://schemas.microsoft.com/office/drawing/2014/main" id="{9E46F338-B476-4095-89EA-71134E428C7C}"/>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16</a:t>
            </a:r>
          </a:p>
        </p:txBody>
      </p:sp>
      <p:sp>
        <p:nvSpPr>
          <p:cNvPr id="9" name="">
            <a:extLst xmlns:a="http://schemas.openxmlformats.org/drawingml/2006/main">
              <a:ext uri="{FF2B5EF4-FFF2-40B4-BE49-F238E27FC236}">
                <a16:creationId xmlns:a16="http://schemas.microsoft.com/office/drawing/2014/main" id="{55AB8E62-B4CB-451C-8D73-131B638EFB62}"/>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Improved exact gas limits</a:t>
            </a:r>
          </a:p>
        </p:txBody>
      </p:sp>
      <p:sp>
        <p:nvSpPr>
          <p:cNvPr id="10" name="">
            <a:extLst xmlns:a="http://schemas.openxmlformats.org/drawingml/2006/main">
              <a:ext uri="{FF2B5EF4-FFF2-40B4-BE49-F238E27FC236}">
                <a16:creationId xmlns:a16="http://schemas.microsoft.com/office/drawing/2014/main" id="{7F1CDC5A-3782-4B35-AF71-E311ACBFE67C}"/>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5 / 5</a:t>
            </a:r>
          </a:p>
        </p:txBody>
      </p:sp>
      <p:sp>
        <p:nvSpPr>
          <p:cNvPr id="11" name="">
            <a:extLst xmlns:a="http://schemas.openxmlformats.org/drawingml/2006/main">
              <a:ext uri="{FF2B5EF4-FFF2-40B4-BE49-F238E27FC236}">
                <a16:creationId xmlns:a16="http://schemas.microsoft.com/office/drawing/2014/main" id="{BC698601-C8EB-44C3-B84E-EC96986E3C89}"/>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All five exact VOC information limits improve relative to the uniform design.</a:t>
            </a:r>
          </a:p>
        </p:txBody>
      </p:sp>
      <p:sp>
        <p:nvSpPr>
          <p:cNvPr id="12" name="">
            <a:extLst xmlns:a="http://schemas.openxmlformats.org/drawingml/2006/main">
              <a:ext uri="{FF2B5EF4-FFF2-40B4-BE49-F238E27FC236}">
                <a16:creationId xmlns:a16="http://schemas.microsoft.com/office/drawing/2014/main" id="{20D4D746-671A-4E69-BE46-14DE3F77E75A}"/>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January weather and response draws did not choose bands. Global optimality and unknown-weather robustness remain unproved.</a:t>
            </a:r>
          </a:p>
        </p:txBody>
      </p:sp>
      <p:sp>
        <p:nvSpPr>
          <p:cNvPr id="13" name="">
            <a:extLst xmlns:a="http://schemas.openxmlformats.org/drawingml/2006/main">
              <a:ext uri="{FF2B5EF4-FFF2-40B4-BE49-F238E27FC236}">
                <a16:creationId xmlns:a16="http://schemas.microsoft.com/office/drawing/2014/main" id="{42CD145E-4CB5-4E12-914C-F165C41EFB86}"/>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19</a:t>
            </a:r>
          </a:p>
        </p:txBody>
      </p:sp>
    </p:spTree>
    <p:extLst>
      <p:ext uri="{BB962C8B-B14F-4D97-AF65-F5344CB8AC3E}">
        <p14:creationId xmlns:p14="http://schemas.microsoft.com/office/powerpoint/2010/main" val="173106549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773905C-FA65-41D8-9C5F-49CE9ACE615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Payload moments estimate signal and noise</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Pilot fraction per frame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0.3%</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Payload fraction per frame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99.7%</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Signal moments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Second and fourth</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Modulation tested</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QPSK</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A783B3A-C7FC-4425-992C-E904313BA601}"/>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Used the existing constant-modulus QPSK payload instead of discarding most samples and retaining only 30 pilots per 10,000 symbols.</a:t>
            </a:r>
          </a:p>
        </p:txBody>
      </p:sp>
      <p:sp>
        <p:nvSpPr>
          <p:cNvPr id="4" name="">
            <a:extLst xmlns:a="http://schemas.openxmlformats.org/drawingml/2006/main">
              <a:ext uri="{FF2B5EF4-FFF2-40B4-BE49-F238E27FC236}">
                <a16:creationId xmlns:a16="http://schemas.microsoft.com/office/drawing/2014/main" id="{0A018A81-0DE0-4333-B75F-07E12282A94D}"/>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Applied the established M2M4 estimator with a finite-sample correction, then compared sample and reference powers.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7dcba11f7494b4a">
            <a:extLst>
              <a:ext uri="{96DAC541-7B7A-43D3-8B79-37D633B846F1}">
                <asvg:svgBlip xmlns:asvg="http://schemas.microsoft.com/office/drawing/2016/SVG/main" r:embed="Rc06ac2e909964480"/>
              </a:ext>
            </a:extLst>
          </a:blip>
          <a:stretch xmlns:a="http://schemas.openxmlformats.org/drawingml/2006/main"/>
        </p:blipFill>
        <p:spPr>
          <a:xfrm xmlns:a="http://schemas.openxmlformats.org/drawingml/2006/main">
            <a:off x="723900" y="3408426"/>
            <a:ext cx="6196547"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F67B6FF-972F-4857-B3CB-27B65F4A0185}"/>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S is received signal power. V is noise power. The moments separate signal and noise under the QPSK and Gaussian-noise model.</a:t>
            </a:r>
          </a:p>
        </p:txBody>
      </p:sp>
      <p:sp>
        <p:nvSpPr>
          <p:cNvPr id="7" name="">
            <a:extLst xmlns:a="http://schemas.openxmlformats.org/drawingml/2006/main">
              <a:ext uri="{FF2B5EF4-FFF2-40B4-BE49-F238E27FC236}">
                <a16:creationId xmlns:a16="http://schemas.microsoft.com/office/drawing/2014/main" id="{2CB76BB6-BD1A-49E0-8D8F-2AFAC91A2A66}"/>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More existing symbols contribute information without adding sensing transmissions.</a:t>
            </a:r>
          </a:p>
        </p:txBody>
      </p:sp>
      <p:sp>
        <p:nvSpPr>
          <p:cNvPr id="8" name="">
            <a:extLst xmlns:a="http://schemas.openxmlformats.org/drawingml/2006/main">
              <a:ext uri="{FF2B5EF4-FFF2-40B4-BE49-F238E27FC236}">
                <a16:creationId xmlns:a16="http://schemas.microsoft.com/office/drawing/2014/main" id="{43954D2F-AF0E-43C6-BC2F-0DEDFE984ABE}"/>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Arbitrary QAM, nonlinear distortion or severe intercarrier interference invalidate these simple moments.</a:t>
            </a:r>
          </a:p>
        </p:txBody>
      </p:sp>
      <p:sp>
        <p:nvSpPr>
          <p:cNvPr id="9" name="">
            <a:extLst xmlns:a="http://schemas.openxmlformats.org/drawingml/2006/main">
              <a:ext uri="{FF2B5EF4-FFF2-40B4-BE49-F238E27FC236}">
                <a16:creationId xmlns:a16="http://schemas.microsoft.com/office/drawing/2014/main" id="{65178F82-3F10-4370-9B40-6ED29196D6EC}"/>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E381CDB7-9307-43A8-82E1-7FC8FF874A65}"/>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M₂: second moment E[|y|²]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M₄: fourth moment E[|y|⁴]</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y: received complex symbol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 expectation, |y|: complex magnitude</a:t>
            </a:r>
          </a:p>
        </p:txBody>
      </p:sp>
      <p:sp>
        <p:nvSpPr>
          <p:cNvPr id="11" name="">
            <a:extLst xmlns:a="http://schemas.openxmlformats.org/drawingml/2006/main">
              <a:ext uri="{FF2B5EF4-FFF2-40B4-BE49-F238E27FC236}">
                <a16:creationId xmlns:a16="http://schemas.microsoft.com/office/drawing/2014/main" id="{9E2BB32E-E2CD-49D8-BA02-4DDAC1C40673}"/>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received signal power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 receiver noise power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M₂, S, V share power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M₄ has squared power units</a:t>
            </a:r>
          </a:p>
        </p:txBody>
      </p:sp>
      <p:sp>
        <p:nvSpPr>
          <p:cNvPr id="12" name="">
            <a:extLst xmlns:a="http://schemas.openxmlformats.org/drawingml/2006/main">
              <a:ext uri="{FF2B5EF4-FFF2-40B4-BE49-F238E27FC236}">
                <a16:creationId xmlns:a16="http://schemas.microsoft.com/office/drawing/2014/main" id="{51EA5576-6DCD-48D4-AF76-A8CF3E5FE5A9}"/>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 differential attenuation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S_sample: signal power in sample observation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S_reference: signal power in reference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log₁₀: base ten logarithm</a:t>
            </a:r>
          </a:p>
        </p:txBody>
      </p:sp>
      <p:sp>
        <p:nvSpPr>
          <p:cNvPr id="13" name="">
            <a:extLst xmlns:a="http://schemas.openxmlformats.org/drawingml/2006/main">
              <a:ext uri="{FF2B5EF4-FFF2-40B4-BE49-F238E27FC236}">
                <a16:creationId xmlns:a16="http://schemas.microsoft.com/office/drawing/2014/main" id="{C99C8701-9139-4C01-AD41-11CAF4AA13B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20</a:t>
            </a:r>
          </a:p>
        </p:txBody>
      </p:sp>
    </p:spTree>
    <p:extLst>
      <p:ext uri="{BB962C8B-B14F-4D97-AF65-F5344CB8AC3E}">
        <p14:creationId xmlns:p14="http://schemas.microsoft.com/office/powerpoint/2010/main" val="78963243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1498D8-7E18-4918-98B8-764E03C49F8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Why payload reuse mattered</a:t>
            </a:r>
          </a:p>
        </p:txBody>
      </p:sp>
      <p:sp>
        <p:nvSpPr>
          <p:cNvPr id="2" name="">
            <a:extLst xmlns:a="http://schemas.openxmlformats.org/drawingml/2006/main">
              <a:ext uri="{FF2B5EF4-FFF2-40B4-BE49-F238E27FC236}">
                <a16:creationId xmlns:a16="http://schemas.microsoft.com/office/drawing/2014/main" id="{93A3E6EC-5B31-4ECF-B087-093B0AB03AF9}"/>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Earlier ideal broad reference, three target gases and zero persistent calibration residual</a:t>
            </a:r>
          </a:p>
        </p:txBody>
      </p:sp>
      <p:graphicFrame>
        <p:nvGraphicFramePr>
          <p:cNvPr id="15"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5127401"/>
                <a:gridCol w="2563701"/>
                <a:gridCol w="2929944"/>
                <a:gridCol w="3247354"/>
              </a:tblGrid>
              <a:tr h="1346200">
                <a:tc>
                  <a:txBody>
                    <a:bodyPr/>
                    <a:lstStyle/>
                    <a:p>
                      <a:r>
                        <a:rPr sz="1950" b="1">
                          <a:solidFill>
                            <a:srgbClr val="FFFFFF"/>
                          </a:solidFill>
                          <a:latin typeface="Arial"/>
                          <a:ea typeface="Arial"/>
                          <a:cs typeface="Arial"/>
                        </a:rPr>
                        <a:t>Historical control</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Pilots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Payload M2M4</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Reference assumption</a:t>
                      </a:r>
                    </a:p>
                  </a:txBody>
                  <a:tcPr marL="114300" marR="114300" marT="57150" marB="57150" anchor="ctr">
                    <a:solidFill>
                      <a:srgbClr val="153246"/>
                    </a:solidFill>
                  </a:tcPr>
                </a:tc>
              </a:tr>
              <a:tr h="1346200">
                <a:tc>
                  <a:txBody>
                    <a:bodyPr/>
                    <a:lstStyle/>
                    <a:p>
                      <a:r>
                        <a:rPr sz="1950" b="0">
                          <a:solidFill>
                            <a:srgbClr val="153246"/>
                          </a:solidFill>
                          <a:latin typeface="Arial"/>
                          <a:ea typeface="Arial"/>
                          <a:cs typeface="Arial"/>
                        </a:rPr>
                        <a:t>CH₃CN, 1 µg/m³, 10 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0.460%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99.955%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Exactly known reference</a:t>
                      </a:r>
                    </a:p>
                  </a:txBody>
                  <a:tcPr marL="114300" marR="114300" marT="57150" marB="57150" anchor="ctr">
                    <a:solidFill>
                      <a:srgbClr val="F0F5F7"/>
                    </a:solidFill>
                  </a:tcPr>
                </a:tc>
              </a:tr>
              <a:tr h="1346200">
                <a:tc>
                  <a:txBody>
                    <a:bodyPr/>
                    <a:lstStyle/>
                    <a:p>
                      <a:r>
                        <a:rPr sz="1950" b="0">
                          <a:solidFill>
                            <a:srgbClr val="153246"/>
                          </a:solidFill>
                          <a:latin typeface="Arial"/>
                          <a:ea typeface="Arial"/>
                          <a:cs typeface="Arial"/>
                        </a:rPr>
                        <a:t>CH₃CN, 1 µg/m³, 20 s total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0.380% recall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93.800% recall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10 s independent reference + 10 s sample</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FA83896-A879-44EC-A98D-25CFE0C32443}"/>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Pilot samples per frame</a:t>
            </a:r>
          </a:p>
        </p:txBody>
      </p:sp>
      <p:sp>
        <p:nvSpPr>
          <p:cNvPr id="5" name="">
            <a:extLst xmlns:a="http://schemas.openxmlformats.org/drawingml/2006/main">
              <a:ext uri="{FF2B5EF4-FFF2-40B4-BE49-F238E27FC236}">
                <a16:creationId xmlns:a16="http://schemas.microsoft.com/office/drawing/2014/main" id="{E506C07F-5634-45FE-B8F6-E886FD8ACC25}"/>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CE6832A6-90B3-4B91-9099-435E1A7FD4EF}"/>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Total symbols per frame</a:t>
            </a:r>
          </a:p>
        </p:txBody>
      </p:sp>
      <p:sp>
        <p:nvSpPr>
          <p:cNvPr id="7" name="">
            <a:extLst xmlns:a="http://schemas.openxmlformats.org/drawingml/2006/main">
              <a:ext uri="{FF2B5EF4-FFF2-40B4-BE49-F238E27FC236}">
                <a16:creationId xmlns:a16="http://schemas.microsoft.com/office/drawing/2014/main" id="{D58A2AAB-BF3F-499C-8619-83B00BA4D026}"/>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8" name="">
            <a:extLst xmlns:a="http://schemas.openxmlformats.org/drawingml/2006/main">
              <a:ext uri="{FF2B5EF4-FFF2-40B4-BE49-F238E27FC236}">
                <a16:creationId xmlns:a16="http://schemas.microsoft.com/office/drawing/2014/main" id="{58175FA2-389F-4035-9DFC-06BF789C0F20}"/>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Old physical architecture</a:t>
            </a:r>
          </a:p>
        </p:txBody>
      </p:sp>
      <p:sp>
        <p:nvSpPr>
          <p:cNvPr id="9" name="">
            <a:extLst xmlns:a="http://schemas.openxmlformats.org/drawingml/2006/main">
              <a:ext uri="{FF2B5EF4-FFF2-40B4-BE49-F238E27FC236}">
                <a16:creationId xmlns:a16="http://schemas.microsoft.com/office/drawing/2014/main" id="{79170668-1C68-47AA-9B58-50BC1FC624EA}"/>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Ideal simultaneous broad bands</a:t>
            </a:r>
          </a:p>
        </p:txBody>
      </p:sp>
      <p:sp>
        <p:nvSpPr>
          <p:cNvPr id="10" name="">
            <a:extLst xmlns:a="http://schemas.openxmlformats.org/drawingml/2006/main">
              <a:ext uri="{FF2B5EF4-FFF2-40B4-BE49-F238E27FC236}">
                <a16:creationId xmlns:a16="http://schemas.microsoft.com/office/drawing/2014/main" id="{3E0BCA80-6255-41DA-9C2D-F2B7325705D8}"/>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Payload moments recover information that sparse pilot-only sensing discards.</a:t>
            </a:r>
          </a:p>
        </p:txBody>
      </p:sp>
      <p:sp>
        <p:nvSpPr>
          <p:cNvPr id="11" name="">
            <a:extLst xmlns:a="http://schemas.openxmlformats.org/drawingml/2006/main">
              <a:ext uri="{FF2B5EF4-FFF2-40B4-BE49-F238E27FC236}">
                <a16:creationId xmlns:a16="http://schemas.microsoft.com/office/drawing/2014/main" id="{5EA22B6B-13C4-418A-9CFD-35140B852741}"/>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ideal broad architecture and zero residual assumption prevent direct transfer to deployed hardware.</a:t>
            </a:r>
          </a:p>
        </p:txBody>
      </p:sp>
      <p:sp>
        <p:nvSpPr>
          <p:cNvPr id="12" name="">
            <a:extLst xmlns:a="http://schemas.openxmlformats.org/drawingml/2006/main">
              <a:ext uri="{FF2B5EF4-FFF2-40B4-BE49-F238E27FC236}">
                <a16:creationId xmlns:a16="http://schemas.microsoft.com/office/drawing/2014/main" id="{1B564CC4-0ED8-4FBE-B165-5C15056A283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21</a:t>
            </a:r>
          </a:p>
        </p:txBody>
      </p:sp>
    </p:spTree>
    <p:extLst>
      <p:ext uri="{BB962C8B-B14F-4D97-AF65-F5344CB8AC3E}">
        <p14:creationId xmlns:p14="http://schemas.microsoft.com/office/powerpoint/2010/main" val="134885304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0014C48-94DF-4687-BC2C-24A5AAD98A64}"/>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Detection gains are species dependent</a:t>
            </a:r>
          </a:p>
        </p:txBody>
      </p:sp>
      <p:sp>
        <p:nvSpPr>
          <p:cNvPr id="2" name="">
            <a:extLst xmlns:a="http://schemas.openxmlformats.org/drawingml/2006/main">
              <a:ext uri="{FF2B5EF4-FFF2-40B4-BE49-F238E27FC236}">
                <a16:creationId xmlns:a16="http://schemas.microsoft.com/office/drawing/2014/main" id="{5D4A3D3A-F55F-486A-BB9E-ABA55BBDEFAA}"/>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20 s total, assumed 0.0001 dB residual, selected bands and standard atmosphere at 45°</a:t>
            </a:r>
          </a:p>
        </p:txBody>
      </p:sp>
      <p:graphicFrame>
        <p:nvGraphicFramePr>
          <p:cNvPr id="15"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2190750"/>
                <a:gridCol w="1666875"/>
                <a:gridCol w="1666875"/>
                <a:gridCol w="1714500"/>
                <a:gridCol w="1952625"/>
                <a:gridCol w="2476500"/>
                <a:gridCol w="2200275"/>
              </a:tblGrid>
              <a:tr h="673100">
                <a:tc>
                  <a:txBody>
                    <a:bodyPr/>
                    <a:lstStyle/>
                    <a:p>
                      <a:r>
                        <a:rPr sz="1950" b="1">
                          <a:solidFill>
                            <a:srgbClr val="FFFFFF"/>
                          </a:solidFill>
                          <a:latin typeface="Arial"/>
                          <a:ea typeface="Arial"/>
                          <a:cs typeface="Arial"/>
                        </a:rPr>
                        <a:t>Gas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Recall at 1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Misses at 1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c95 µg/m³</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Recall at c95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95% CI at c95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RMSE at c95 (%)</a:t>
                      </a:r>
                    </a:p>
                  </a:txBody>
                  <a:tcPr marL="114300" marR="114300" marT="57150" marB="57150" anchor="ctr">
                    <a:solidFill>
                      <a:srgbClr val="153246"/>
                    </a:solidFill>
                  </a:tcPr>
                </a:tc>
              </a:tr>
              <a:tr h="673100">
                <a:tc>
                  <a:txBody>
                    <a:bodyPr/>
                    <a:lstStyle/>
                    <a:p>
                      <a:r>
                        <a:rPr sz="1950" b="0">
                          <a:solidFill>
                            <a:srgbClr val="153246"/>
                          </a:solidFill>
                          <a:latin typeface="Arial"/>
                          <a:ea typeface="Arial"/>
                          <a:cs typeface="Arial"/>
                        </a:rPr>
                        <a:t>Formaldehyde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0.77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99.23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7.846</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21.14</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Methanol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0.75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99.25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8.838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21.24</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Acetonitrile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97.67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2.33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0.927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21.49</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Chloromethane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3.58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96.42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3.918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94.72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94.26–95.15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21.64</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Formic acid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0.16</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99.84</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30.550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94.85</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94.40–95.28</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21.55</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D4057A52-2F5E-4CC8-9B18-5B8E12616EEB}"/>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Positive / null trials</a:t>
            </a:r>
          </a:p>
        </p:txBody>
      </p:sp>
      <p:sp>
        <p:nvSpPr>
          <p:cNvPr id="5" name="">
            <a:extLst xmlns:a="http://schemas.openxmlformats.org/drawingml/2006/main">
              <a:ext uri="{FF2B5EF4-FFF2-40B4-BE49-F238E27FC236}">
                <a16:creationId xmlns:a16="http://schemas.microsoft.com/office/drawing/2014/main" id="{A78A33FF-D247-487A-9FC5-3C920DBF0850}"/>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 / 10,000</a:t>
            </a:r>
          </a:p>
        </p:txBody>
      </p:sp>
      <p:sp>
        <p:nvSpPr>
          <p:cNvPr id="6" name="">
            <a:extLst xmlns:a="http://schemas.openxmlformats.org/drawingml/2006/main">
              <a:ext uri="{FF2B5EF4-FFF2-40B4-BE49-F238E27FC236}">
                <a16:creationId xmlns:a16="http://schemas.microsoft.com/office/drawing/2014/main" id="{1B0C093A-4023-478F-92A2-D2BE00559DC5}"/>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Family false alarms</a:t>
            </a:r>
          </a:p>
        </p:txBody>
      </p:sp>
      <p:sp>
        <p:nvSpPr>
          <p:cNvPr id="7" name="">
            <a:extLst xmlns:a="http://schemas.openxmlformats.org/drawingml/2006/main">
              <a:ext uri="{FF2B5EF4-FFF2-40B4-BE49-F238E27FC236}">
                <a16:creationId xmlns:a16="http://schemas.microsoft.com/office/drawing/2014/main" id="{1B994784-C06E-483B-A879-48BA89C9A88C}"/>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0.79%</a:t>
            </a:r>
          </a:p>
        </p:txBody>
      </p:sp>
      <p:sp>
        <p:nvSpPr>
          <p:cNvPr id="8" name="">
            <a:extLst xmlns:a="http://schemas.openxmlformats.org/drawingml/2006/main">
              <a:ext uri="{FF2B5EF4-FFF2-40B4-BE49-F238E27FC236}">
                <a16:creationId xmlns:a16="http://schemas.microsoft.com/office/drawing/2014/main" id="{7EBBE90D-7DF4-4894-81D5-AF62FBA08DAD}"/>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Relative RMSE at 95% points</a:t>
            </a:r>
          </a:p>
        </p:txBody>
      </p:sp>
      <p:sp>
        <p:nvSpPr>
          <p:cNvPr id="9" name="">
            <a:extLst xmlns:a="http://schemas.openxmlformats.org/drawingml/2006/main">
              <a:ext uri="{FF2B5EF4-FFF2-40B4-BE49-F238E27FC236}">
                <a16:creationId xmlns:a16="http://schemas.microsoft.com/office/drawing/2014/main" id="{26068100-2C30-4E0E-B0C6-CDA97394CC14}"/>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Approximately 21%</a:t>
            </a:r>
          </a:p>
        </p:txBody>
      </p:sp>
      <p:sp>
        <p:nvSpPr>
          <p:cNvPr id="10" name="">
            <a:extLst xmlns:a="http://schemas.openxmlformats.org/drawingml/2006/main">
              <a:ext uri="{FF2B5EF4-FFF2-40B4-BE49-F238E27FC236}">
                <a16:creationId xmlns:a16="http://schemas.microsoft.com/office/drawing/2014/main" id="{8230C67D-4779-4EB0-81C3-736EF799530B}"/>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Acetonitrile reaches 97.67% recall at 1 µg/m³. Other gases require higher concentrations.</a:t>
            </a:r>
          </a:p>
        </p:txBody>
      </p:sp>
      <p:sp>
        <p:nvSpPr>
          <p:cNvPr id="11" name="">
            <a:extLst xmlns:a="http://schemas.openxmlformats.org/drawingml/2006/main">
              <a:ext uri="{FF2B5EF4-FFF2-40B4-BE49-F238E27FC236}">
                <a16:creationId xmlns:a16="http://schemas.microsoft.com/office/drawing/2014/main" id="{711D74E0-AEA0-4892-8C86-34D91704CB08}"/>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These are simulated detection frequencies, not measured field performance or concentration accuracy.</a:t>
            </a:r>
          </a:p>
        </p:txBody>
      </p:sp>
      <p:sp>
        <p:nvSpPr>
          <p:cNvPr id="12" name="">
            <a:extLst xmlns:a="http://schemas.openxmlformats.org/drawingml/2006/main">
              <a:ext uri="{FF2B5EF4-FFF2-40B4-BE49-F238E27FC236}">
                <a16:creationId xmlns:a16="http://schemas.microsoft.com/office/drawing/2014/main" id="{257890EA-712B-4304-9E33-E43E5DAE4647}"/>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22</a:t>
            </a:r>
          </a:p>
        </p:txBody>
      </p:sp>
    </p:spTree>
    <p:extLst>
      <p:ext uri="{BB962C8B-B14F-4D97-AF65-F5344CB8AC3E}">
        <p14:creationId xmlns:p14="http://schemas.microsoft.com/office/powerpoint/2010/main" val="21455293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8659A9A-22A7-4ADB-B802-A2E548ABCF0B}"/>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4.1 · Lower bounds with nuisance parameters</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Likelihoods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QPSK and magnitude</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Unknown noise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Included</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Finite reference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Included</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Historical efficiency</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95.89–97.61%</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78E0EA3-FB3B-4463-8489-A6A08F5CFE94}"/>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Derived full QPSK and magnitude likelihood information with unknown signal power, noise power and finite reference uncertainty.</a:t>
            </a:r>
          </a:p>
        </p:txBody>
      </p:sp>
      <p:sp>
        <p:nvSpPr>
          <p:cNvPr id="4" name="">
            <a:extLst xmlns:a="http://schemas.openxmlformats.org/drawingml/2006/main">
              <a:ext uri="{FF2B5EF4-FFF2-40B4-BE49-F238E27FC236}">
                <a16:creationId xmlns:a16="http://schemas.microsoft.com/office/drawing/2014/main" id="{D855DCBC-1DEB-427C-AE83-0161196F7744}"/>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Profiled nuisance parameters before comparing the attainable concentration covariance with the estimator variance.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300fe8cfdaa49c5">
            <a:extLst>
              <a:ext uri="{96DAC541-7B7A-43D3-8B79-37D633B846F1}">
                <asvg:svgBlip xmlns:asvg="http://schemas.microsoft.com/office/drawing/2016/SVG/main" r:embed="Rf206ad85c4884823"/>
              </a:ext>
            </a:extLst>
          </a:blip>
          <a:stretch xmlns:a="http://schemas.openxmlformats.org/drawingml/2006/main"/>
        </p:blipFill>
        <p:spPr>
          <a:xfrm xmlns:a="http://schemas.openxmlformats.org/drawingml/2006/main">
            <a:off x="723900" y="3408426"/>
            <a:ext cx="4981400"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2E31B86-B801-4CCA-9BD6-5DE4261AAEFA}"/>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c denotes target concentration and η all nuisance parameters. The Schur complement accounts for their uncertainty.</a:t>
            </a:r>
          </a:p>
        </p:txBody>
      </p:sp>
      <p:sp>
        <p:nvSpPr>
          <p:cNvPr id="7" name="">
            <a:extLst xmlns:a="http://schemas.openxmlformats.org/drawingml/2006/main">
              <a:ext uri="{FF2B5EF4-FFF2-40B4-BE49-F238E27FC236}">
                <a16:creationId xmlns:a16="http://schemas.microsoft.com/office/drawing/2014/main" id="{D5C9B74B-D15E-4F09-B5CE-8949E47527D1}"/>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bound identifies when replacing the estimator offers little remaining gain.</a:t>
            </a:r>
          </a:p>
        </p:txBody>
      </p:sp>
      <p:sp>
        <p:nvSpPr>
          <p:cNvPr id="8" name="">
            <a:extLst xmlns:a="http://schemas.openxmlformats.org/drawingml/2006/main">
              <a:ext uri="{FF2B5EF4-FFF2-40B4-BE49-F238E27FC236}">
                <a16:creationId xmlns:a16="http://schemas.microsoft.com/office/drawing/2014/main" id="{F286D4C9-FC09-469A-93FE-97B0ACB9EDEC}"/>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bound is local and conditional on the likelihood, covariance and physical signatures.</a:t>
            </a:r>
          </a:p>
        </p:txBody>
      </p:sp>
      <p:sp>
        <p:nvSpPr>
          <p:cNvPr id="9" name="">
            <a:extLst xmlns:a="http://schemas.openxmlformats.org/drawingml/2006/main">
              <a:ext uri="{FF2B5EF4-FFF2-40B4-BE49-F238E27FC236}">
                <a16:creationId xmlns:a16="http://schemas.microsoft.com/office/drawing/2014/main" id="{EE621550-B90F-4173-895F-4043FEF0B964}"/>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6344E8CF-0029-4AA9-B611-9A60849C7C96}"/>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y: observed signal data</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θ: complete unknown parameter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p(y;θ): likelihood of the observations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 expectation under the assumed model</a:t>
            </a:r>
          </a:p>
        </p:txBody>
      </p:sp>
      <p:sp>
        <p:nvSpPr>
          <p:cNvPr id="11" name="">
            <a:extLst xmlns:a="http://schemas.openxmlformats.org/drawingml/2006/main">
              <a:ext uri="{FF2B5EF4-FFF2-40B4-BE49-F238E27FC236}">
                <a16:creationId xmlns:a16="http://schemas.microsoft.com/office/drawing/2014/main" id="{C86896AF-EC0D-4A54-99DC-1561590AF879}"/>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J_ab: Fisher information entry for θ_a, θ_b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target concentration vector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η: nuisance parameter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J_cc, J_cη, J_ηη: Fisher matrix blocks</a:t>
            </a:r>
          </a:p>
        </p:txBody>
      </p:sp>
      <p:sp>
        <p:nvSpPr>
          <p:cNvPr id="12" name="">
            <a:extLst xmlns:a="http://schemas.openxmlformats.org/drawingml/2006/main">
              <a:ext uri="{FF2B5EF4-FFF2-40B4-BE49-F238E27FC236}">
                <a16:creationId xmlns:a16="http://schemas.microsoft.com/office/drawing/2014/main" id="{1D13009E-6C18-439B-8D8F-7BB580C000A6}"/>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J_eff: information after nuisance profiling</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ĉ: estimated concentration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Cov(ĉ): estimator covariance, units (µg/m³)²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 matrix inverse, ⪰: covariance lower bound</a:t>
            </a:r>
          </a:p>
        </p:txBody>
      </p:sp>
      <p:sp>
        <p:nvSpPr>
          <p:cNvPr id="13" name="">
            <a:extLst xmlns:a="http://schemas.openxmlformats.org/drawingml/2006/main">
              <a:ext uri="{FF2B5EF4-FFF2-40B4-BE49-F238E27FC236}">
                <a16:creationId xmlns:a16="http://schemas.microsoft.com/office/drawing/2014/main" id="{8EF76DE4-57DE-4C4F-B4B6-D74BD09048F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23</a:t>
            </a:r>
          </a:p>
        </p:txBody>
      </p:sp>
    </p:spTree>
    <p:extLst>
      <p:ext uri="{BB962C8B-B14F-4D97-AF65-F5344CB8AC3E}">
        <p14:creationId xmlns:p14="http://schemas.microsoft.com/office/powerpoint/2010/main" val="52023945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9FB022B-A726-46F7-82B6-5DAE5A57CC4D}"/>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4.1 · M2M4 is already close to the bound</a:t>
            </a:r>
          </a:p>
        </p:txBody>
      </p:sp>
      <p:sp>
        <p:nvSpPr>
          <p:cNvPr id="2" name="">
            <a:extLst xmlns:a="http://schemas.openxmlformats.org/drawingml/2006/main">
              <a:ext uri="{FF2B5EF4-FFF2-40B4-BE49-F238E27FC236}">
                <a16:creationId xmlns:a16="http://schemas.microsoft.com/office/drawing/2014/main" id="{6E1034E8-8BB6-4483-A18C-7774F9C5ADAD}"/>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Historical broad reference, three target gases, 20 s total and zero extra calibration residual</a:t>
            </a:r>
          </a:p>
        </p:txBody>
      </p:sp>
      <p:graphicFrame>
        <p:nvGraphicFramePr>
          <p:cNvPr id="21" name=""/>
          <p:cNvGraphicFramePr/>
          <p:nvPr/>
        </p:nvGraphicFramePr>
        <p:xfrm>
          <a:off xmlns:a="http://schemas.openxmlformats.org/drawingml/2006/main" x="685800" y="2002536"/>
          <a:ext xmlns:a="http://schemas.openxmlformats.org/drawingml/2006/main" cx="13868400" cy="2061972"/>
        </p:xfrm>
        <a:graphic xmlns:a="http://schemas.openxmlformats.org/drawingml/2006/main">
          <a:graphicData uri="http://schemas.openxmlformats.org/drawingml/2006/table">
            <a:tbl>
              <a:tblPr/>
              <a:tblGrid>
                <a:gridCol w="4211794"/>
                <a:gridCol w="4883239"/>
                <a:gridCol w="4773367"/>
              </a:tblGrid>
              <a:tr h="515493">
                <a:tc>
                  <a:txBody>
                    <a:bodyPr/>
                    <a:lstStyle/>
                    <a:p>
                      <a:r>
                        <a:rPr sz="1599" b="1">
                          <a:solidFill>
                            <a:srgbClr val="FFFFFF"/>
                          </a:solidFill>
                          <a:latin typeface="Arial"/>
                          <a:ea typeface="Arial"/>
                          <a:cs typeface="Arial"/>
                        </a:rPr>
                        <a:t>Gas</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CRLB / M2M4 variance</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Historical 95% limit µg/m³</a:t>
                      </a:r>
                    </a:p>
                  </a:txBody>
                  <a:tcPr marL="114300" marR="114300" marT="57150" marB="57150" anchor="ctr">
                    <a:solidFill>
                      <a:srgbClr val="153246"/>
                    </a:solidFill>
                  </a:tcPr>
                </a:tc>
              </a:tr>
              <a:tr h="515493">
                <a:tc>
                  <a:txBody>
                    <a:bodyPr/>
                    <a:lstStyle/>
                    <a:p>
                      <a:r>
                        <a:rPr sz="1599" b="0">
                          <a:solidFill>
                            <a:srgbClr val="153246"/>
                          </a:solidFill>
                          <a:latin typeface="Arial"/>
                          <a:ea typeface="Arial"/>
                          <a:cs typeface="Arial"/>
                        </a:rPr>
                        <a:t>Formaldehyde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95.89%</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4.456</a:t>
                      </a:r>
                    </a:p>
                  </a:txBody>
                  <a:tcPr marL="114300" marR="114300" marT="57150" marB="57150" anchor="ctr">
                    <a:solidFill>
                      <a:srgbClr val="F0F5F7"/>
                    </a:solidFill>
                  </a:tcPr>
                </a:tc>
              </a:tr>
              <a:tr h="515493">
                <a:tc>
                  <a:txBody>
                    <a:bodyPr/>
                    <a:lstStyle/>
                    <a:p>
                      <a:r>
                        <a:rPr sz="1599" b="0">
                          <a:solidFill>
                            <a:srgbClr val="153246"/>
                          </a:solidFill>
                          <a:latin typeface="Arial"/>
                          <a:ea typeface="Arial"/>
                          <a:cs typeface="Arial"/>
                        </a:rPr>
                        <a:t>Methanol</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97.61%</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10.307</a:t>
                      </a:r>
                    </a:p>
                  </a:txBody>
                  <a:tcPr marL="114300" marR="114300" marT="57150" marB="57150" anchor="ctr">
                    <a:solidFill>
                      <a:srgbClr val="FFFFFF"/>
                    </a:solidFill>
                  </a:tcPr>
                </a:tc>
              </a:tr>
              <a:tr h="515493">
                <a:tc>
                  <a:txBody>
                    <a:bodyPr/>
                    <a:lstStyle/>
                    <a:p>
                      <a:r>
                        <a:rPr sz="1599" b="0">
                          <a:solidFill>
                            <a:srgbClr val="153246"/>
                          </a:solidFill>
                          <a:latin typeface="Arial"/>
                          <a:ea typeface="Arial"/>
                          <a:cs typeface="Arial"/>
                        </a:rPr>
                        <a:t>Acetonitrile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96.49%</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1.023</a:t>
                      </a:r>
                    </a:p>
                  </a:txBody>
                  <a:tcPr marL="114300" marR="114300" marT="57150" marB="57150" anchor="ctr">
                    <a:solidFill>
                      <a:srgbClr val="F0F5F7"/>
                    </a:solidFill>
                  </a:tcPr>
                </a:tc>
              </a:tr>
            </a:tbl>
          </a:graphicData>
        </a:graphic>
      </p:graphicFrame>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898b43cc1fd4423">
            <a:extLst>
              <a:ext uri="{96DAC541-7B7A-43D3-8B79-37D633B846F1}">
                <asvg:svgBlip xmlns:asvg="http://schemas.microsoft.com/office/drawing/2016/SVG/main" r:embed="R0ffb1221cc5343bf"/>
              </a:ext>
            </a:extLst>
          </a:blip>
          <a:stretch xmlns:a="http://schemas.openxmlformats.org/drawingml/2006/main"/>
        </p:blipFill>
        <p:spPr>
          <a:xfrm xmlns:a="http://schemas.openxmlformats.org/drawingml/2006/main">
            <a:off x="781050" y="4220718"/>
            <a:ext cx="3708103" cy="84353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9015033-0F9E-4471-B5CF-F69333221837}"/>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Values near 100% leave little improvement available from estimator replacement in this control.</a:t>
            </a:r>
          </a:p>
        </p:txBody>
      </p:sp>
      <p:sp>
        <p:nvSpPr>
          <p:cNvPr id="6" name="">
            <a:extLst xmlns:a="http://schemas.openxmlformats.org/drawingml/2006/main">
              <a:ext uri="{FF2B5EF4-FFF2-40B4-BE49-F238E27FC236}">
                <a16:creationId xmlns:a16="http://schemas.microsoft.com/office/drawing/2014/main" id="{BF9F4C8F-6A17-4095-9F49-35B70BFFBA1F}"/>
              </a:ext>
            </a:extLst>
          </p:cNvPr>
          <p:cNvSpPr>
            <a:spLocks xmlns:a="http://schemas.openxmlformats.org/drawingml/2006/main" noGrp="1"/>
          </p:cNvSpPr>
          <p:nvPr/>
        </p:nvSpPr>
        <p:spPr>
          <a:xfrm xmlns:a="http://schemas.openxmlformats.org/drawingml/2006/main">
            <a:off x="723900" y="6149912"/>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Historical output family</a:t>
            </a:r>
          </a:p>
        </p:txBody>
      </p:sp>
      <p:sp>
        <p:nvSpPr>
          <p:cNvPr id="7" name="">
            <a:extLst xmlns:a="http://schemas.openxmlformats.org/drawingml/2006/main">
              <a:ext uri="{FF2B5EF4-FFF2-40B4-BE49-F238E27FC236}">
                <a16:creationId xmlns:a16="http://schemas.microsoft.com/office/drawing/2014/main" id="{590E2108-0BA0-453D-AC20-7510C860CCE6}"/>
              </a:ext>
            </a:extLst>
          </p:cNvPr>
          <p:cNvSpPr>
            <a:spLocks xmlns:a="http://schemas.openxmlformats.org/drawingml/2006/main" noGrp="1"/>
          </p:cNvSpPr>
          <p:nvPr/>
        </p:nvSpPr>
        <p:spPr>
          <a:xfrm xmlns:a="http://schemas.openxmlformats.org/drawingml/2006/main">
            <a:off x="723900" y="6399848"/>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6</a:t>
            </a:r>
          </a:p>
        </p:txBody>
      </p:sp>
      <p:sp>
        <p:nvSpPr>
          <p:cNvPr id="8" name="">
            <a:extLst xmlns:a="http://schemas.openxmlformats.org/drawingml/2006/main">
              <a:ext uri="{FF2B5EF4-FFF2-40B4-BE49-F238E27FC236}">
                <a16:creationId xmlns:a16="http://schemas.microsoft.com/office/drawing/2014/main" id="{B9E1530C-FA9B-48ED-9995-0AB43946AB63}"/>
              </a:ext>
            </a:extLst>
          </p:cNvPr>
          <p:cNvSpPr>
            <a:spLocks xmlns:a="http://schemas.openxmlformats.org/drawingml/2006/main" noGrp="1"/>
          </p:cNvSpPr>
          <p:nvPr/>
        </p:nvSpPr>
        <p:spPr>
          <a:xfrm xmlns:a="http://schemas.openxmlformats.org/drawingml/2006/main">
            <a:off x="5311775" y="6149912"/>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Acquisition split</a:t>
            </a:r>
          </a:p>
        </p:txBody>
      </p:sp>
      <p:sp>
        <p:nvSpPr>
          <p:cNvPr id="9" name="">
            <a:extLst xmlns:a="http://schemas.openxmlformats.org/drawingml/2006/main">
              <a:ext uri="{FF2B5EF4-FFF2-40B4-BE49-F238E27FC236}">
                <a16:creationId xmlns:a16="http://schemas.microsoft.com/office/drawing/2014/main" id="{B61BBA76-6948-437B-A290-7214A06EC8F6}"/>
              </a:ext>
            </a:extLst>
          </p:cNvPr>
          <p:cNvSpPr>
            <a:spLocks xmlns:a="http://schemas.openxmlformats.org/drawingml/2006/main" noGrp="1"/>
          </p:cNvSpPr>
          <p:nvPr/>
        </p:nvSpPr>
        <p:spPr>
          <a:xfrm xmlns:a="http://schemas.openxmlformats.org/drawingml/2006/main">
            <a:off x="5311775" y="6399848"/>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10 s + 10 s</a:t>
            </a:r>
          </a:p>
        </p:txBody>
      </p:sp>
      <p:sp>
        <p:nvSpPr>
          <p:cNvPr id="10" name="">
            <a:extLst xmlns:a="http://schemas.openxmlformats.org/drawingml/2006/main">
              <a:ext uri="{FF2B5EF4-FFF2-40B4-BE49-F238E27FC236}">
                <a16:creationId xmlns:a16="http://schemas.microsoft.com/office/drawing/2014/main" id="{70B075EF-FC96-4763-9F34-5C11B4355301}"/>
              </a:ext>
            </a:extLst>
          </p:cNvPr>
          <p:cNvSpPr>
            <a:spLocks xmlns:a="http://schemas.openxmlformats.org/drawingml/2006/main" noGrp="1"/>
          </p:cNvSpPr>
          <p:nvPr/>
        </p:nvSpPr>
        <p:spPr>
          <a:xfrm xmlns:a="http://schemas.openxmlformats.org/drawingml/2006/main">
            <a:off x="9899650" y="6149912"/>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Calibration benchmark</a:t>
            </a:r>
          </a:p>
        </p:txBody>
      </p:sp>
      <p:sp>
        <p:nvSpPr>
          <p:cNvPr id="11" name="">
            <a:extLst xmlns:a="http://schemas.openxmlformats.org/drawingml/2006/main">
              <a:ext uri="{FF2B5EF4-FFF2-40B4-BE49-F238E27FC236}">
                <a16:creationId xmlns:a16="http://schemas.microsoft.com/office/drawing/2014/main" id="{04AC6795-F799-4DAD-BE8C-238875BA70A3}"/>
              </a:ext>
            </a:extLst>
          </p:cNvPr>
          <p:cNvSpPr>
            <a:spLocks xmlns:a="http://schemas.openxmlformats.org/drawingml/2006/main" noGrp="1"/>
          </p:cNvSpPr>
          <p:nvPr/>
        </p:nvSpPr>
        <p:spPr>
          <a:xfrm xmlns:a="http://schemas.openxmlformats.org/drawingml/2006/main">
            <a:off x="9899650" y="6399848"/>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Zero extra residual</a:t>
            </a:r>
          </a:p>
        </p:txBody>
      </p:sp>
      <p:sp>
        <p:nvSpPr>
          <p:cNvPr id="12" name="">
            <a:extLst xmlns:a="http://schemas.openxmlformats.org/drawingml/2006/main">
              <a:ext uri="{FF2B5EF4-FFF2-40B4-BE49-F238E27FC236}">
                <a16:creationId xmlns:a16="http://schemas.microsoft.com/office/drawing/2014/main" id="{AAA76B01-2980-4CEE-ABFE-B32331045D80}"/>
              </a:ext>
            </a:extLst>
          </p:cNvPr>
          <p:cNvSpPr>
            <a:spLocks xmlns:a="http://schemas.openxmlformats.org/drawingml/2006/main" noGrp="1"/>
          </p:cNvSpPr>
          <p:nvPr/>
        </p:nvSpPr>
        <p:spPr>
          <a:xfrm xmlns:a="http://schemas.openxmlformats.org/drawingml/2006/main">
            <a:off x="723900" y="5634419"/>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next substantial improvement came from frequency information and design.</a:t>
            </a:r>
          </a:p>
        </p:txBody>
      </p:sp>
      <p:sp>
        <p:nvSpPr>
          <p:cNvPr id="13" name="">
            <a:extLst xmlns:a="http://schemas.openxmlformats.org/drawingml/2006/main">
              <a:ext uri="{FF2B5EF4-FFF2-40B4-BE49-F238E27FC236}">
                <a16:creationId xmlns:a16="http://schemas.microsoft.com/office/drawing/2014/main" id="{2D0E612E-1BA7-49F8-AB01-628D1A1B0572}"/>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These historical bounds use a different architecture and target family from the current five-gas receiver.</a:t>
            </a:r>
          </a:p>
        </p:txBody>
      </p:sp>
      <p:sp>
        <p:nvSpPr>
          <p:cNvPr id="14" name="">
            <a:extLst xmlns:a="http://schemas.openxmlformats.org/drawingml/2006/main">
              <a:ext uri="{FF2B5EF4-FFF2-40B4-BE49-F238E27FC236}">
                <a16:creationId xmlns:a16="http://schemas.microsoft.com/office/drawing/2014/main" id="{C0735CC8-6FBD-46E8-954A-DFAE7B53AA91}"/>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5" name="">
            <a:extLst xmlns:a="http://schemas.openxmlformats.org/drawingml/2006/main">
              <a:ext uri="{FF2B5EF4-FFF2-40B4-BE49-F238E27FC236}">
                <a16:creationId xmlns:a16="http://schemas.microsoft.com/office/drawing/2014/main" id="{C499D309-CB4B-41B1-82E2-CE677317272B}"/>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Efficiency: lower bound / estimator variance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Displayed percentage = 100 × this ratio</a:t>
            </a:r>
          </a:p>
        </p:txBody>
      </p:sp>
      <p:sp>
        <p:nvSpPr>
          <p:cNvPr id="16" name="">
            <a:extLst xmlns:a="http://schemas.openxmlformats.org/drawingml/2006/main">
              <a:ext uri="{FF2B5EF4-FFF2-40B4-BE49-F238E27FC236}">
                <a16:creationId xmlns:a16="http://schemas.microsoft.com/office/drawing/2014/main" id="{67AD61AA-5709-4B6D-82D2-EE857770EFB7}"/>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Variance lower bound: conditional CRLB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CRLB: Cramér–Rao lower bound</a:t>
            </a:r>
          </a:p>
        </p:txBody>
      </p:sp>
      <p:sp>
        <p:nvSpPr>
          <p:cNvPr id="17" name="">
            <a:extLst xmlns:a="http://schemas.openxmlformats.org/drawingml/2006/main">
              <a:ext uri="{FF2B5EF4-FFF2-40B4-BE49-F238E27FC236}">
                <a16:creationId xmlns:a16="http://schemas.microsoft.com/office/drawing/2014/main" id="{6E3C02AD-2323-42AF-BE17-1B99D8A7315B}"/>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Estimator variance: variance of M2M4 output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Both variances use the same concentration units²</a:t>
            </a:r>
          </a:p>
        </p:txBody>
      </p:sp>
      <p:sp>
        <p:nvSpPr>
          <p:cNvPr id="18" name="">
            <a:extLst xmlns:a="http://schemas.openxmlformats.org/drawingml/2006/main">
              <a:ext uri="{FF2B5EF4-FFF2-40B4-BE49-F238E27FC236}">
                <a16:creationId xmlns:a16="http://schemas.microsoft.com/office/drawing/2014/main" id="{7F93DDEA-B840-4E5E-81FF-AA86A4575BB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24</a:t>
            </a:r>
          </a:p>
        </p:txBody>
      </p:sp>
    </p:spTree>
    <p:extLst>
      <p:ext uri="{BB962C8B-B14F-4D97-AF65-F5344CB8AC3E}">
        <p14:creationId xmlns:p14="http://schemas.microsoft.com/office/powerpoint/2010/main" val="156510655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BA2555E-5485-4C2F-A918-38E78C6674EC}"/>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4.2 · Time and calibration jointly set uncertainty</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Time grid</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 / 20 / 100 s</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Residual grid</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 / 0.0001 / 0.001 dB</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Noise-figure grid</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6 / 17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Calibration draws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Once per acquisition</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F4B55C3-0A67-43DB-8415-E5F32572C0B8}"/>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Recomputed the link, absorption, emission and target fit when weather, elevation, bands or receiver noise change.</a:t>
            </a:r>
          </a:p>
        </p:txBody>
      </p:sp>
      <p:sp>
        <p:nvSpPr>
          <p:cNvPr id="4" name="">
            <a:extLst xmlns:a="http://schemas.openxmlformats.org/drawingml/2006/main">
              <a:ext uri="{FF2B5EF4-FFF2-40B4-BE49-F238E27FC236}">
                <a16:creationId xmlns:a16="http://schemas.microsoft.com/office/drawing/2014/main" id="{3BCE2562-0192-4BD3-9B0A-35A6030F54D4}"/>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The latest common grid contains every VOC, PM2.5, coarse PM and PM10 in every operating condition.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053f48958a64ca7">
            <a:extLst>
              <a:ext uri="{96DAC541-7B7A-43D3-8B79-37D633B846F1}">
                <asvg:svgBlip xmlns:asvg="http://schemas.microsoft.com/office/drawing/2016/SVG/main" r:embed="Ra0bd742cfae14884"/>
              </a:ext>
            </a:extLst>
          </a:blip>
          <a:stretch xmlns:a="http://schemas.openxmlformats.org/drawingml/2006/main"/>
        </p:blipFill>
        <p:spPr>
          <a:xfrm xmlns:a="http://schemas.openxmlformats.org/drawingml/2006/main">
            <a:off x="723900" y="3408426"/>
            <a:ext cx="7075344"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519C388-A6E8-4DFD-ABB7-5DD65B49FE4F}"/>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Thermal variance decreases with retained symbols. The additional calibration residual persists through the acquisition.</a:t>
            </a:r>
          </a:p>
        </p:txBody>
      </p:sp>
      <p:sp>
        <p:nvSpPr>
          <p:cNvPr id="7" name="">
            <a:extLst xmlns:a="http://schemas.openxmlformats.org/drawingml/2006/main">
              <a:ext uri="{FF2B5EF4-FFF2-40B4-BE49-F238E27FC236}">
                <a16:creationId xmlns:a16="http://schemas.microsoft.com/office/drawing/2014/main" id="{C4737B59-3745-47DE-AC22-1A4A7B7AD76E}"/>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More time helps until persistent calibration error dominates.</a:t>
            </a:r>
          </a:p>
        </p:txBody>
      </p:sp>
      <p:sp>
        <p:nvSpPr>
          <p:cNvPr id="8" name="">
            <a:extLst xmlns:a="http://schemas.openxmlformats.org/drawingml/2006/main">
              <a:ext uri="{FF2B5EF4-FFF2-40B4-BE49-F238E27FC236}">
                <a16:creationId xmlns:a16="http://schemas.microsoft.com/office/drawing/2014/main" id="{9AF30A20-C1EC-4A95-8213-15F352ADE6E6}"/>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10 GHz correlation length and each calibration standard deviation remain unmeasured assumptions.</a:t>
            </a:r>
          </a:p>
        </p:txBody>
      </p:sp>
      <p:sp>
        <p:nvSpPr>
          <p:cNvPr id="9" name="">
            <a:extLst xmlns:a="http://schemas.openxmlformats.org/drawingml/2006/main">
              <a:ext uri="{FF2B5EF4-FFF2-40B4-BE49-F238E27FC236}">
                <a16:creationId xmlns:a16="http://schemas.microsoft.com/office/drawing/2014/main" id="{A6FD0E85-6E3B-483E-BBFE-8F7C660112C3}"/>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AF650C60-9DD1-48F1-A7D8-A8CD77381C54}"/>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attenuation covariance matrix (dB²)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 total reference plus sample time (s)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 / 2: time assigned to each observation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V_sample, V_reference: variance vectors (dB²)</a:t>
            </a:r>
          </a:p>
        </p:txBody>
      </p:sp>
      <p:sp>
        <p:nvSpPr>
          <p:cNvPr id="11" name="">
            <a:extLst xmlns:a="http://schemas.openxmlformats.org/drawingml/2006/main">
              <a:ext uri="{FF2B5EF4-FFF2-40B4-BE49-F238E27FC236}">
                <a16:creationId xmlns:a16="http://schemas.microsoft.com/office/drawing/2014/main" id="{A427C532-8970-45DF-966F-2E2255AB03CC}"/>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diag: diagonal matrix built from a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σ_cal: persistent residual standard deviation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dimensionless spectral correlation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K_ij: correlation of frequency bins i and j</a:t>
            </a:r>
          </a:p>
        </p:txBody>
      </p:sp>
      <p:sp>
        <p:nvSpPr>
          <p:cNvPr id="12" name="">
            <a:extLst xmlns:a="http://schemas.openxmlformats.org/drawingml/2006/main">
              <a:ext uri="{FF2B5EF4-FFF2-40B4-BE49-F238E27FC236}">
                <a16:creationId xmlns:a16="http://schemas.microsoft.com/office/drawing/2014/main" id="{226FB536-B853-43AC-8E5A-328DD7F868EC}"/>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ν_i, ν_j: bin frequencies in matching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10 GHz: assumed spectral correlation length</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 exponential function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σ_cal² K: persistent covariance contribution</a:t>
            </a:r>
          </a:p>
        </p:txBody>
      </p:sp>
      <p:sp>
        <p:nvSpPr>
          <p:cNvPr id="13" name="">
            <a:extLst xmlns:a="http://schemas.openxmlformats.org/drawingml/2006/main">
              <a:ext uri="{FF2B5EF4-FFF2-40B4-BE49-F238E27FC236}">
                <a16:creationId xmlns:a16="http://schemas.microsoft.com/office/drawing/2014/main" id="{66ECDA4C-4ED1-4DE2-9B0E-FB3891E8AE1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25</a:t>
            </a:r>
          </a:p>
        </p:txBody>
      </p:sp>
    </p:spTree>
    <p:extLst>
      <p:ext uri="{BB962C8B-B14F-4D97-AF65-F5344CB8AC3E}">
        <p14:creationId xmlns:p14="http://schemas.microsoft.com/office/powerpoint/2010/main" val="72571208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49F290-B271-4C9D-9A4E-A2B551E4E524}"/>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246"/>
                </a:solidFill>
                <a:latin typeface="Arial"/>
                <a:ea typeface="Arial"/>
                <a:cs typeface="Arial"/>
              </a:defRPr>
            </a:pPr>
            <a:r>
              <a:rPr sz="3150" b="1">
                <a:solidFill>
                  <a:srgbClr val="153246"/>
                </a:solidFill>
                <a:latin typeface="Arial"/>
                <a:ea typeface="Arial"/>
                <a:cs typeface="Arial"/>
              </a:rPr>
              <a:t>Task 4.2 · Longer time cannot remove calibration error</a:t>
            </a:r>
          </a:p>
        </p:txBody>
      </p:sp>
      <p:sp>
        <p:nvSpPr>
          <p:cNvPr id="2" name="">
            <a:extLst xmlns:a="http://schemas.openxmlformats.org/drawingml/2006/main">
              <a:ext uri="{FF2B5EF4-FFF2-40B4-BE49-F238E27FC236}">
                <a16:creationId xmlns:a16="http://schemas.microsoft.com/office/drawing/2014/main" id="{03BDC8CE-EFCE-4D61-B232-F7C1AD4564CC}"/>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Acetonitrile at 1 µg/m³, selected bands, standard atmosphere at 45°</a:t>
            </a:r>
          </a:p>
        </p:txBody>
      </p:sp>
      <p:graphicFrame>
        <p:nvGraphicFramePr>
          <p:cNvPr id="10" name="Chart"/>
          <p:cNvGraphicFramePr/>
          <p:nvPr/>
        </p:nvGraphicFramePr>
        <p:xfrm>
          <a:off xmlns:a="http://schemas.openxmlformats.org/drawingml/2006/main" x="666750" y="2076450"/>
          <a:ext xmlns:a="http://schemas.openxmlformats.org/drawingml/2006/main" cx="9810750" cy="3829050"/>
        </p:xfrm>
        <a:graphic xmlns:a="http://schemas.openxmlformats.org/drawingml/2006/main">
          <a:graphicData uri="http://schemas.openxmlformats.org/drawingml/2006/chart">
            <c:chart xmlns:r="http://schemas.openxmlformats.org/officeDocument/2006/relationships" xmlns:c="http://schemas.openxmlformats.org/drawingml/2006/chart" r:id="R9e1f506816a64049"/>
          </a:graphicData>
        </a:graphic>
      </p:graphicFrame>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20 s, 0 dB</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99.28% recall</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20 s, 0.0001 dB</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97.67% recall</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20 s, 0.001 dB</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4.36% recall</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100 s, 0.001 dB</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5.05% recall</a:t>
                      </a:r>
                    </a:p>
                  </a:txBody>
                  <a:tcPr marL="114300" marR="11430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1CCD436-52F2-4B25-8BAC-9E29237BDD80}"/>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At 0.001 dB, recall is only 4.36% at 20 s and 5.05% at 100 s.</a:t>
            </a:r>
          </a:p>
        </p:txBody>
      </p:sp>
      <p:sp>
        <p:nvSpPr>
          <p:cNvPr id="6" name="">
            <a:extLst xmlns:a="http://schemas.openxmlformats.org/drawingml/2006/main">
              <a:ext uri="{FF2B5EF4-FFF2-40B4-BE49-F238E27FC236}">
                <a16:creationId xmlns:a16="http://schemas.microsoft.com/office/drawing/2014/main" id="{AB4903B8-7B2C-4624-A115-214D5A33E610}"/>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Zero and nonzero residuals are sensitivity assumptions. No receiver stability measurement establishes them.</a:t>
            </a:r>
          </a:p>
        </p:txBody>
      </p:sp>
      <p:sp>
        <p:nvSpPr>
          <p:cNvPr id="7" name="">
            <a:extLst xmlns:a="http://schemas.openxmlformats.org/drawingml/2006/main">
              <a:ext uri="{FF2B5EF4-FFF2-40B4-BE49-F238E27FC236}">
                <a16:creationId xmlns:a16="http://schemas.microsoft.com/office/drawing/2014/main" id="{7FF5C276-974D-4877-8A63-E1662E0D9CE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26</a:t>
            </a:r>
          </a:p>
        </p:txBody>
      </p:sp>
    </p:spTree>
    <p:extLst>
      <p:ext uri="{BB962C8B-B14F-4D97-AF65-F5344CB8AC3E}">
        <p14:creationId xmlns:p14="http://schemas.microsoft.com/office/powerpoint/2010/main" val="159967726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F15B0A2-BA50-42AA-8E40-3DD136338770}"/>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4.2 · PM shares the full global comparison</a:t>
            </a:r>
          </a:p>
        </p:txBody>
      </p:sp>
      <p:graphicFrame>
        <p:nvGraphicFramePr>
          <p:cNvPr id="13"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5981968"/>
                <a:gridCol w="7886432"/>
              </a:tblGrid>
              <a:tr h="620486">
                <a:tc>
                  <a:txBody>
                    <a:bodyPr/>
                    <a:lstStyle/>
                    <a:p>
                      <a:r>
                        <a:rPr sz="1950" b="1">
                          <a:solidFill>
                            <a:srgbClr val="FFFFFF"/>
                          </a:solidFill>
                          <a:latin typeface="Arial"/>
                          <a:ea typeface="Arial"/>
                          <a:cs typeface="Arial"/>
                        </a:rPr>
                        <a:t>Variable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Compared settings</a:t>
                      </a:r>
                    </a:p>
                  </a:txBody>
                  <a:tcPr marL="114300" marR="114300" marT="57150" marB="57150" anchor="ctr">
                    <a:solidFill>
                      <a:srgbClr val="153246"/>
                    </a:solidFill>
                  </a:tcPr>
                </a:tc>
              </a:tr>
              <a:tr h="620486">
                <a:tc>
                  <a:txBody>
                    <a:bodyPr/>
                    <a:lstStyle/>
                    <a:p>
                      <a:r>
                        <a:rPr sz="1950" b="0">
                          <a:solidFill>
                            <a:srgbClr val="153246"/>
                          </a:solidFill>
                          <a:latin typeface="Arial"/>
                          <a:ea typeface="Arial"/>
                          <a:cs typeface="Arial"/>
                        </a:rPr>
                        <a:t>Frequency plan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Uniform and selected sixteen-block schedules</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Atmosphere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Standard and January sounding</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Elevation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30°, 45°, 60°, 90°</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Reference + sample time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 s, 20 s, 100 s</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Assumed calibration residual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 0.0001, 0.001 dB</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Receiver noise figure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6 dB and 17 dB</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D55A29C-397B-4999-B424-4030DBA87076}"/>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Common result rows</a:t>
            </a:r>
          </a:p>
        </p:txBody>
      </p:sp>
      <p:sp>
        <p:nvSpPr>
          <p:cNvPr id="4" name="">
            <a:extLst xmlns:a="http://schemas.openxmlformats.org/drawingml/2006/main">
              <a:ext uri="{FF2B5EF4-FFF2-40B4-BE49-F238E27FC236}">
                <a16:creationId xmlns:a16="http://schemas.microsoft.com/office/drawing/2014/main" id="{3DA8DB7C-EB99-4449-A2DE-14560BE61772}"/>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2,304</a:t>
            </a:r>
          </a:p>
        </p:txBody>
      </p:sp>
      <p:sp>
        <p:nvSpPr>
          <p:cNvPr id="5" name="">
            <a:extLst xmlns:a="http://schemas.openxmlformats.org/drawingml/2006/main">
              <a:ext uri="{FF2B5EF4-FFF2-40B4-BE49-F238E27FC236}">
                <a16:creationId xmlns:a16="http://schemas.microsoft.com/office/drawing/2014/main" id="{5EB4C6C6-8C17-4167-A4E0-E9C243EF580F}"/>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Rejected settings</a:t>
            </a:r>
          </a:p>
        </p:txBody>
      </p:sp>
      <p:sp>
        <p:nvSpPr>
          <p:cNvPr id="6" name="">
            <a:extLst xmlns:a="http://schemas.openxmlformats.org/drawingml/2006/main">
              <a:ext uri="{FF2B5EF4-FFF2-40B4-BE49-F238E27FC236}">
                <a16:creationId xmlns:a16="http://schemas.microsoft.com/office/drawing/2014/main" id="{30951A27-2375-44BA-9838-06F3C250D9A1}"/>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Standard, 30°, NF 17 dB</a:t>
            </a:r>
          </a:p>
        </p:txBody>
      </p:sp>
      <p:sp>
        <p:nvSpPr>
          <p:cNvPr id="7" name="">
            <a:extLst xmlns:a="http://schemas.openxmlformats.org/drawingml/2006/main">
              <a:ext uri="{FF2B5EF4-FFF2-40B4-BE49-F238E27FC236}">
                <a16:creationId xmlns:a16="http://schemas.microsoft.com/office/drawing/2014/main" id="{47CD9F24-81C2-47E2-A4F4-FF40AA311AEA}"/>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PM predicted recall</a:t>
            </a:r>
          </a:p>
        </p:txBody>
      </p:sp>
      <p:sp>
        <p:nvSpPr>
          <p:cNvPr id="8" name="">
            <a:extLst xmlns:a="http://schemas.openxmlformats.org/drawingml/2006/main">
              <a:ext uri="{FF2B5EF4-FFF2-40B4-BE49-F238E27FC236}">
                <a16:creationId xmlns:a16="http://schemas.microsoft.com/office/drawing/2014/main" id="{BEA737E7-271B-419C-AFCE-1A2BFCC7E10A}"/>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Approximately 0.125%</a:t>
            </a:r>
          </a:p>
        </p:txBody>
      </p:sp>
      <p:sp>
        <p:nvSpPr>
          <p:cNvPr id="9" name="">
            <a:extLst xmlns:a="http://schemas.openxmlformats.org/drawingml/2006/main">
              <a:ext uri="{FF2B5EF4-FFF2-40B4-BE49-F238E27FC236}">
                <a16:creationId xmlns:a16="http://schemas.microsoft.com/office/drawing/2014/main" id="{C28A0887-34F3-4B13-A38C-AEE43078A7DD}"/>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288 conditions × 8 outputs = 2,304 rows. Each output has 270 computed and 18 rejected conditions.</a:t>
            </a:r>
          </a:p>
        </p:txBody>
      </p:sp>
      <p:sp>
        <p:nvSpPr>
          <p:cNvPr id="10" name="">
            <a:extLst xmlns:a="http://schemas.openxmlformats.org/drawingml/2006/main">
              <a:ext uri="{FF2B5EF4-FFF2-40B4-BE49-F238E27FC236}">
                <a16:creationId xmlns:a16="http://schemas.microsoft.com/office/drawing/2014/main" id="{287592B6-FFC6-47CD-9732-4047D9A57B9B}"/>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No valid 95% response limit for PM2.5 or PM10 anywhere in this grid.</a:t>
            </a:r>
          </a:p>
        </p:txBody>
      </p:sp>
      <p:sp>
        <p:nvSpPr>
          <p:cNvPr id="11" name="">
            <a:extLst xmlns:a="http://schemas.openxmlformats.org/drawingml/2006/main">
              <a:ext uri="{FF2B5EF4-FFF2-40B4-BE49-F238E27FC236}">
                <a16:creationId xmlns:a16="http://schemas.microsoft.com/office/drawing/2014/main" id="{FD8A8787-45F3-46A6-A6BA-99F3833091FE}"/>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27</a:t>
            </a:r>
          </a:p>
        </p:txBody>
      </p:sp>
    </p:spTree>
    <p:extLst>
      <p:ext uri="{BB962C8B-B14F-4D97-AF65-F5344CB8AC3E}">
        <p14:creationId xmlns:p14="http://schemas.microsoft.com/office/powerpoint/2010/main" val="162799799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E014033-C49F-4DA8-AF7A-79A9F0B78E0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Detection limits and percentage definitions</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One-sided target α</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0.01 / 8 = 0.00125</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Null threshold z</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Approximately 3.023</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Positive power target</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95%</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Absorption cap</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 dB</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F963A6F-389A-4D42-B401-756146840613}"/>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Fixed a 1% family false-alarm budget across eight outputs before observing outcomes.</a:t>
            </a:r>
          </a:p>
        </p:txBody>
      </p:sp>
      <p:sp>
        <p:nvSpPr>
          <p:cNvPr id="4" name="">
            <a:extLst xmlns:a="http://schemas.openxmlformats.org/drawingml/2006/main">
              <a:ext uri="{FF2B5EF4-FFF2-40B4-BE49-F238E27FC236}">
                <a16:creationId xmlns:a16="http://schemas.microsoft.com/office/drawing/2014/main" id="{23693647-BA58-4DAE-8754-BFFEF05618FC}"/>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Solved the concentration for nominal 95% power using positive-signal variance, then tested it with fresh simulated responses.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79ed0224ff24521">
            <a:extLst>
              <a:ext uri="{96DAC541-7B7A-43D3-8B79-37D633B846F1}">
                <asvg:svgBlip xmlns:asvg="http://schemas.microsoft.com/office/drawing/2016/SVG/main" r:embed="R8705cf34ff6b4041"/>
              </a:ext>
            </a:extLst>
          </a:blip>
          <a:stretch xmlns:a="http://schemas.openxmlformats.org/drawingml/2006/main"/>
        </p:blipFill>
        <p:spPr>
          <a:xfrm xmlns:a="http://schemas.openxmlformats.org/drawingml/2006/main">
            <a:off x="723900" y="3408426"/>
            <a:ext cx="5161409"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A1FBB75-2EC0-412A-9BF0-4BAE7F235F38}"/>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Positive absorption changes SNR and variance. The solution stays within at most 1 dB added absorption.</a:t>
            </a:r>
          </a:p>
        </p:txBody>
      </p:sp>
      <p:sp>
        <p:nvSpPr>
          <p:cNvPr id="7" name="">
            <a:extLst xmlns:a="http://schemas.openxmlformats.org/drawingml/2006/main">
              <a:ext uri="{FF2B5EF4-FFF2-40B4-BE49-F238E27FC236}">
                <a16:creationId xmlns:a16="http://schemas.microsoft.com/office/drawing/2014/main" id="{DD002A7B-E929-4507-AA47-0B136E2BE5CB}"/>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Reports include low recalls, missed detections, exact binomial intervals and concentration RMSE.</a:t>
            </a:r>
          </a:p>
        </p:txBody>
      </p:sp>
      <p:sp>
        <p:nvSpPr>
          <p:cNvPr id="8" name="">
            <a:extLst xmlns:a="http://schemas.openxmlformats.org/drawingml/2006/main">
              <a:ext uri="{FF2B5EF4-FFF2-40B4-BE49-F238E27FC236}">
                <a16:creationId xmlns:a16="http://schemas.microsoft.com/office/drawing/2014/main" id="{09BFC8AA-D193-4DD2-AAFF-CF8FF07F6F9B}"/>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95% detection power, a 95% confidence interval and 5% concentration error describe different quantities.</a:t>
            </a:r>
          </a:p>
        </p:txBody>
      </p:sp>
      <p:sp>
        <p:nvSpPr>
          <p:cNvPr id="9" name="">
            <a:extLst xmlns:a="http://schemas.openxmlformats.org/drawingml/2006/main">
              <a:ext uri="{FF2B5EF4-FFF2-40B4-BE49-F238E27FC236}">
                <a16:creationId xmlns:a16="http://schemas.microsoft.com/office/drawing/2014/main" id="{6870605B-EF04-4BA2-A59D-429065F33D64}"/>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8C8E44BE-58C5-4ACE-95F8-724340D16FD2}"/>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Φ⁻¹: inverse standard normal CDF</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dimensionless null detection threshold</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0.01: family false alarm probability budget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8: number of reported outputs</a:t>
            </a:r>
          </a:p>
        </p:txBody>
      </p:sp>
      <p:sp>
        <p:nvSpPr>
          <p:cNvPr id="11" name="">
            <a:extLst xmlns:a="http://schemas.openxmlformats.org/drawingml/2006/main">
              <a:ext uri="{FF2B5EF4-FFF2-40B4-BE49-F238E27FC236}">
                <a16:creationId xmlns:a16="http://schemas.microsoft.com/office/drawing/2014/main" id="{FA82F671-B2D7-4FA6-B8A2-35595E247729}"/>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ĉ_j: estimate for target j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s_null: standard deviation under the null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s_positive(c): standard deviation at mass c</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Both standard deviations use µg/m³</a:t>
            </a:r>
          </a:p>
        </p:txBody>
      </p:sp>
      <p:sp>
        <p:nvSpPr>
          <p:cNvPr id="12" name="">
            <a:extLst xmlns:a="http://schemas.openxmlformats.org/drawingml/2006/main">
              <a:ext uri="{FF2B5EF4-FFF2-40B4-BE49-F238E27FC236}">
                <a16:creationId xmlns:a16="http://schemas.microsoft.com/office/drawing/2014/main" id="{C90DE324-4DEF-4211-B08E-6EED6D9D0B16}"/>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c₉₅: concentration for 95% recall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1.64485: Φ⁻¹(0.95), a normal quantile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&gt;: target detection decision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variance depends on positive concentration</a:t>
            </a:r>
          </a:p>
        </p:txBody>
      </p:sp>
      <p:sp>
        <p:nvSpPr>
          <p:cNvPr id="13" name="">
            <a:extLst xmlns:a="http://schemas.openxmlformats.org/drawingml/2006/main">
              <a:ext uri="{FF2B5EF4-FFF2-40B4-BE49-F238E27FC236}">
                <a16:creationId xmlns:a16="http://schemas.microsoft.com/office/drawing/2014/main" id="{D85AE578-627C-492E-9C07-8E87A6BAACA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28</a:t>
            </a:r>
          </a:p>
        </p:txBody>
      </p:sp>
    </p:spTree>
    <p:extLst>
      <p:ext uri="{BB962C8B-B14F-4D97-AF65-F5344CB8AC3E}">
        <p14:creationId xmlns:p14="http://schemas.microsoft.com/office/powerpoint/2010/main" val="143138990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6535F1-BEDE-4436-BEA1-77585504E3AD}"/>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Every 95% limit needs time and calibration</a:t>
            </a:r>
          </a:p>
        </p:txBody>
      </p:sp>
      <p:sp>
        <p:nvSpPr>
          <p:cNvPr id="2" name="">
            <a:extLst xmlns:a="http://schemas.openxmlformats.org/drawingml/2006/main">
              <a:ext uri="{FF2B5EF4-FFF2-40B4-BE49-F238E27FC236}">
                <a16:creationId xmlns:a16="http://schemas.microsoft.com/office/drawing/2014/main" id="{052832CD-0C08-4437-8633-905EBECDA8A1}"/>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Nominal 95% response concentration in µg/m³, selected bands, standard atmosphere at 45°</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1526012"/>
                <a:gridCol w="2197458"/>
                <a:gridCol w="2026544"/>
                <a:gridCol w="2026544"/>
                <a:gridCol w="2038752"/>
                <a:gridCol w="2026544"/>
                <a:gridCol w="2026544"/>
              </a:tblGrid>
              <a:tr h="434340">
                <a:tc>
                  <a:txBody>
                    <a:bodyPr/>
                    <a:lstStyle/>
                    <a:p>
                      <a:r>
                        <a:rPr sz="1800" b="1">
                          <a:solidFill>
                            <a:srgbClr val="FFFFFF"/>
                          </a:solidFill>
                          <a:latin typeface="Arial"/>
                          <a:ea typeface="Arial"/>
                          <a:cs typeface="Arial"/>
                        </a:rPr>
                        <a:t>Total s</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Residual dB</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H₂CO</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CH₃OH</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CH₃CN</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CH₃Cl</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HCOOH</a:t>
                      </a:r>
                    </a:p>
                  </a:txBody>
                  <a:tcPr marL="114300" marR="114300" marT="57150" marB="57150" anchor="ctr">
                    <a:solidFill>
                      <a:srgbClr val="153246"/>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25.778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27.695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2.917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12.206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102.781</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25.862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27.911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2.938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12.309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102.894</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33.018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44.262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4.550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19.693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113.332</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7.568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8.131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0.856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3.584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30.171</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7.846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8.838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0.927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3.918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30.550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21.913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35.377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3.557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15.567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56.267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3.361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3.612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0.380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1.592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13.400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3.945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4.999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0.517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2.226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14.228</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20.826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34.603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3.468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15.192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49.310</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F73138EA-3059-456F-B374-48F5ECA232A0}"/>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20 s / 0.0001 dB</a:t>
            </a:r>
          </a:p>
        </p:txBody>
      </p:sp>
      <p:sp>
        <p:nvSpPr>
          <p:cNvPr id="5" name="">
            <a:extLst xmlns:a="http://schemas.openxmlformats.org/drawingml/2006/main">
              <a:ext uri="{FF2B5EF4-FFF2-40B4-BE49-F238E27FC236}">
                <a16:creationId xmlns:a16="http://schemas.microsoft.com/office/drawing/2014/main" id="{650818A0-2F65-40CD-BF46-B03C88521AD2}"/>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0.927 µg/m³</a:t>
            </a:r>
          </a:p>
        </p:txBody>
      </p:sp>
      <p:sp>
        <p:nvSpPr>
          <p:cNvPr id="6" name="">
            <a:extLst xmlns:a="http://schemas.openxmlformats.org/drawingml/2006/main">
              <a:ext uri="{FF2B5EF4-FFF2-40B4-BE49-F238E27FC236}">
                <a16:creationId xmlns:a16="http://schemas.microsoft.com/office/drawing/2014/main" id="{90F4138F-0E00-4E83-B209-AFB8F2239D63}"/>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100 s / 0.001 dB</a:t>
            </a:r>
          </a:p>
        </p:txBody>
      </p:sp>
      <p:sp>
        <p:nvSpPr>
          <p:cNvPr id="7" name="">
            <a:extLst xmlns:a="http://schemas.openxmlformats.org/drawingml/2006/main">
              <a:ext uri="{FF2B5EF4-FFF2-40B4-BE49-F238E27FC236}">
                <a16:creationId xmlns:a16="http://schemas.microsoft.com/office/drawing/2014/main" id="{6C446B4C-10C3-40F0-990F-6F026A58C64B}"/>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3.468 µg/m³</a:t>
            </a:r>
          </a:p>
        </p:txBody>
      </p:sp>
      <p:sp>
        <p:nvSpPr>
          <p:cNvPr id="8" name="">
            <a:extLst xmlns:a="http://schemas.openxmlformats.org/drawingml/2006/main">
              <a:ext uri="{FF2B5EF4-FFF2-40B4-BE49-F238E27FC236}">
                <a16:creationId xmlns:a16="http://schemas.microsoft.com/office/drawing/2014/main" id="{D815FB15-E7DA-4157-BCFB-D5CF26878B35}"/>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Valid PM limits in nine cases</a:t>
            </a:r>
          </a:p>
        </p:txBody>
      </p:sp>
      <p:sp>
        <p:nvSpPr>
          <p:cNvPr id="9" name="">
            <a:extLst xmlns:a="http://schemas.openxmlformats.org/drawingml/2006/main">
              <a:ext uri="{FF2B5EF4-FFF2-40B4-BE49-F238E27FC236}">
                <a16:creationId xmlns:a16="http://schemas.microsoft.com/office/drawing/2014/main" id="{175EC72E-A3BE-4A3C-81FD-60ACBF031B47}"/>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E808785E-AD7B-49FF-974F-050F5DA35B80}"/>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PM2.5, coarse PM and PM10 have no valid 95% response limit in these nine conditions.</a:t>
            </a:r>
          </a:p>
        </p:txBody>
      </p:sp>
      <p:sp>
        <p:nvSpPr>
          <p:cNvPr id="11" name="">
            <a:extLst xmlns:a="http://schemas.openxmlformats.org/drawingml/2006/main">
              <a:ext uri="{FF2B5EF4-FFF2-40B4-BE49-F238E27FC236}">
                <a16:creationId xmlns:a16="http://schemas.microsoft.com/office/drawing/2014/main" id="{3E7075FF-C820-4E3A-8FDB-7775B07F03C1}"/>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29</a:t>
            </a:r>
          </a:p>
        </p:txBody>
      </p:sp>
    </p:spTree>
    <p:extLst>
      <p:ext uri="{BB962C8B-B14F-4D97-AF65-F5344CB8AC3E}">
        <p14:creationId xmlns:p14="http://schemas.microsoft.com/office/powerpoint/2010/main" val="578758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4CCF4A1-79CE-4ED8-B781-75374059671D}"/>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Environmental interpretation remains open</a:t>
            </a:r>
          </a:p>
        </p:txBody>
      </p:sp>
      <p:graphicFrame>
        <p:nvGraphicFramePr>
          <p:cNvPr id="16"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H₂CO current limit ppm</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0.006179</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CH₃CN current limit ppm</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0.000534</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Limit conditions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20 s / 0.0001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Ambient PM test masses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15 and 45 µg/m³</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EE64C16-38D3-432E-921D-EC3C279BDA50}"/>
              </a:ext>
            </a:extLst>
          </p:cNvPr>
          <p:cNvSpPr>
            <a:spLocks xmlns:a="http://schemas.openxmlformats.org/drawingml/2006/main" noGrp="1"/>
          </p:cNvSpPr>
          <p:nvPr/>
        </p:nvSpPr>
        <p:spPr>
          <a:xfrm xmlns:a="http://schemas.openxmlformats.org/drawingml/2006/main">
            <a:off x="723900" y="1752600"/>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153246"/>
                </a:solidFill>
                <a:latin typeface="Arial"/>
                <a:ea typeface="Arial"/>
                <a:cs typeface="Arial"/>
              </a:defRPr>
            </a:pPr>
            <a:r>
              <a:rPr sz="1538" b="0">
                <a:solidFill>
                  <a:srgbClr val="153246"/>
                </a:solidFill>
                <a:latin typeface="Arial"/>
                <a:ea typeface="Arial"/>
                <a:cs typeface="Arial"/>
              </a:rPr>
              <a:t>Converted gas mass to surface-equivalent mole fraction using pressure, temperature and molar mass.</a:t>
            </a:r>
          </a:p>
        </p:txBody>
      </p:sp>
      <p:sp>
        <p:nvSpPr>
          <p:cNvPr id="4" name="">
            <a:extLst xmlns:a="http://schemas.openxmlformats.org/drawingml/2006/main">
              <a:ext uri="{FF2B5EF4-FFF2-40B4-BE49-F238E27FC236}">
                <a16:creationId xmlns:a16="http://schemas.microsoft.com/office/drawing/2014/main" id="{3642416D-4900-449D-B065-433572E43DC5}"/>
              </a:ext>
            </a:extLst>
          </p:cNvPr>
          <p:cNvSpPr>
            <a:spLocks xmlns:a="http://schemas.openxmlformats.org/drawingml/2006/main" noGrp="1"/>
          </p:cNvSpPr>
          <p:nvPr/>
        </p:nvSpPr>
        <p:spPr>
          <a:xfrm xmlns:a="http://schemas.openxmlformats.org/drawingml/2006/main">
            <a:off x="723900" y="2291525"/>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153246"/>
                </a:solidFill>
                <a:latin typeface="Arial"/>
                <a:ea typeface="Arial"/>
                <a:cs typeface="Arial"/>
              </a:defRPr>
            </a:pPr>
            <a:r>
              <a:rPr sz="1538" b="0">
                <a:solidFill>
                  <a:srgbClr val="153246"/>
                </a:solidFill>
                <a:latin typeface="Arial"/>
                <a:ea typeface="Arial"/>
                <a:cs typeface="Arial"/>
              </a:rPr>
              <a:t>Observable: short slant-path enhancement relative to a reference. Ambient guidance has distinct location and averaging requirements.</a:t>
            </a:r>
          </a:p>
        </p:txBody>
      </p:sp>
      <p:sp>
        <p:nvSpPr>
          <p:cNvPr id="5" name="">
            <a:extLst xmlns:a="http://schemas.openxmlformats.org/drawingml/2006/main">
              <a:ext uri="{FF2B5EF4-FFF2-40B4-BE49-F238E27FC236}">
                <a16:creationId xmlns:a16="http://schemas.microsoft.com/office/drawing/2014/main" id="{F4C5DDFD-FAF4-4EC0-AC8D-4338A4EF6638}"/>
              </a:ext>
            </a:extLst>
          </p:cNvPr>
          <p:cNvSpPr>
            <a:spLocks xmlns:a="http://schemas.openxmlformats.org/drawingml/2006/main" noGrp="1"/>
          </p:cNvSpPr>
          <p:nvPr/>
        </p:nvSpPr>
        <p:spPr>
          <a:xfrm xmlns:a="http://schemas.openxmlformats.org/drawingml/2006/main">
            <a:off x="723900" y="2830449"/>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153246"/>
                </a:solidFill>
                <a:latin typeface="Arial"/>
                <a:ea typeface="Arial"/>
                <a:cs typeface="Arial"/>
              </a:defRPr>
            </a:pPr>
            <a:r>
              <a:rPr sz="1538" b="0">
                <a:solidFill>
                  <a:srgbClr val="153246"/>
                </a:solidFill>
                <a:latin typeface="Arial"/>
                <a:ea typeface="Arial"/>
                <a:cs typeface="Arial"/>
              </a:rPr>
              <a:t>PM reference masses are 15 and 45 µg/m³. These tests do not establish compliance.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119b578eb96457d">
            <a:extLst>
              <a:ext uri="{96DAC541-7B7A-43D3-8B79-37D633B846F1}">
                <asvg:svgBlip xmlns:asvg="http://schemas.microsoft.com/office/drawing/2016/SVG/main" r:embed="Rd11e47ce54c74f44"/>
              </a:ext>
            </a:extLst>
          </a:blip>
          <a:stretch xmlns:a="http://schemas.openxmlformats.org/drawingml/2006/main"/>
        </p:blipFill>
        <p:spPr>
          <a:xfrm xmlns:a="http://schemas.openxmlformats.org/drawingml/2006/main">
            <a:off x="723900" y="3545971"/>
            <a:ext cx="2883687" cy="124795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F9EC09D-EC2E-4846-8259-1A90E1BB60D9}"/>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numeric conversion assumes the displayed mass and molar-mass units. PM has mass units and no gas ppm conversion.</a:t>
            </a:r>
          </a:p>
        </p:txBody>
      </p:sp>
      <p:sp>
        <p:nvSpPr>
          <p:cNvPr id="8" name="">
            <a:extLst xmlns:a="http://schemas.openxmlformats.org/drawingml/2006/main">
              <a:ext uri="{FF2B5EF4-FFF2-40B4-BE49-F238E27FC236}">
                <a16:creationId xmlns:a16="http://schemas.microsoft.com/office/drawing/2014/main" id="{C105DC78-52EF-4670-B6AF-C89FAEDC02A6}"/>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study reports conditional floors and an explicit negative / unverified standards assessment.</a:t>
            </a:r>
          </a:p>
        </p:txBody>
      </p:sp>
      <p:sp>
        <p:nvSpPr>
          <p:cNvPr id="9" name="">
            <a:extLst xmlns:a="http://schemas.openxmlformats.org/drawingml/2006/main">
              <a:ext uri="{FF2B5EF4-FFF2-40B4-BE49-F238E27FC236}">
                <a16:creationId xmlns:a16="http://schemas.microsoft.com/office/drawing/2014/main" id="{F768925B-11E0-43F8-AA01-98546E807094}"/>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Unknown baseline abundance, vertical profiles, PM information and independent truth prevent a positive compliance claim.</a:t>
            </a:r>
          </a:p>
        </p:txBody>
      </p:sp>
      <p:sp>
        <p:nvSpPr>
          <p:cNvPr id="10" name="">
            <a:extLst xmlns:a="http://schemas.openxmlformats.org/drawingml/2006/main">
              <a:ext uri="{FF2B5EF4-FFF2-40B4-BE49-F238E27FC236}">
                <a16:creationId xmlns:a16="http://schemas.microsoft.com/office/drawing/2014/main" id="{CCF59F6B-5A2A-49AA-BEB8-5DA6693D9A83}"/>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1" name="">
            <a:extLst xmlns:a="http://schemas.openxmlformats.org/drawingml/2006/main">
              <a:ext uri="{FF2B5EF4-FFF2-40B4-BE49-F238E27FC236}">
                <a16:creationId xmlns:a16="http://schemas.microsoft.com/office/drawing/2014/main" id="{E48CB336-B420-4DCD-A58F-84402A8BB61C}"/>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χ_ppm: gas mole fraction in ppm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gas mass concentration in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 gas molar mass in g/mol</a:t>
            </a:r>
          </a:p>
        </p:txBody>
      </p:sp>
      <p:sp>
        <p:nvSpPr>
          <p:cNvPr id="12" name="">
            <a:extLst xmlns:a="http://schemas.openxmlformats.org/drawingml/2006/main">
              <a:ext uri="{FF2B5EF4-FFF2-40B4-BE49-F238E27FC236}">
                <a16:creationId xmlns:a16="http://schemas.microsoft.com/office/drawing/2014/main" id="{10CF74CA-37F6-437D-AC7E-DF9C9B207685}"/>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ideal gas constant, 8.314 J/(mol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 local absolute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 local atmospheric pressure (Pa)</a:t>
            </a:r>
          </a:p>
        </p:txBody>
      </p:sp>
      <p:sp>
        <p:nvSpPr>
          <p:cNvPr id="13" name="">
            <a:extLst xmlns:a="http://schemas.openxmlformats.org/drawingml/2006/main">
              <a:ext uri="{FF2B5EF4-FFF2-40B4-BE49-F238E27FC236}">
                <a16:creationId xmlns:a16="http://schemas.microsoft.com/office/drawing/2014/main" id="{CFB9D30B-2AB6-487A-B31D-E8597DBA3247}"/>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 ppm = 10⁻⁶ mol/mol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stated mass units cancel the 10⁶ factor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This gas conversion does not apply to PM</a:t>
            </a:r>
          </a:p>
        </p:txBody>
      </p:sp>
      <p:sp>
        <p:nvSpPr>
          <p:cNvPr id="14" name="">
            <a:extLst xmlns:a="http://schemas.openxmlformats.org/drawingml/2006/main">
              <a:ext uri="{FF2B5EF4-FFF2-40B4-BE49-F238E27FC236}">
                <a16:creationId xmlns:a16="http://schemas.microsoft.com/office/drawing/2014/main" id="{ED1F8622-2D1B-4513-8F2D-D88AC3E8A7EF}"/>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30</a:t>
            </a:r>
          </a:p>
        </p:txBody>
      </p:sp>
    </p:spTree>
    <p:extLst>
      <p:ext uri="{BB962C8B-B14F-4D97-AF65-F5344CB8AC3E}">
        <p14:creationId xmlns:p14="http://schemas.microsoft.com/office/powerpoint/2010/main" val="202861014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35B62C8-8C6C-4A98-913B-23A895A56D93}"/>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Calibration is the critical engineering requirement</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Required local σ at 20 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About 0.000146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Nominal random σ</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0.0001 dB</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Power change for 0.0001 dB</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About 0.002303%</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Field calibration records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None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4DE4629-9B42-4CF2-9535-D9A1C72EDCA3}"/>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Zero calibration error means zero additional differential residual after modeled corrections. Thermal noise and reference uncertainty still remain.</a:t>
            </a:r>
          </a:p>
        </p:txBody>
      </p:sp>
      <p:sp>
        <p:nvSpPr>
          <p:cNvPr id="4" name="">
            <a:extLst xmlns:a="http://schemas.openxmlformats.org/drawingml/2006/main">
              <a:ext uri="{FF2B5EF4-FFF2-40B4-BE49-F238E27FC236}">
                <a16:creationId xmlns:a16="http://schemas.microsoft.com/office/drawing/2014/main" id="{885927EE-7AFA-40A4-A597-66A06A359CFC}"/>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At 20 s, the local CH₃CN requirement for 95% power at 1 µg/m³ is approximately 0.000146 dB residual standard deviation under the nominal covariance.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adecf19bf4e4cbd">
            <a:extLst>
              <a:ext uri="{96DAC541-7B7A-43D3-8B79-37D633B846F1}">
                <asvg:svgBlip xmlns:asvg="http://schemas.microsoft.com/office/drawing/2016/SVG/main" r:embed="Rdd32e6548e814e24"/>
              </a:ext>
            </a:extLst>
          </a:blip>
          <a:stretch xmlns:a="http://schemas.openxmlformats.org/drawingml/2006/main"/>
        </p:blipFill>
        <p:spPr>
          <a:xfrm xmlns:a="http://schemas.openxmlformats.org/drawingml/2006/main">
            <a:off x="723900" y="3514853"/>
            <a:ext cx="5807483" cy="131019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0736711-597B-44E3-A7F1-7DC49C28DC2E}"/>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A persistent signed bias can move both the null threshold and the positive response in the adverse direction.</a:t>
            </a:r>
          </a:p>
        </p:txBody>
      </p:sp>
      <p:sp>
        <p:nvSpPr>
          <p:cNvPr id="7" name="">
            <a:extLst xmlns:a="http://schemas.openxmlformats.org/drawingml/2006/main">
              <a:ext uri="{FF2B5EF4-FFF2-40B4-BE49-F238E27FC236}">
                <a16:creationId xmlns:a16="http://schemas.microsoft.com/office/drawing/2014/main" id="{C6BD4F9A-BE63-459C-AFC4-4E6C9F077EF0}"/>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Calibration requirements are now quantitative and retained with every result.</a:t>
            </a:r>
          </a:p>
        </p:txBody>
      </p:sp>
      <p:sp>
        <p:nvSpPr>
          <p:cNvPr id="8" name="">
            <a:extLst xmlns:a="http://schemas.openxmlformats.org/drawingml/2006/main">
              <a:ext uri="{FF2B5EF4-FFF2-40B4-BE49-F238E27FC236}">
                <a16:creationId xmlns:a16="http://schemas.microsoft.com/office/drawing/2014/main" id="{87CD7881-F4B6-4C38-9703-F7AC74BE31B3}"/>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small random standard deviation does not guarantee resistance to arbitrary drift or unknown hop gains.</a:t>
            </a:r>
          </a:p>
        </p:txBody>
      </p:sp>
      <p:sp>
        <p:nvSpPr>
          <p:cNvPr id="9" name="">
            <a:extLst xmlns:a="http://schemas.openxmlformats.org/drawingml/2006/main">
              <a:ext uri="{FF2B5EF4-FFF2-40B4-BE49-F238E27FC236}">
                <a16:creationId xmlns:a16="http://schemas.microsoft.com/office/drawing/2014/main" id="{59D69CB7-10E0-4078-932B-375F389CA6CD}"/>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B9998665-E55A-4D52-8521-A7FA24249325}"/>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b_i: persistent bias in attenuation bin i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ε: upper bound on each |b_i|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 spectral bin, j: retrieved target</a:t>
            </a:r>
          </a:p>
        </p:txBody>
      </p:sp>
      <p:sp>
        <p:nvSpPr>
          <p:cNvPr id="11" name="">
            <a:extLst xmlns:a="http://schemas.openxmlformats.org/drawingml/2006/main">
              <a:ext uri="{FF2B5EF4-FFF2-40B4-BE49-F238E27FC236}">
                <a16:creationId xmlns:a16="http://schemas.microsoft.com/office/drawing/2014/main" id="{1B4EC390-D2DB-402E-9AB7-186648B2B076}"/>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H_j: row j of the concentration operator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‖H_j‖₁: sum of absolute row coefficients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B_j: resulting concentration bias bound (µg/m³)</a:t>
            </a:r>
          </a:p>
        </p:txBody>
      </p:sp>
      <p:sp>
        <p:nvSpPr>
          <p:cNvPr id="12" name="">
            <a:extLst xmlns:a="http://schemas.openxmlformats.org/drawingml/2006/main">
              <a:ext uri="{FF2B5EF4-FFF2-40B4-BE49-F238E27FC236}">
                <a16:creationId xmlns:a16="http://schemas.microsoft.com/office/drawing/2014/main" id="{45B5F9CA-5A6B-46B4-A55D-4915C8FEC110}"/>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s_j: concentration standard deviation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null threshold, 1.64485: 95% normal quantile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c₉₅,protected: bias protected limit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local approximation with constant variance</a:t>
            </a:r>
          </a:p>
        </p:txBody>
      </p:sp>
      <p:sp>
        <p:nvSpPr>
          <p:cNvPr id="13" name="">
            <a:extLst xmlns:a="http://schemas.openxmlformats.org/drawingml/2006/main">
              <a:ext uri="{FF2B5EF4-FFF2-40B4-BE49-F238E27FC236}">
                <a16:creationId xmlns:a16="http://schemas.microsoft.com/office/drawing/2014/main" id="{EE0B571B-3C38-4238-B37D-0D04E43ED9D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31</a:t>
            </a:r>
          </a:p>
        </p:txBody>
      </p:sp>
    </p:spTree>
    <p:extLst>
      <p:ext uri="{BB962C8B-B14F-4D97-AF65-F5344CB8AC3E}">
        <p14:creationId xmlns:p14="http://schemas.microsoft.com/office/powerpoint/2010/main" val="78559914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B7B4280-08CA-49E1-B6CE-342FDAE4060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Failures that constrain the claimed achievement</a:t>
            </a:r>
          </a:p>
        </p:txBody>
      </p:sp>
      <p:graphicFrame>
        <p:nvGraphicFramePr>
          <p:cNvPr id="12"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3784511"/>
                <a:gridCol w="4455956"/>
                <a:gridCol w="5627933"/>
              </a:tblGrid>
              <a:tr h="723900">
                <a:tc>
                  <a:txBody>
                    <a:bodyPr/>
                    <a:lstStyle/>
                    <a:p>
                      <a:r>
                        <a:rPr sz="1950" b="1">
                          <a:solidFill>
                            <a:srgbClr val="FFFFFF"/>
                          </a:solidFill>
                          <a:latin typeface="Arial"/>
                          <a:ea typeface="Arial"/>
                          <a:cs typeface="Arial"/>
                        </a:rPr>
                        <a:t>Failure or stress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Finding</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Implication</a:t>
                      </a:r>
                    </a:p>
                  </a:txBody>
                  <a:tcPr marL="114300" marR="114300" marT="57150" marB="57150" anchor="ctr">
                    <a:solidFill>
                      <a:srgbClr val="153246"/>
                    </a:solidFill>
                  </a:tcPr>
                </a:tc>
              </a:tr>
              <a:tr h="723900">
                <a:tc>
                  <a:txBody>
                    <a:bodyPr/>
                    <a:lstStyle/>
                    <a:p>
                      <a:r>
                        <a:rPr sz="1950" b="0">
                          <a:solidFill>
                            <a:srgbClr val="153246"/>
                          </a:solidFill>
                          <a:latin typeface="Arial"/>
                          <a:ea typeface="Arial"/>
                          <a:cs typeface="Arial"/>
                        </a:rPr>
                        <a:t>PM mass and extra size split</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Negligible useful information / unstable inverse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A successful optimizer cannot repair missing information</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Unknown relative hop gains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Target separation fails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Requires calibrated relative spectral response</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Weather mismatch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Frozen standard operator acquires bias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Matched-weather success is insufficient</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Unamplified RF converter</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Fails usable-SNR gate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Nominal power requires a complete RF chain</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Modulation / receiver mismatch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Simple payload moments may become invalid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Receiver assumptions need dedicated validation</a:t>
                      </a:r>
                    </a:p>
                  </a:txBody>
                  <a:tcPr marL="114300" marR="114300" marT="57150" marB="5715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49BCC1C9-68C6-475E-9D5F-5106FDEBC2E8}"/>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Numerically rejected global cases</a:t>
            </a:r>
          </a:p>
        </p:txBody>
      </p:sp>
      <p:sp>
        <p:nvSpPr>
          <p:cNvPr id="4" name="">
            <a:extLst xmlns:a="http://schemas.openxmlformats.org/drawingml/2006/main">
              <a:ext uri="{FF2B5EF4-FFF2-40B4-BE49-F238E27FC236}">
                <a16:creationId xmlns:a16="http://schemas.microsoft.com/office/drawing/2014/main" id="{38FDA5A9-78EA-4522-B79D-60E9048ADB8C}"/>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18 / 288</a:t>
            </a:r>
          </a:p>
        </p:txBody>
      </p:sp>
      <p:sp>
        <p:nvSpPr>
          <p:cNvPr id="5" name="">
            <a:extLst xmlns:a="http://schemas.openxmlformats.org/drawingml/2006/main">
              <a:ext uri="{FF2B5EF4-FFF2-40B4-BE49-F238E27FC236}">
                <a16:creationId xmlns:a16="http://schemas.microsoft.com/office/drawing/2014/main" id="{EBC55CB9-3536-4247-8F0F-75FAB727668A}"/>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Useful PM limits</a:t>
            </a:r>
          </a:p>
        </p:txBody>
      </p:sp>
      <p:sp>
        <p:nvSpPr>
          <p:cNvPr id="6" name="">
            <a:extLst xmlns:a="http://schemas.openxmlformats.org/drawingml/2006/main">
              <a:ext uri="{FF2B5EF4-FFF2-40B4-BE49-F238E27FC236}">
                <a16:creationId xmlns:a16="http://schemas.microsoft.com/office/drawing/2014/main" id="{4ECC0CA3-326E-486F-BD50-AD6F5FF42F47}"/>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 / 270 valid cases</a:t>
            </a:r>
          </a:p>
        </p:txBody>
      </p:sp>
      <p:sp>
        <p:nvSpPr>
          <p:cNvPr id="7" name="">
            <a:extLst xmlns:a="http://schemas.openxmlformats.org/drawingml/2006/main">
              <a:ext uri="{FF2B5EF4-FFF2-40B4-BE49-F238E27FC236}">
                <a16:creationId xmlns:a16="http://schemas.microsoft.com/office/drawing/2014/main" id="{2CE8E005-66A6-43B1-92D9-599D4A9C68CD}"/>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Gaussian architecture rate loss</a:t>
            </a:r>
          </a:p>
        </p:txBody>
      </p:sp>
      <p:sp>
        <p:nvSpPr>
          <p:cNvPr id="8" name="">
            <a:extLst xmlns:a="http://schemas.openxmlformats.org/drawingml/2006/main">
              <a:ext uri="{FF2B5EF4-FFF2-40B4-BE49-F238E27FC236}">
                <a16:creationId xmlns:a16="http://schemas.microsoft.com/office/drawing/2014/main" id="{5A191BB9-1F4F-43D9-9BE0-E296EA2A0167}"/>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14.64%</a:t>
            </a:r>
          </a:p>
        </p:txBody>
      </p:sp>
      <p:sp>
        <p:nvSpPr>
          <p:cNvPr id="9" name="">
            <a:extLst xmlns:a="http://schemas.openxmlformats.org/drawingml/2006/main">
              <a:ext uri="{FF2B5EF4-FFF2-40B4-BE49-F238E27FC236}">
                <a16:creationId xmlns:a16="http://schemas.microsoft.com/office/drawing/2014/main" id="{FB1A2E0A-983E-4B4C-A366-9A15D2738DEA}"/>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intended general atmospheric VOC/PM instrument remains an open research outcome.</a:t>
            </a:r>
          </a:p>
        </p:txBody>
      </p:sp>
      <p:sp>
        <p:nvSpPr>
          <p:cNvPr id="10" name="">
            <a:extLst xmlns:a="http://schemas.openxmlformats.org/drawingml/2006/main">
              <a:ext uri="{FF2B5EF4-FFF2-40B4-BE49-F238E27FC236}">
                <a16:creationId xmlns:a16="http://schemas.microsoft.com/office/drawing/2014/main" id="{EE955FC0-BC17-4C60-9282-DC7408D55486}"/>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32</a:t>
            </a:r>
          </a:p>
        </p:txBody>
      </p:sp>
    </p:spTree>
    <p:extLst>
      <p:ext uri="{BB962C8B-B14F-4D97-AF65-F5344CB8AC3E}">
        <p14:creationId xmlns:p14="http://schemas.microsoft.com/office/powerpoint/2010/main" val="136515790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702A71D-18FC-4604-AE7E-DC0B694A0148}"/>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Remaining problems and evidence needed</a:t>
            </a:r>
          </a:p>
        </p:txBody>
      </p:sp>
      <p:graphicFrame>
        <p:nvGraphicFramePr>
          <p:cNvPr id="11"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4639077"/>
                <a:gridCol w="9229323"/>
              </a:tblGrid>
              <a:tr h="620486">
                <a:tc>
                  <a:txBody>
                    <a:bodyPr/>
                    <a:lstStyle/>
                    <a:p>
                      <a:r>
                        <a:rPr sz="1950" b="1">
                          <a:solidFill>
                            <a:srgbClr val="FFFFFF"/>
                          </a:solidFill>
                          <a:latin typeface="Arial"/>
                          <a:ea typeface="Arial"/>
                          <a:cs typeface="Arial"/>
                        </a:rPr>
                        <a:t>Open problem</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Evidence required to close it</a:t>
                      </a:r>
                    </a:p>
                  </a:txBody>
                  <a:tcPr marL="114300" marR="114300" marT="57150" marB="57150" anchor="ctr">
                    <a:solidFill>
                      <a:srgbClr val="153246"/>
                    </a:solidFill>
                  </a:tcPr>
                </a:tc>
              </a:tr>
              <a:tr h="620486">
                <a:tc>
                  <a:txBody>
                    <a:bodyPr/>
                    <a:lstStyle/>
                    <a:p>
                      <a:r>
                        <a:rPr sz="1950" b="0">
                          <a:solidFill>
                            <a:srgbClr val="153246"/>
                          </a:solidFill>
                          <a:latin typeface="Arial"/>
                          <a:ea typeface="Arial"/>
                          <a:cs typeface="Arial"/>
                        </a:rPr>
                        <a:t>RF hardware and calibration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Measured power, noise, settling, spectral covariance and drift at selected tones</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PM mass / composition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Paired optical properties, humidity, particle size and independent mass truth</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Weather and concentration profiles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Independent profiles, column information and reference abundance</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Full receiver dynamics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Continuous time-scaled channel with fractional timing, oscillator and pointing errors</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Independent validation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Separate calibration and test campaigns with paired radio / concentration data</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Deployment and environmental use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Applicable averaging domain, spectrum coordination and realistic operational coverage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2F89A14-A2A2-417F-989D-0C6285A1ACF1}"/>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Nominal RF target</a:t>
            </a:r>
          </a:p>
        </p:txBody>
      </p:sp>
      <p:sp>
        <p:nvSpPr>
          <p:cNvPr id="4" name="">
            <a:extLst xmlns:a="http://schemas.openxmlformats.org/drawingml/2006/main">
              <a:ext uri="{FF2B5EF4-FFF2-40B4-BE49-F238E27FC236}">
                <a16:creationId xmlns:a16="http://schemas.microsoft.com/office/drawing/2014/main" id="{84F6AEBF-DF29-4059-845A-1BE2C468DEA1}"/>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 dBm, NF 6 dB</a:t>
            </a:r>
          </a:p>
        </p:txBody>
      </p:sp>
      <p:sp>
        <p:nvSpPr>
          <p:cNvPr id="5" name="">
            <a:extLst xmlns:a="http://schemas.openxmlformats.org/drawingml/2006/main">
              <a:ext uri="{FF2B5EF4-FFF2-40B4-BE49-F238E27FC236}">
                <a16:creationId xmlns:a16="http://schemas.microsoft.com/office/drawing/2014/main" id="{2D2E6A66-4016-44D4-A0A9-B1DC78DC7AD5}"/>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calibration assumption</a:t>
            </a:r>
          </a:p>
        </p:txBody>
      </p:sp>
      <p:sp>
        <p:nvSpPr>
          <p:cNvPr id="6" name="">
            <a:extLst xmlns:a="http://schemas.openxmlformats.org/drawingml/2006/main">
              <a:ext uri="{FF2B5EF4-FFF2-40B4-BE49-F238E27FC236}">
                <a16:creationId xmlns:a16="http://schemas.microsoft.com/office/drawing/2014/main" id="{07F0EEF1-446B-4D82-B3C1-AD7A12A0A3A2}"/>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0.0001 dB</a:t>
            </a:r>
          </a:p>
        </p:txBody>
      </p:sp>
      <p:sp>
        <p:nvSpPr>
          <p:cNvPr id="7" name="">
            <a:extLst xmlns:a="http://schemas.openxmlformats.org/drawingml/2006/main">
              <a:ext uri="{FF2B5EF4-FFF2-40B4-BE49-F238E27FC236}">
                <a16:creationId xmlns:a16="http://schemas.microsoft.com/office/drawing/2014/main" id="{B92FB3D3-5DD0-47B1-B0B8-ACF7DC234305}"/>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physical truth</a:t>
            </a:r>
          </a:p>
        </p:txBody>
      </p:sp>
      <p:sp>
        <p:nvSpPr>
          <p:cNvPr id="8" name="">
            <a:extLst xmlns:a="http://schemas.openxmlformats.org/drawingml/2006/main">
              <a:ext uri="{FF2B5EF4-FFF2-40B4-BE49-F238E27FC236}">
                <a16:creationId xmlns:a16="http://schemas.microsoft.com/office/drawing/2014/main" id="{F328C251-F877-47E9-B472-FDE42F05A9E6}"/>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No paired radio/VOC/PM test</a:t>
            </a:r>
          </a:p>
        </p:txBody>
      </p:sp>
      <p:sp>
        <p:nvSpPr>
          <p:cNvPr id="9" name="">
            <a:extLst xmlns:a="http://schemas.openxmlformats.org/drawingml/2006/main">
              <a:ext uri="{FF2B5EF4-FFF2-40B4-BE49-F238E27FC236}">
                <a16:creationId xmlns:a16="http://schemas.microsoft.com/office/drawing/2014/main" id="{A9E23669-DAAB-4511-B8CD-F42EE2FEC8DE}"/>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33</a:t>
            </a:r>
          </a:p>
        </p:txBody>
      </p:sp>
    </p:spTree>
    <p:extLst>
      <p:ext uri="{BB962C8B-B14F-4D97-AF65-F5344CB8AC3E}">
        <p14:creationId xmlns:p14="http://schemas.microsoft.com/office/powerpoint/2010/main" val="125418455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25F2416-AD97-4B0E-898C-5FDB4E1CD6CF}"/>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Proposed next experiments</a:t>
            </a:r>
          </a:p>
        </p:txBody>
      </p:sp>
      <p:graphicFrame>
        <p:nvGraphicFramePr>
          <p:cNvPr id="13"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1342891"/>
                <a:gridCol w="6714454"/>
                <a:gridCol w="5811055"/>
              </a:tblGrid>
              <a:tr h="868680">
                <a:tc>
                  <a:txBody>
                    <a:bodyPr/>
                    <a:lstStyle/>
                    <a:p>
                      <a:r>
                        <a:rPr sz="1950" b="1">
                          <a:solidFill>
                            <a:srgbClr val="FFFFFF"/>
                          </a:solidFill>
                          <a:latin typeface="Arial"/>
                          <a:ea typeface="Arial"/>
                          <a:cs typeface="Arial"/>
                        </a:rPr>
                        <a:t>Priority</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Experiment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Decision it enables</a:t>
                      </a:r>
                    </a:p>
                  </a:txBody>
                  <a:tcPr marL="114300" marR="114300" marT="57150" marB="57150" anchor="ctr">
                    <a:solidFill>
                      <a:srgbClr val="153246"/>
                    </a:solidFill>
                  </a:tcPr>
                </a:tc>
              </a:tr>
              <a:tr h="868680">
                <a:tc>
                  <a:txBody>
                    <a:bodyPr/>
                    <a:lstStyle/>
                    <a:p>
                      <a:r>
                        <a:rPr sz="195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Repeated blank / reference acquisitions at selected tones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Can the required differential stability be achieved?</a:t>
                      </a:r>
                    </a:p>
                  </a:txBody>
                  <a:tcPr marL="114300" marR="114300" marT="57150" marB="57150" anchor="ctr">
                    <a:solidFill>
                      <a:srgbClr val="F0F5F7"/>
                    </a:solidFill>
                  </a:tcPr>
                </a:tc>
              </a:tr>
              <a:tr h="868680">
                <a:tc>
                  <a:txBody>
                    <a:bodyPr/>
                    <a:lstStyle/>
                    <a:p>
                      <a:r>
                        <a:rPr sz="195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Controlled gas path with independent concentration truth</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Does the predicted VOC recall survive real model error?</a:t>
                      </a:r>
                    </a:p>
                  </a:txBody>
                  <a:tcPr marL="114300" marR="114300" marT="57150" marB="57150" anchor="ctr">
                    <a:solidFill>
                      <a:srgbClr val="FFFFFF"/>
                    </a:solidFill>
                  </a:tcPr>
                </a:tc>
              </a:tr>
              <a:tr h="868680">
                <a:tc>
                  <a:txBody>
                    <a:bodyPr/>
                    <a:lstStyle/>
                    <a:p>
                      <a:r>
                        <a:rPr sz="1950" b="0">
                          <a:solidFill>
                            <a:srgbClr val="153246"/>
                          </a:solidFill>
                          <a:latin typeface="Arial"/>
                          <a:ea typeface="Arial"/>
                          <a:cs typeface="Arial"/>
                        </a:rPr>
                        <a:t>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PM cell with known mass, size and humidity</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Does radio information separate mass from composition?</a:t>
                      </a:r>
                    </a:p>
                  </a:txBody>
                  <a:tcPr marL="114300" marR="114300" marT="57150" marB="57150" anchor="ctr">
                    <a:solidFill>
                      <a:srgbClr val="F0F5F7"/>
                    </a:solidFill>
                  </a:tcPr>
                </a:tc>
              </a:tr>
              <a:tr h="868680">
                <a:tc>
                  <a:txBody>
                    <a:bodyPr/>
                    <a:lstStyle/>
                    <a:p>
                      <a:r>
                        <a:rPr sz="1950" b="0">
                          <a:solidFill>
                            <a:srgbClr val="153246"/>
                          </a:solidFill>
                          <a:latin typeface="Arial"/>
                          <a:ea typeface="Arial"/>
                          <a:cs typeface="Arial"/>
                        </a:rPr>
                        <a:t>4</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Full receiver and reference schedule under motion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Can the sensing result survive operational timing?</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99B0E4D-0BB4-4C72-A598-0BA393233768}"/>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Calibration acceptance question</a:t>
            </a:r>
          </a:p>
        </p:txBody>
      </p:sp>
      <p:sp>
        <p:nvSpPr>
          <p:cNvPr id="4" name="">
            <a:extLst xmlns:a="http://schemas.openxmlformats.org/drawingml/2006/main">
              <a:ext uri="{FF2B5EF4-FFF2-40B4-BE49-F238E27FC236}">
                <a16:creationId xmlns:a16="http://schemas.microsoft.com/office/drawing/2014/main" id="{D510DC7D-C7A2-4179-B368-A520D0F8A235}"/>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σ ≤ about 0.000146 dB at 20 s?</a:t>
            </a:r>
          </a:p>
        </p:txBody>
      </p:sp>
      <p:sp>
        <p:nvSpPr>
          <p:cNvPr id="5" name="">
            <a:extLst xmlns:a="http://schemas.openxmlformats.org/drawingml/2006/main">
              <a:ext uri="{FF2B5EF4-FFF2-40B4-BE49-F238E27FC236}">
                <a16:creationId xmlns:a16="http://schemas.microsoft.com/office/drawing/2014/main" id="{C29B61E4-D070-4307-BDBC-17CFA7ADAAF9}"/>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Frozen test target</a:t>
            </a:r>
          </a:p>
        </p:txBody>
      </p:sp>
      <p:sp>
        <p:nvSpPr>
          <p:cNvPr id="6" name="">
            <a:extLst xmlns:a="http://schemas.openxmlformats.org/drawingml/2006/main">
              <a:ext uri="{FF2B5EF4-FFF2-40B4-BE49-F238E27FC236}">
                <a16:creationId xmlns:a16="http://schemas.microsoft.com/office/drawing/2014/main" id="{111E7205-1762-4461-BF64-A026684FEA28}"/>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 µg/m³ CH₃CN</a:t>
            </a:r>
          </a:p>
        </p:txBody>
      </p:sp>
      <p:sp>
        <p:nvSpPr>
          <p:cNvPr id="7" name="">
            <a:extLst xmlns:a="http://schemas.openxmlformats.org/drawingml/2006/main">
              <a:ext uri="{FF2B5EF4-FFF2-40B4-BE49-F238E27FC236}">
                <a16:creationId xmlns:a16="http://schemas.microsoft.com/office/drawing/2014/main" id="{5180FAA6-B252-49AA-AB21-64055CB57539}"/>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Independent test measurements</a:t>
            </a:r>
          </a:p>
        </p:txBody>
      </p:sp>
      <p:sp>
        <p:nvSpPr>
          <p:cNvPr id="8" name="">
            <a:extLst xmlns:a="http://schemas.openxmlformats.org/drawingml/2006/main">
              <a:ext uri="{FF2B5EF4-FFF2-40B4-BE49-F238E27FC236}">
                <a16:creationId xmlns:a16="http://schemas.microsoft.com/office/drawing/2014/main" id="{AD2F251C-C4C6-4BB3-8EA8-D53690B5C316}"/>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Still required</a:t>
            </a:r>
          </a:p>
        </p:txBody>
      </p:sp>
      <p:sp>
        <p:nvSpPr>
          <p:cNvPr id="9" name="">
            <a:extLst xmlns:a="http://schemas.openxmlformats.org/drawingml/2006/main">
              <a:ext uri="{FF2B5EF4-FFF2-40B4-BE49-F238E27FC236}">
                <a16:creationId xmlns:a16="http://schemas.microsoft.com/office/drawing/2014/main" id="{0CF305DD-E668-4C75-9078-F5EA4AC2D078}"/>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Freeze calibration and model choices before evaluating an independent test campaign.</a:t>
            </a:r>
          </a:p>
        </p:txBody>
      </p:sp>
      <p:sp>
        <p:nvSpPr>
          <p:cNvPr id="10" name="">
            <a:extLst xmlns:a="http://schemas.openxmlformats.org/drawingml/2006/main">
              <a:ext uri="{FF2B5EF4-FFF2-40B4-BE49-F238E27FC236}">
                <a16:creationId xmlns:a16="http://schemas.microsoft.com/office/drawing/2014/main" id="{334F8DF8-A479-4528-A504-8A1E64BF0F03}"/>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Additional Monte Carlo trials improve numerical precision but cannot replace missing measurements.</a:t>
            </a:r>
          </a:p>
        </p:txBody>
      </p:sp>
      <p:sp>
        <p:nvSpPr>
          <p:cNvPr id="11" name="">
            <a:extLst xmlns:a="http://schemas.openxmlformats.org/drawingml/2006/main">
              <a:ext uri="{FF2B5EF4-FFF2-40B4-BE49-F238E27FC236}">
                <a16:creationId xmlns:a16="http://schemas.microsoft.com/office/drawing/2014/main" id="{DBB447A7-5827-4CAF-90C3-97E8FAF99E2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34</a:t>
            </a:r>
          </a:p>
        </p:txBody>
      </p:sp>
    </p:spTree>
    <p:extLst>
      <p:ext uri="{BB962C8B-B14F-4D97-AF65-F5344CB8AC3E}">
        <p14:creationId xmlns:p14="http://schemas.microsoft.com/office/powerpoint/2010/main" val="206373472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B987F8-26A7-406C-9CD0-D58790B75B79}"/>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we can report to the supervisor</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Task implementations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11 / 11</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Verified research checks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25,172</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Conditional CH₃CN recall</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97.67%</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Validated field recall</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Unavailable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C9FB0E3-1473-4F66-BFB6-C8A07F3A1A3A}"/>
              </a:ext>
            </a:extLst>
          </p:cNvPr>
          <p:cNvSpPr>
            <a:spLocks xmlns:a="http://schemas.openxmlformats.org/drawingml/2006/main" noGrp="1"/>
          </p:cNvSpPr>
          <p:nvPr/>
        </p:nvSpPr>
        <p:spPr>
          <a:xfrm xmlns:a="http://schemas.openxmlformats.org/drawingml/2006/main">
            <a:off x="723900" y="1752600"/>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original eleven modeling and simulation tasks now have implementations with traceable outputs.</a:t>
            </a:r>
          </a:p>
        </p:txBody>
      </p:sp>
      <p:sp>
        <p:nvSpPr>
          <p:cNvPr id="4" name="">
            <a:extLst xmlns:a="http://schemas.openxmlformats.org/drawingml/2006/main">
              <a:ext uri="{FF2B5EF4-FFF2-40B4-BE49-F238E27FC236}">
                <a16:creationId xmlns:a16="http://schemas.microsoft.com/office/drawing/2014/main" id="{411A5F31-4799-4C10-997B-3C759F4BDBE5}"/>
              </a:ext>
            </a:extLst>
          </p:cNvPr>
          <p:cNvSpPr>
            <a:spLocks xmlns:a="http://schemas.openxmlformats.org/drawingml/2006/main" noGrp="1"/>
          </p:cNvSpPr>
          <p:nvPr/>
        </p:nvSpPr>
        <p:spPr>
          <a:xfrm xmlns:a="http://schemas.openxmlformats.org/drawingml/2006/main">
            <a:off x="723900" y="2867025"/>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Payload reuse and frequency selection improve conditional VOC detection. Acetonitrile reaches 97.67% recall at 1 µg/m³ with 20 s and assumed 0.0001 dB residual.</a:t>
            </a:r>
          </a:p>
        </p:txBody>
      </p:sp>
      <p:sp>
        <p:nvSpPr>
          <p:cNvPr id="5" name="">
            <a:extLst xmlns:a="http://schemas.openxmlformats.org/drawingml/2006/main">
              <a:ext uri="{FF2B5EF4-FFF2-40B4-BE49-F238E27FC236}">
                <a16:creationId xmlns:a16="http://schemas.microsoft.com/office/drawing/2014/main" id="{0065BF36-C37C-4BD2-9C33-A2F5B88DCB26}"/>
              </a:ext>
            </a:extLst>
          </p:cNvPr>
          <p:cNvSpPr>
            <a:spLocks xmlns:a="http://schemas.openxmlformats.org/drawingml/2006/main" noGrp="1"/>
          </p:cNvSpPr>
          <p:nvPr/>
        </p:nvSpPr>
        <p:spPr>
          <a:xfrm xmlns:a="http://schemas.openxmlformats.org/drawingml/2006/main">
            <a:off x="723900" y="3981450"/>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analysis explains why PM remains weak and why more averaging cannot overcome persistent calibration error.</a:t>
            </a:r>
          </a:p>
        </p:txBody>
      </p:sp>
      <p:sp>
        <p:nvSpPr>
          <p:cNvPr id="6" name="">
            <a:extLst xmlns:a="http://schemas.openxmlformats.org/drawingml/2006/main">
              <a:ext uri="{FF2B5EF4-FFF2-40B4-BE49-F238E27FC236}">
                <a16:creationId xmlns:a16="http://schemas.microsoft.com/office/drawing/2014/main" id="{EC104595-4F65-4F86-8E0B-259A48DFAB62}"/>
              </a:ext>
            </a:extLst>
          </p:cNvPr>
          <p:cNvSpPr>
            <a:spLocks xmlns:a="http://schemas.openxmlformats.org/drawingml/2006/main" noGrp="1"/>
          </p:cNvSpPr>
          <p:nvPr/>
        </p:nvSpPr>
        <p:spPr>
          <a:xfrm xmlns:a="http://schemas.openxmlformats.org/drawingml/2006/main">
            <a:off x="723900" y="5095875"/>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next milestone is independent physical validation of the selected receiver and its concentration estimates.</a:t>
            </a:r>
          </a:p>
        </p:txBody>
      </p:sp>
      <p:sp>
        <p:nvSpPr>
          <p:cNvPr id="7" name="">
            <a:extLst xmlns:a="http://schemas.openxmlformats.org/drawingml/2006/main">
              <a:ext uri="{FF2B5EF4-FFF2-40B4-BE49-F238E27FC236}">
                <a16:creationId xmlns:a16="http://schemas.microsoft.com/office/drawing/2014/main" id="{19244283-035B-4E41-8E05-8CFBE243AF5A}"/>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main achievement is a reproducible feasibility assessment and a stronger, explicitly conditional VOC design.</a:t>
            </a:r>
          </a:p>
        </p:txBody>
      </p:sp>
      <p:sp>
        <p:nvSpPr>
          <p:cNvPr id="8" name="">
            <a:extLst xmlns:a="http://schemas.openxmlformats.org/drawingml/2006/main">
              <a:ext uri="{FF2B5EF4-FFF2-40B4-BE49-F238E27FC236}">
                <a16:creationId xmlns:a16="http://schemas.microsoft.com/office/drawing/2014/main" id="{2E0C9B07-89BF-4D9B-BA4C-50C03890724F}"/>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Useful joint PM retrieval, zero communication architecture cost and validated field performance remain unachieved.</a:t>
            </a:r>
          </a:p>
        </p:txBody>
      </p:sp>
      <p:sp>
        <p:nvSpPr>
          <p:cNvPr id="9" name="">
            <a:extLst xmlns:a="http://schemas.openxmlformats.org/drawingml/2006/main">
              <a:ext uri="{FF2B5EF4-FFF2-40B4-BE49-F238E27FC236}">
                <a16:creationId xmlns:a16="http://schemas.microsoft.com/office/drawing/2014/main" id="{CE5EB5FE-EF4B-4E22-9542-3BEF923A5E1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35</a:t>
            </a:r>
          </a:p>
        </p:txBody>
      </p:sp>
    </p:spTree>
    <p:extLst>
      <p:ext uri="{BB962C8B-B14F-4D97-AF65-F5344CB8AC3E}">
        <p14:creationId xmlns:p14="http://schemas.microsoft.com/office/powerpoint/2010/main" val="127967282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208962-EBFE-4CEB-9354-5CBB2A0E65C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Global VOC and PM outcomes</a:t>
            </a:r>
          </a:p>
        </p:txBody>
      </p:sp>
      <p:sp>
        <p:nvSpPr>
          <p:cNvPr id="2" name="">
            <a:extLst xmlns:a="http://schemas.openxmlformats.org/drawingml/2006/main">
              <a:ext uri="{FF2B5EF4-FFF2-40B4-BE49-F238E27FC236}">
                <a16:creationId xmlns:a16="http://schemas.microsoft.com/office/drawing/2014/main" id="{E7B6443A-5FA0-4F37-B330-6BDB6A166954}"/>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Envelopes over 270 valid operating conditions per output, with 18 additional rejected conditions</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2929944"/>
                <a:gridCol w="2929944"/>
                <a:gridCol w="4639077"/>
                <a:gridCol w="3369435"/>
              </a:tblGrid>
              <a:tr h="482600">
                <a:tc>
                  <a:txBody>
                    <a:bodyPr/>
                    <a:lstStyle/>
                    <a:p>
                      <a:r>
                        <a:rPr sz="1800" b="1">
                          <a:solidFill>
                            <a:srgbClr val="FFFFFF"/>
                          </a:solidFill>
                          <a:latin typeface="Arial"/>
                          <a:ea typeface="Arial"/>
                          <a:cs typeface="Arial"/>
                        </a:rPr>
                        <a:t>Output</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Reference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Predicted recall range</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Valid 95% limits / 270</a:t>
                      </a:r>
                    </a:p>
                  </a:txBody>
                  <a:tcPr marL="114300" marR="114300" marT="57150" marB="57150" anchor="ctr">
                    <a:solidFill>
                      <a:srgbClr val="153246"/>
                    </a:solidFill>
                  </a:tcPr>
                </a:tc>
              </a:tr>
              <a:tr h="482600">
                <a:tc>
                  <a:txBody>
                    <a:bodyPr/>
                    <a:lstStyle/>
                    <a:p>
                      <a:r>
                        <a:rPr sz="1800" b="0">
                          <a:solidFill>
                            <a:srgbClr val="153246"/>
                          </a:solidFill>
                          <a:latin typeface="Arial"/>
                          <a:ea typeface="Arial"/>
                          <a:cs typeface="Arial"/>
                        </a:rPr>
                        <a:t>H2CO</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0.128–89.043%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CH3OH</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0.130–72.886%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CH3CN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0.282–100.000%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CH3Cl</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0.139–100.000%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HCOOH</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0.125–12.651%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269</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PM2.5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PMcoarse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PM10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6B9AFA2-CAC5-4FF1-9B44-F26C4B657386}"/>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Grid</a:t>
            </a:r>
          </a:p>
        </p:txBody>
      </p:sp>
      <p:sp>
        <p:nvSpPr>
          <p:cNvPr id="5" name="">
            <a:extLst xmlns:a="http://schemas.openxmlformats.org/drawingml/2006/main">
              <a:ext uri="{FF2B5EF4-FFF2-40B4-BE49-F238E27FC236}">
                <a16:creationId xmlns:a16="http://schemas.microsoft.com/office/drawing/2014/main" id="{8AFF608F-2221-4C3C-852B-8F2A387A545A}"/>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 plans × 2 weather × 4 elevations</a:t>
            </a:r>
          </a:p>
        </p:txBody>
      </p:sp>
      <p:sp>
        <p:nvSpPr>
          <p:cNvPr id="6" name="">
            <a:extLst xmlns:a="http://schemas.openxmlformats.org/drawingml/2006/main">
              <a:ext uri="{FF2B5EF4-FFF2-40B4-BE49-F238E27FC236}">
                <a16:creationId xmlns:a16="http://schemas.microsoft.com/office/drawing/2014/main" id="{8E732F6D-F723-4D60-A470-F1EB0916068E}"/>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Other axes</a:t>
            </a:r>
          </a:p>
        </p:txBody>
      </p:sp>
      <p:sp>
        <p:nvSpPr>
          <p:cNvPr id="7" name="">
            <a:extLst xmlns:a="http://schemas.openxmlformats.org/drawingml/2006/main">
              <a:ext uri="{FF2B5EF4-FFF2-40B4-BE49-F238E27FC236}">
                <a16:creationId xmlns:a16="http://schemas.microsoft.com/office/drawing/2014/main" id="{A6CF59B8-1A2B-4A0A-871A-8B2A42BC7624}"/>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 times × 3 residuals × 2 noise figures</a:t>
            </a:r>
          </a:p>
        </p:txBody>
      </p:sp>
      <p:sp>
        <p:nvSpPr>
          <p:cNvPr id="8" name="">
            <a:extLst xmlns:a="http://schemas.openxmlformats.org/drawingml/2006/main">
              <a:ext uri="{FF2B5EF4-FFF2-40B4-BE49-F238E27FC236}">
                <a16:creationId xmlns:a16="http://schemas.microsoft.com/office/drawing/2014/main" id="{B8E307FC-6F6F-4A5D-AD6A-C26C597751B3}"/>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Mass assumptions</a:t>
            </a:r>
          </a:p>
        </p:txBody>
      </p:sp>
      <p:sp>
        <p:nvSpPr>
          <p:cNvPr id="9" name="">
            <a:extLst xmlns:a="http://schemas.openxmlformats.org/drawingml/2006/main">
              <a:ext uri="{FF2B5EF4-FFF2-40B4-BE49-F238E27FC236}">
                <a16:creationId xmlns:a16="http://schemas.microsoft.com/office/drawing/2014/main" id="{B49A7A6E-A307-4934-B7CA-5FC7EEE96B62}"/>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 / 15 / 45 µg/m³ (see table)</a:t>
            </a:r>
          </a:p>
        </p:txBody>
      </p:sp>
      <p:sp>
        <p:nvSpPr>
          <p:cNvPr id="10" name="">
            <a:extLst xmlns:a="http://schemas.openxmlformats.org/drawingml/2006/main">
              <a:ext uri="{FF2B5EF4-FFF2-40B4-BE49-F238E27FC236}">
                <a16:creationId xmlns:a16="http://schemas.microsoft.com/office/drawing/2014/main" id="{5B6636DF-5F7C-4C81-9075-97DA32C3B289}"/>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Different reference concentrations and operating conditions prevent a direct same-condition species ranking.</a:t>
            </a:r>
          </a:p>
        </p:txBody>
      </p:sp>
      <p:sp>
        <p:nvSpPr>
          <p:cNvPr id="11" name="">
            <a:extLst xmlns:a="http://schemas.openxmlformats.org/drawingml/2006/main">
              <a:ext uri="{FF2B5EF4-FFF2-40B4-BE49-F238E27FC236}">
                <a16:creationId xmlns:a16="http://schemas.microsoft.com/office/drawing/2014/main" id="{2B25A6DF-4D14-4751-95B9-5DB805BFA579}"/>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36</a:t>
            </a:r>
          </a:p>
        </p:txBody>
      </p:sp>
    </p:spTree>
    <p:extLst>
      <p:ext uri="{BB962C8B-B14F-4D97-AF65-F5344CB8AC3E}">
        <p14:creationId xmlns:p14="http://schemas.microsoft.com/office/powerpoint/2010/main" val="171665705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7B5FA6B-3C9A-467B-8718-E3C3ABCAFCA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Low PM recalls remain visible</a:t>
            </a:r>
          </a:p>
        </p:txBody>
      </p:sp>
      <p:sp>
        <p:nvSpPr>
          <p:cNvPr id="2" name="">
            <a:extLst xmlns:a="http://schemas.openxmlformats.org/drawingml/2006/main">
              <a:ext uri="{FF2B5EF4-FFF2-40B4-BE49-F238E27FC236}">
                <a16:creationId xmlns:a16="http://schemas.microsoft.com/office/drawing/2014/main" id="{0D62C9BF-0A69-48B6-9B0D-B7AE136122EC}"/>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Simulated recall, selected bands, standard atmosphere at 45°, same joint five-gas fit</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1526012"/>
                <a:gridCol w="2197458"/>
                <a:gridCol w="3381643"/>
                <a:gridCol w="3381643"/>
                <a:gridCol w="3381643"/>
              </a:tblGrid>
              <a:tr h="434340">
                <a:tc>
                  <a:txBody>
                    <a:bodyPr/>
                    <a:lstStyle/>
                    <a:p>
                      <a:r>
                        <a:rPr sz="1800" b="1">
                          <a:solidFill>
                            <a:srgbClr val="FFFFFF"/>
                          </a:solidFill>
                          <a:latin typeface="Arial"/>
                          <a:ea typeface="Arial"/>
                          <a:cs typeface="Arial"/>
                        </a:rPr>
                        <a:t>Total s</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Residual dB</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PM2.5 at 15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Coarse at 45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PM10 at 45 µg/m³</a:t>
                      </a:r>
                    </a:p>
                  </a:txBody>
                  <a:tcPr marL="114300" marR="114300" marT="57150" marB="57150" anchor="ctr">
                    <a:solidFill>
                      <a:srgbClr val="153246"/>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0.06%</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0.09%</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0.16%</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0.09%</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0.13%</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9B26DCAA-8FD5-48E0-A46F-6E527D2F9533}"/>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PM10 positive mixture</a:t>
            </a:r>
          </a:p>
        </p:txBody>
      </p:sp>
      <p:sp>
        <p:nvSpPr>
          <p:cNvPr id="5" name="">
            <a:extLst xmlns:a="http://schemas.openxmlformats.org/drawingml/2006/main">
              <a:ext uri="{FF2B5EF4-FFF2-40B4-BE49-F238E27FC236}">
                <a16:creationId xmlns:a16="http://schemas.microsoft.com/office/drawing/2014/main" id="{A2B20D71-2851-40E6-AC62-08949FB09398}"/>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Fine 49/90, coarse 41/90</a:t>
            </a:r>
          </a:p>
        </p:txBody>
      </p:sp>
      <p:sp>
        <p:nvSpPr>
          <p:cNvPr id="6" name="">
            <a:extLst xmlns:a="http://schemas.openxmlformats.org/drawingml/2006/main">
              <a:ext uri="{FF2B5EF4-FFF2-40B4-BE49-F238E27FC236}">
                <a16:creationId xmlns:a16="http://schemas.microsoft.com/office/drawing/2014/main" id="{AD0A3729-C5B0-42AA-BA56-CA0E3CFB0502}"/>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Null target threshold</a:t>
            </a:r>
          </a:p>
        </p:txBody>
      </p:sp>
      <p:sp>
        <p:nvSpPr>
          <p:cNvPr id="7" name="">
            <a:extLst xmlns:a="http://schemas.openxmlformats.org/drawingml/2006/main">
              <a:ext uri="{FF2B5EF4-FFF2-40B4-BE49-F238E27FC236}">
                <a16:creationId xmlns:a16="http://schemas.microsoft.com/office/drawing/2014/main" id="{F6BC9BEC-FDA6-4466-B8CB-4BE80E8713BE}"/>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0.125% theoretical marginal rate</a:t>
            </a:r>
          </a:p>
        </p:txBody>
      </p:sp>
      <p:sp>
        <p:nvSpPr>
          <p:cNvPr id="8" name="">
            <a:extLst xmlns:a="http://schemas.openxmlformats.org/drawingml/2006/main">
              <a:ext uri="{FF2B5EF4-FFF2-40B4-BE49-F238E27FC236}">
                <a16:creationId xmlns:a16="http://schemas.microsoft.com/office/drawing/2014/main" id="{A76FD219-7815-4118-92B4-BC1AFB916F13}"/>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Monte Carlo class size</a:t>
            </a:r>
          </a:p>
        </p:txBody>
      </p:sp>
      <p:sp>
        <p:nvSpPr>
          <p:cNvPr id="9" name="">
            <a:extLst xmlns:a="http://schemas.openxmlformats.org/drawingml/2006/main">
              <a:ext uri="{FF2B5EF4-FFF2-40B4-BE49-F238E27FC236}">
                <a16:creationId xmlns:a16="http://schemas.microsoft.com/office/drawing/2014/main" id="{47BAE38E-6416-4295-9D46-B2D106760956}"/>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10" name="">
            <a:extLst xmlns:a="http://schemas.openxmlformats.org/drawingml/2006/main">
              <a:ext uri="{FF2B5EF4-FFF2-40B4-BE49-F238E27FC236}">
                <a16:creationId xmlns:a16="http://schemas.microsoft.com/office/drawing/2014/main" id="{31D97FA1-A05C-4FB5-91E6-C06BF3559804}"/>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These recalls are near the false-alarm scale. No cell establishes useful PM detection.</a:t>
            </a:r>
          </a:p>
        </p:txBody>
      </p:sp>
      <p:sp>
        <p:nvSpPr>
          <p:cNvPr id="11" name="">
            <a:extLst xmlns:a="http://schemas.openxmlformats.org/drawingml/2006/main">
              <a:ext uri="{FF2B5EF4-FFF2-40B4-BE49-F238E27FC236}">
                <a16:creationId xmlns:a16="http://schemas.microsoft.com/office/drawing/2014/main" id="{B5BD1CEE-9B5E-4429-9AAC-B2DEB1D45F97}"/>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37</a:t>
            </a:r>
          </a:p>
        </p:txBody>
      </p:sp>
    </p:spTree>
    <p:extLst>
      <p:ext uri="{BB962C8B-B14F-4D97-AF65-F5344CB8AC3E}">
        <p14:creationId xmlns:p14="http://schemas.microsoft.com/office/powerpoint/2010/main" val="61636201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DA2580B-E7C9-4005-B93B-2D9DC684C3A3}"/>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Reproducible evidence map</a:t>
            </a:r>
          </a:p>
        </p:txBody>
      </p:sp>
      <p:sp>
        <p:nvSpPr>
          <p:cNvPr id="2" name="">
            <a:extLst xmlns:a="http://schemas.openxmlformats.org/drawingml/2006/main">
              <a:ext uri="{FF2B5EF4-FFF2-40B4-BE49-F238E27FC236}">
                <a16:creationId xmlns:a16="http://schemas.microsoft.com/office/drawing/2014/main" id="{4137AB74-2A13-4C4B-B633-BC4A365C5536}"/>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Research snapshot 461a3ba, 27 September 2026</a:t>
            </a:r>
          </a:p>
        </p:txBody>
      </p:sp>
      <p:graphicFrame>
        <p:nvGraphicFramePr>
          <p:cNvPr id="13"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5005320"/>
                <a:gridCol w="8863080"/>
              </a:tblGrid>
              <a:tr h="504825">
                <a:tc>
                  <a:txBody>
                    <a:bodyPr/>
                    <a:lstStyle/>
                    <a:p>
                      <a:r>
                        <a:rPr sz="1950" b="1">
                          <a:solidFill>
                            <a:srgbClr val="FFFFFF"/>
                          </a:solidFill>
                          <a:latin typeface="Arial"/>
                          <a:ea typeface="Arial"/>
                          <a:cs typeface="Arial"/>
                        </a:rPr>
                        <a:t>Research material</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Repository location</a:t>
                      </a:r>
                    </a:p>
                  </a:txBody>
                  <a:tcPr marL="114300" marR="114300" marT="57150" marB="57150" anchor="ctr">
                    <a:solidFill>
                      <a:srgbClr val="153246"/>
                    </a:solidFill>
                  </a:tcPr>
                </a:tc>
              </a:tr>
              <a:tr h="504825">
                <a:tc>
                  <a:txBody>
                    <a:bodyPr/>
                    <a:lstStyle/>
                    <a:p>
                      <a:r>
                        <a:rPr sz="1950" b="0">
                          <a:solidFill>
                            <a:srgbClr val="153246"/>
                          </a:solidFill>
                          <a:latin typeface="Arial"/>
                          <a:ea typeface="Arial"/>
                          <a:cs typeface="Arial"/>
                        </a:rPr>
                        <a:t>Original task definition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I2R_proposal_THz_ISAC (1).pdf</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Current results and global comparison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docs/51_joint_design_time_calibration_results.md</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Species, equations and metric definitions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docs/50_species_methods_and_percentage_guide.md</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Complete open-issue ledger</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docs/49_completion_audit_and_fixes.md</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Critical calibration record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docs/46_critical_calibration_assumption.md</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Data, trials, hashes and validation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results/joint_receiver_revision/</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Current manuscript</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output/pdf/thz_isac_pollutant_sensing_ieee.pdf</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730B2A5C-E15B-4E08-9788-1E0A9C691B71}"/>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Retained metric rows</a:t>
            </a:r>
          </a:p>
        </p:txBody>
      </p:sp>
      <p:sp>
        <p:nvSpPr>
          <p:cNvPr id="5" name="">
            <a:extLst xmlns:a="http://schemas.openxmlformats.org/drawingml/2006/main">
              <a:ext uri="{FF2B5EF4-FFF2-40B4-BE49-F238E27FC236}">
                <a16:creationId xmlns:a16="http://schemas.microsoft.com/office/drawing/2014/main" id="{426691BB-F090-4731-96C1-9F8E423EFCB0}"/>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480</a:t>
            </a:r>
          </a:p>
        </p:txBody>
      </p:sp>
      <p:sp>
        <p:nvSpPr>
          <p:cNvPr id="6" name="">
            <a:extLst xmlns:a="http://schemas.openxmlformats.org/drawingml/2006/main">
              <a:ext uri="{FF2B5EF4-FFF2-40B4-BE49-F238E27FC236}">
                <a16:creationId xmlns:a16="http://schemas.microsoft.com/office/drawing/2014/main" id="{87C2D1FB-C166-4A2F-83CD-7851DA54B749}"/>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Global rows</a:t>
            </a:r>
          </a:p>
        </p:txBody>
      </p:sp>
      <p:sp>
        <p:nvSpPr>
          <p:cNvPr id="7" name="">
            <a:extLst xmlns:a="http://schemas.openxmlformats.org/drawingml/2006/main">
              <a:ext uri="{FF2B5EF4-FFF2-40B4-BE49-F238E27FC236}">
                <a16:creationId xmlns:a16="http://schemas.microsoft.com/office/drawing/2014/main" id="{CDFEBFE3-A8CE-4D06-8ED9-5B252FBCA313}"/>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2,304</a:t>
            </a:r>
          </a:p>
        </p:txBody>
      </p:sp>
      <p:sp>
        <p:nvSpPr>
          <p:cNvPr id="8" name="">
            <a:extLst xmlns:a="http://schemas.openxmlformats.org/drawingml/2006/main">
              <a:ext uri="{FF2B5EF4-FFF2-40B4-BE49-F238E27FC236}">
                <a16:creationId xmlns:a16="http://schemas.microsoft.com/office/drawing/2014/main" id="{FE093E72-C3AA-4501-A823-8338C14B7615}"/>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Passing research tests</a:t>
            </a:r>
          </a:p>
        </p:txBody>
      </p:sp>
      <p:sp>
        <p:nvSpPr>
          <p:cNvPr id="9" name="">
            <a:extLst xmlns:a="http://schemas.openxmlformats.org/drawingml/2006/main">
              <a:ext uri="{FF2B5EF4-FFF2-40B4-BE49-F238E27FC236}">
                <a16:creationId xmlns:a16="http://schemas.microsoft.com/office/drawing/2014/main" id="{88201F5C-C075-47B0-A4CB-496378A21A14}"/>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235</a:t>
            </a:r>
          </a:p>
        </p:txBody>
      </p:sp>
      <p:sp>
        <p:nvSpPr>
          <p:cNvPr id="10" name="">
            <a:extLst xmlns:a="http://schemas.openxmlformats.org/drawingml/2006/main">
              <a:ext uri="{FF2B5EF4-FFF2-40B4-BE49-F238E27FC236}">
                <a16:creationId xmlns:a16="http://schemas.microsoft.com/office/drawing/2014/main" id="{8339DA81-D2F0-48D3-8087-DAB1CAB229FC}"/>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38</a:t>
            </a:r>
          </a:p>
        </p:txBody>
      </p:sp>
    </p:spTree>
    <p:extLst>
      <p:ext uri="{BB962C8B-B14F-4D97-AF65-F5344CB8AC3E}">
        <p14:creationId xmlns:p14="http://schemas.microsoft.com/office/powerpoint/2010/main" val="97561342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FF4994-C4A7-464F-A283-9158337D1DC1}"/>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Physical and methodological sources</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Original tasks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11</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Current source snapshot</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461a3ba</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Additional organic catalog gaps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4</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Paired field validation</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Open</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8BC6A63-51D3-4689-A6B0-90062ACFDE21}"/>
              </a:ext>
            </a:extLst>
          </p:cNvPr>
          <p:cNvSpPr>
            <a:spLocks xmlns:a="http://schemas.openxmlformats.org/drawingml/2006/main" noGrp="1"/>
          </p:cNvSpPr>
          <p:nvPr/>
        </p:nvSpPr>
        <p:spPr>
          <a:xfrm xmlns:a="http://schemas.openxmlformats.org/drawingml/2006/main">
            <a:off x="723900" y="175260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HITRAN2024 and HAPI: line data, isotope handling and spectroscopic calculations.</a:t>
            </a:r>
          </a:p>
        </p:txBody>
      </p:sp>
      <p:sp>
        <p:nvSpPr>
          <p:cNvPr id="4" name="">
            <a:extLst xmlns:a="http://schemas.openxmlformats.org/drawingml/2006/main">
              <a:ext uri="{FF2B5EF4-FFF2-40B4-BE49-F238E27FC236}">
                <a16:creationId xmlns:a16="http://schemas.microsoft.com/office/drawing/2014/main" id="{9F51AEA9-BD9C-4CE2-9DC7-DA6EE315B62C}"/>
              </a:ext>
            </a:extLst>
          </p:cNvPr>
          <p:cNvSpPr>
            <a:spLocks xmlns:a="http://schemas.openxmlformats.org/drawingml/2006/main" noGrp="1"/>
          </p:cNvSpPr>
          <p:nvPr/>
        </p:nvSpPr>
        <p:spPr>
          <a:xfrm xmlns:a="http://schemas.openxmlformats.org/drawingml/2006/main">
            <a:off x="723900" y="264414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ITU-R P.835 and P.676: reference atmosphere, oxygen/water absorption and atmospheric background.</a:t>
            </a:r>
          </a:p>
        </p:txBody>
      </p:sp>
      <p:sp>
        <p:nvSpPr>
          <p:cNvPr id="5" name="">
            <a:extLst xmlns:a="http://schemas.openxmlformats.org/drawingml/2006/main">
              <a:ext uri="{FF2B5EF4-FFF2-40B4-BE49-F238E27FC236}">
                <a16:creationId xmlns:a16="http://schemas.microsoft.com/office/drawing/2014/main" id="{875AA0E5-EBD8-4055-B9E7-98ECBD747161}"/>
              </a:ext>
            </a:extLst>
          </p:cNvPr>
          <p:cNvSpPr>
            <a:spLocks xmlns:a="http://schemas.openxmlformats.org/drawingml/2006/main" noGrp="1"/>
          </p:cNvSpPr>
          <p:nvPr/>
        </p:nvSpPr>
        <p:spPr>
          <a:xfrm xmlns:a="http://schemas.openxmlformats.org/drawingml/2006/main">
            <a:off x="723900" y="353568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NOAA IGRA: independent measured weather soundings.</a:t>
            </a:r>
          </a:p>
        </p:txBody>
      </p:sp>
      <p:sp>
        <p:nvSpPr>
          <p:cNvPr id="6" name="">
            <a:extLst xmlns:a="http://schemas.openxmlformats.org/drawingml/2006/main">
              <a:ext uri="{FF2B5EF4-FFF2-40B4-BE49-F238E27FC236}">
                <a16:creationId xmlns:a16="http://schemas.microsoft.com/office/drawing/2014/main" id="{A7B18201-66C0-401C-B227-6DF9CC6E4074}"/>
              </a:ext>
            </a:extLst>
          </p:cNvPr>
          <p:cNvSpPr>
            <a:spLocks xmlns:a="http://schemas.openxmlformats.org/drawingml/2006/main" noGrp="1"/>
          </p:cNvSpPr>
          <p:nvPr/>
        </p:nvSpPr>
        <p:spPr>
          <a:xfrm xmlns:a="http://schemas.openxmlformats.org/drawingml/2006/main">
            <a:off x="723900" y="442722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Aliaga et al. (2024) and Yang et al. (2024): satellite differential absorption and gas/particle propagation context.</a:t>
            </a:r>
          </a:p>
        </p:txBody>
      </p:sp>
      <p:sp>
        <p:nvSpPr>
          <p:cNvPr id="7" name="">
            <a:extLst xmlns:a="http://schemas.openxmlformats.org/drawingml/2006/main">
              <a:ext uri="{FF2B5EF4-FFF2-40B4-BE49-F238E27FC236}">
                <a16:creationId xmlns:a16="http://schemas.microsoft.com/office/drawing/2014/main" id="{46104CD7-DC9B-4D25-887D-51D2DD12977E}"/>
              </a:ext>
            </a:extLst>
          </p:cNvPr>
          <p:cNvSpPr>
            <a:spLocks xmlns:a="http://schemas.openxmlformats.org/drawingml/2006/main" noGrp="1"/>
          </p:cNvSpPr>
          <p:nvPr/>
        </p:nvSpPr>
        <p:spPr>
          <a:xfrm xmlns:a="http://schemas.openxmlformats.org/drawingml/2006/main">
            <a:off x="723900" y="531876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Xu, Fu and Kim (2025): using pilots and payloads for sensing. Established M2M4 literature supplies the signal/noise estimator.</a:t>
            </a:r>
          </a:p>
        </p:txBody>
      </p:sp>
      <p:sp>
        <p:nvSpPr>
          <p:cNvPr id="8" name="">
            <a:extLst xmlns:a="http://schemas.openxmlformats.org/drawingml/2006/main">
              <a:ext uri="{FF2B5EF4-FFF2-40B4-BE49-F238E27FC236}">
                <a16:creationId xmlns:a16="http://schemas.microsoft.com/office/drawing/2014/main" id="{7E086EAA-F1E6-4FED-ADE1-D5C00F8802E1}"/>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Published models motivate and parameterize the study. They do not validate this receiver’s field performance.</a:t>
            </a:r>
          </a:p>
        </p:txBody>
      </p:sp>
      <p:sp>
        <p:nvSpPr>
          <p:cNvPr id="9" name="">
            <a:extLst xmlns:a="http://schemas.openxmlformats.org/drawingml/2006/main">
              <a:ext uri="{FF2B5EF4-FFF2-40B4-BE49-F238E27FC236}">
                <a16:creationId xmlns:a16="http://schemas.microsoft.com/office/drawing/2014/main" id="{977D34E7-6327-4290-BAC8-A549EDAAD3A1}"/>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39</a:t>
            </a:r>
          </a:p>
        </p:txBody>
      </p:sp>
    </p:spTree>
    <p:extLst>
      <p:ext uri="{BB962C8B-B14F-4D97-AF65-F5344CB8AC3E}">
        <p14:creationId xmlns:p14="http://schemas.microsoft.com/office/powerpoint/2010/main" val="123598967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DF4F650-8E6C-4678-87D5-A0358989BA0C}"/>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Datasets · Exact HITRAN subset in the current receiver</a:t>
            </a:r>
          </a:p>
        </p:txBody>
      </p:sp>
      <p:sp>
        <p:nvSpPr>
          <p:cNvPr id="2" name="">
            <a:extLst xmlns:a="http://schemas.openxmlformats.org/drawingml/2006/main">
              <a:ext uri="{FF2B5EF4-FFF2-40B4-BE49-F238E27FC236}">
                <a16:creationId xmlns:a16="http://schemas.microsoft.com/office/drawing/2014/main" id="{FC1D7847-CDF6-4D24-99AB-80FC689289CB}"/>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HITRAN2024 via HAPI. The current nine gases use two retained input tables and isotope-specific profiles.</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3333750"/>
                <a:gridCol w="2857500"/>
                <a:gridCol w="4095750"/>
                <a:gridCol w="3581400"/>
              </a:tblGrid>
              <a:tr h="434340">
                <a:tc>
                  <a:txBody>
                    <a:bodyPr/>
                    <a:lstStyle/>
                    <a:p>
                      <a:r>
                        <a:rPr sz="1800" b="1">
                          <a:solidFill>
                            <a:srgbClr val="FFFFFF"/>
                          </a:solidFill>
                          <a:latin typeface="Arial"/>
                          <a:ea typeface="Arial"/>
                          <a:cs typeface="Arial"/>
                        </a:rPr>
                        <a:t>Gas and role</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HITRAN isotope IDs</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Acquired lines, 0–3000 GHz</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Centres in 220–330 GHz</a:t>
                      </a:r>
                    </a:p>
                  </a:txBody>
                  <a:tcPr marL="114300" marR="114300" marT="57150" marB="57150" anchor="ctr">
                    <a:solidFill>
                      <a:srgbClr val="153246"/>
                    </a:solidFill>
                  </a:tcPr>
                </a:tc>
              </a:tr>
              <a:tr h="434340">
                <a:tc>
                  <a:txBody>
                    <a:bodyPr/>
                    <a:lstStyle/>
                    <a:p>
                      <a:r>
                        <a:rPr sz="1800" b="0">
                          <a:solidFill>
                            <a:srgbClr val="153246"/>
                          </a:solidFill>
                          <a:latin typeface="Arial"/>
                          <a:ea typeface="Arial"/>
                          <a:cs typeface="Arial"/>
                        </a:rPr>
                        <a:t>H2CO · target</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1, 2, 3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12,147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151</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CH3OH · target</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4,663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467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CH3CN · target</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17,880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1,078</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CH3Cl · target</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1, 2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12,824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670</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HCOOH · target</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1, 2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18,440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401</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CO · interferent</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1, 2, 3, 4, 5, 6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773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O3 · interferent</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1, 2, 3, 4, 5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93,018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3,199</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SO2 · interferent</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1, 2, 3, 4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139,086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5,562</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NO2 · interferent</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20,170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706</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8D5A01C0-87D7-42CD-85E4-9756BA9B1F99}"/>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Acquired line pool</a:t>
            </a:r>
          </a:p>
        </p:txBody>
      </p:sp>
      <p:sp>
        <p:nvSpPr>
          <p:cNvPr id="5" name="">
            <a:extLst xmlns:a="http://schemas.openxmlformats.org/drawingml/2006/main">
              <a:ext uri="{FF2B5EF4-FFF2-40B4-BE49-F238E27FC236}">
                <a16:creationId xmlns:a16="http://schemas.microsoft.com/office/drawing/2014/main" id="{DB614959-6B1C-4D7E-94FE-9C6FBCE35216}"/>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319,001</a:t>
            </a:r>
          </a:p>
        </p:txBody>
      </p:sp>
      <p:sp>
        <p:nvSpPr>
          <p:cNvPr id="6" name="">
            <a:extLst xmlns:a="http://schemas.openxmlformats.org/drawingml/2006/main">
              <a:ext uri="{FF2B5EF4-FFF2-40B4-BE49-F238E27FC236}">
                <a16:creationId xmlns:a16="http://schemas.microsoft.com/office/drawing/2014/main" id="{AC4E6C09-2EE4-4FD6-90A5-E7768739097A}"/>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Isotope tables</a:t>
            </a:r>
          </a:p>
        </p:txBody>
      </p:sp>
      <p:sp>
        <p:nvSpPr>
          <p:cNvPr id="7" name="">
            <a:extLst xmlns:a="http://schemas.openxmlformats.org/drawingml/2006/main">
              <a:ext uri="{FF2B5EF4-FFF2-40B4-BE49-F238E27FC236}">
                <a16:creationId xmlns:a16="http://schemas.microsoft.com/office/drawing/2014/main" id="{9026311B-F552-4044-A172-99CA39AB8F3B}"/>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25</a:t>
            </a:r>
          </a:p>
        </p:txBody>
      </p:sp>
      <p:sp>
        <p:nvSpPr>
          <p:cNvPr id="8" name="">
            <a:extLst xmlns:a="http://schemas.openxmlformats.org/drawingml/2006/main">
              <a:ext uri="{FF2B5EF4-FFF2-40B4-BE49-F238E27FC236}">
                <a16:creationId xmlns:a16="http://schemas.microsoft.com/office/drawing/2014/main" id="{060D0BAD-40CC-4C4C-8AFD-99E58E2B5DD4}"/>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Centres in receiver window</a:t>
            </a:r>
          </a:p>
        </p:txBody>
      </p:sp>
      <p:sp>
        <p:nvSpPr>
          <p:cNvPr id="9" name="">
            <a:extLst xmlns:a="http://schemas.openxmlformats.org/drawingml/2006/main">
              <a:ext uri="{FF2B5EF4-FFF2-40B4-BE49-F238E27FC236}">
                <a16:creationId xmlns:a16="http://schemas.microsoft.com/office/drawing/2014/main" id="{10641622-F705-44B6-8B7D-2A705A38462E}"/>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12,261</a:t>
            </a:r>
          </a:p>
        </p:txBody>
      </p:sp>
      <p:sp>
        <p:nvSpPr>
          <p:cNvPr id="10" name="">
            <a:extLst xmlns:a="http://schemas.openxmlformats.org/drawingml/2006/main">
              <a:ext uri="{FF2B5EF4-FFF2-40B4-BE49-F238E27FC236}">
                <a16:creationId xmlns:a16="http://schemas.microsoft.com/office/drawing/2014/main" id="{8F952EFA-003E-4FA8-8890-4F789058FCDF}"/>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All acquired line wings enter the calculation. H₂O/O₂ background uses ITU-R P.676; these are parameters, not measured radio data.</a:t>
            </a:r>
          </a:p>
        </p:txBody>
      </p:sp>
      <p:sp>
        <p:nvSpPr>
          <p:cNvPr id="11" name="">
            <a:extLst xmlns:a="http://schemas.openxmlformats.org/drawingml/2006/main">
              <a:ext uri="{FF2B5EF4-FFF2-40B4-BE49-F238E27FC236}">
                <a16:creationId xmlns:a16="http://schemas.microsoft.com/office/drawing/2014/main" id="{121DD1AF-5E2C-4751-ADC2-FA241D70E3D6}"/>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40</a:t>
            </a:r>
          </a:p>
        </p:txBody>
      </p:sp>
    </p:spTree>
    <p:extLst>
      <p:ext uri="{BB962C8B-B14F-4D97-AF65-F5344CB8AC3E}">
        <p14:creationId xmlns:p14="http://schemas.microsoft.com/office/powerpoint/2010/main" val="8444055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D41B69C-6FC8-44BC-82D3-90AEE46E7AB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Datasets · NOAA IGRA weather profiles actually used</a:t>
            </a:r>
          </a:p>
        </p:txBody>
      </p:sp>
      <p:sp>
        <p:nvSpPr>
          <p:cNvPr id="2" name="">
            <a:extLst xmlns:a="http://schemas.openxmlformats.org/drawingml/2006/main">
              <a:ext uri="{FF2B5EF4-FFF2-40B4-BE49-F238E27FC236}">
                <a16:creationId xmlns:a16="http://schemas.microsoft.com/office/drawing/2014/main" id="{6FB8DB6F-B04E-4129-AAB5-A6DD155BEC05}"/>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Beijing station CHM00054511, 2026 year to date archive acquired on 23 September 2026.</a:t>
            </a:r>
          </a:p>
        </p:txBody>
      </p:sp>
      <p:graphicFrame>
        <p:nvGraphicFramePr>
          <p:cNvPr id="15"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3048000"/>
                <a:gridCol w="2190750"/>
                <a:gridCol w="3619500"/>
                <a:gridCol w="5010150"/>
              </a:tblGrid>
              <a:tr h="807720">
                <a:tc>
                  <a:txBody>
                    <a:bodyPr/>
                    <a:lstStyle/>
                    <a:p>
                      <a:r>
                        <a:rPr sz="1950" b="1">
                          <a:solidFill>
                            <a:srgbClr val="FFFFFF"/>
                          </a:solidFill>
                          <a:latin typeface="Arial"/>
                          <a:ea typeface="Arial"/>
                          <a:cs typeface="Arial"/>
                        </a:rPr>
                        <a:t>Sounding, UTC</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Measured levels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Measured top above station</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Where it was used</a:t>
                      </a:r>
                    </a:p>
                  </a:txBody>
                  <a:tcPr marL="114300" marR="114300" marT="57150" marB="57150" anchor="ctr">
                    <a:solidFill>
                      <a:srgbClr val="153246"/>
                    </a:solidFill>
                  </a:tcPr>
                </a:tc>
              </a:tr>
              <a:tr h="807720">
                <a:tc>
                  <a:txBody>
                    <a:bodyPr/>
                    <a:lstStyle/>
                    <a:p>
                      <a:r>
                        <a:rPr sz="1950" b="0">
                          <a:solidFill>
                            <a:srgbClr val="153246"/>
                          </a:solidFill>
                          <a:latin typeface="Arial"/>
                          <a:ea typeface="Arial"/>
                          <a:cs typeface="Arial"/>
                        </a:rPr>
                        <a:t>2026-01-01 00:00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226</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36.97 km</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Current global grid and earlier tests</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2026-04-01 00:00</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160</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28.76 km</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Earlier seasonal sensitivity tests</a:t>
                      </a:r>
                    </a:p>
                  </a:txBody>
                  <a:tcPr marL="114300" marR="114300" marT="57150" marB="57150" anchor="ctr">
                    <a:solidFill>
                      <a:srgbClr val="FFFFFF"/>
                    </a:solidFill>
                  </a:tcPr>
                </a:tc>
              </a:tr>
              <a:tr h="807720">
                <a:tc>
                  <a:txBody>
                    <a:bodyPr/>
                    <a:lstStyle/>
                    <a:p>
                      <a:r>
                        <a:rPr sz="1950" b="0">
                          <a:solidFill>
                            <a:srgbClr val="153246"/>
                          </a:solidFill>
                          <a:latin typeface="Arial"/>
                          <a:ea typeface="Arial"/>
                          <a:cs typeface="Arial"/>
                        </a:rPr>
                        <a:t>2026-07-01 00:00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203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32.34 km</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Earlier seasonal sensitivity tests</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2026-09-01 00:00</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189</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34.95 km</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Earlier seasonal sensitivity tests</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60D641A-AF27-4B6C-A3C3-733BA422F58B}"/>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Retained levels</a:t>
            </a:r>
          </a:p>
        </p:txBody>
      </p:sp>
      <p:sp>
        <p:nvSpPr>
          <p:cNvPr id="5" name="">
            <a:extLst xmlns:a="http://schemas.openxmlformats.org/drawingml/2006/main">
              <a:ext uri="{FF2B5EF4-FFF2-40B4-BE49-F238E27FC236}">
                <a16:creationId xmlns:a16="http://schemas.microsoft.com/office/drawing/2014/main" id="{55D10883-6CC1-42EF-9C08-818E02C27682}"/>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103,322</a:t>
            </a:r>
          </a:p>
        </p:txBody>
      </p:sp>
      <p:sp>
        <p:nvSpPr>
          <p:cNvPr id="6" name="">
            <a:extLst xmlns:a="http://schemas.openxmlformats.org/drawingml/2006/main">
              <a:ext uri="{FF2B5EF4-FFF2-40B4-BE49-F238E27FC236}">
                <a16:creationId xmlns:a16="http://schemas.microsoft.com/office/drawing/2014/main" id="{DDAA528D-01F6-44A3-98B1-E8270F6DB52A}"/>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Retained soundings</a:t>
            </a:r>
          </a:p>
        </p:txBody>
      </p:sp>
      <p:sp>
        <p:nvSpPr>
          <p:cNvPr id="7" name="">
            <a:extLst xmlns:a="http://schemas.openxmlformats.org/drawingml/2006/main">
              <a:ext uri="{FF2B5EF4-FFF2-40B4-BE49-F238E27FC236}">
                <a16:creationId xmlns:a16="http://schemas.microsoft.com/office/drawing/2014/main" id="{73ACDD1F-F947-4246-855C-34A487606C4E}"/>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521</a:t>
            </a:r>
          </a:p>
        </p:txBody>
      </p:sp>
      <p:sp>
        <p:nvSpPr>
          <p:cNvPr id="8" name="">
            <a:extLst xmlns:a="http://schemas.openxmlformats.org/drawingml/2006/main">
              <a:ext uri="{FF2B5EF4-FFF2-40B4-BE49-F238E27FC236}">
                <a16:creationId xmlns:a16="http://schemas.microsoft.com/office/drawing/2014/main" id="{28A08227-5F29-406E-898E-ED4EDD98B9C2}"/>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Selected profiles</a:t>
            </a:r>
          </a:p>
        </p:txBody>
      </p:sp>
      <p:sp>
        <p:nvSpPr>
          <p:cNvPr id="9" name="">
            <a:extLst xmlns:a="http://schemas.openxmlformats.org/drawingml/2006/main">
              <a:ext uri="{FF2B5EF4-FFF2-40B4-BE49-F238E27FC236}">
                <a16:creationId xmlns:a16="http://schemas.microsoft.com/office/drawing/2014/main" id="{4B185051-E556-41BC-9E7E-3C99DDA1F4EC}"/>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 earlier / 1 current</a:t>
            </a:r>
          </a:p>
        </p:txBody>
      </p:sp>
      <p:sp>
        <p:nvSpPr>
          <p:cNvPr id="10" name="">
            <a:extLst xmlns:a="http://schemas.openxmlformats.org/drawingml/2006/main">
              <a:ext uri="{FF2B5EF4-FFF2-40B4-BE49-F238E27FC236}">
                <a16:creationId xmlns:a16="http://schemas.microsoft.com/office/drawing/2014/main" id="{4197F953-5674-4158-A4A6-D1C8873028D9}"/>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Current global comparisons use the January sounding and the ITU standard atmosphere.</a:t>
            </a:r>
          </a:p>
        </p:txBody>
      </p:sp>
      <p:sp>
        <p:nvSpPr>
          <p:cNvPr id="11" name="">
            <a:extLst xmlns:a="http://schemas.openxmlformats.org/drawingml/2006/main">
              <a:ext uri="{FF2B5EF4-FFF2-40B4-BE49-F238E27FC236}">
                <a16:creationId xmlns:a16="http://schemas.microsoft.com/office/drawing/2014/main" id="{402725D4-A16C-4086-924F-752E93AB1D8C}"/>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Measured weather provides no VOC/PM concentration labels. Above the measured top, the atmosphere is extended by a model to 100 km.</a:t>
            </a:r>
          </a:p>
        </p:txBody>
      </p:sp>
      <p:sp>
        <p:nvSpPr>
          <p:cNvPr id="12" name="">
            <a:extLst xmlns:a="http://schemas.openxmlformats.org/drawingml/2006/main">
              <a:ext uri="{FF2B5EF4-FFF2-40B4-BE49-F238E27FC236}">
                <a16:creationId xmlns:a16="http://schemas.microsoft.com/office/drawing/2014/main" id="{34AA1661-1848-442C-8DB8-CD8927D72BB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41</a:t>
            </a:r>
          </a:p>
        </p:txBody>
      </p:sp>
    </p:spTree>
    <p:extLst>
      <p:ext uri="{BB962C8B-B14F-4D97-AF65-F5344CB8AC3E}">
        <p14:creationId xmlns:p14="http://schemas.microsoft.com/office/powerpoint/2010/main" val="139262316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639DDF-C07C-4B48-81F8-E5EC0BDAE1C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Datasets · Independent water and aerosol checks</a:t>
            </a:r>
          </a:p>
        </p:txBody>
      </p:sp>
      <p:sp>
        <p:nvSpPr>
          <p:cNvPr id="2" name="">
            <a:extLst xmlns:a="http://schemas.openxmlformats.org/drawingml/2006/main">
              <a:ext uri="{FF2B5EF4-FFF2-40B4-BE49-F238E27FC236}">
                <a16:creationId xmlns:a16="http://schemas.microsoft.com/office/drawing/2014/main" id="{628C7395-8418-44E2-8424-6C1360F54A64}"/>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These are external physical checks. Neither dataset supplies the current five VOC and PM recall labels.</a:t>
            </a:r>
          </a:p>
        </p:txBody>
      </p:sp>
      <p:graphicFrame>
        <p:nvGraphicFramePr>
          <p:cNvPr id="14"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3286125"/>
                <a:gridCol w="4524375"/>
                <a:gridCol w="3048000"/>
                <a:gridCol w="3009900"/>
              </a:tblGrid>
              <a:tr h="1346200">
                <a:tc>
                  <a:txBody>
                    <a:bodyPr/>
                    <a:lstStyle/>
                    <a:p>
                      <a:r>
                        <a:rPr sz="1950" b="1">
                          <a:solidFill>
                            <a:srgbClr val="FFFFFF"/>
                          </a:solidFill>
                          <a:latin typeface="Arial"/>
                          <a:ea typeface="Arial"/>
                          <a:cs typeface="Arial"/>
                        </a:rPr>
                        <a:t>Source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Exact part used</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What was checked</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Important boundary</a:t>
                      </a:r>
                    </a:p>
                  </a:txBody>
                  <a:tcPr marL="114300" marR="114300" marT="57150" marB="57150" anchor="ctr">
                    <a:solidFill>
                      <a:srgbClr val="153246"/>
                    </a:solidFill>
                  </a:tcPr>
                </a:tc>
              </a:tr>
              <a:tr h="1346200">
                <a:tc>
                  <a:txBody>
                    <a:bodyPr/>
                    <a:lstStyle/>
                    <a:p>
                      <a:r>
                        <a:rPr sz="1950" b="0">
                          <a:solidFill>
                            <a:srgbClr val="153246"/>
                          </a:solidFill>
                          <a:latin typeface="Arial"/>
                          <a:ea typeface="Arial"/>
                          <a:cs typeface="Arial"/>
                        </a:rPr>
                        <a:t>Water vapour paper (2023)</a:t>
                      </a:r>
                    </a:p>
                    <a:p>
                      <a:r>
                        <a:rPr sz="1950" b="0">
                          <a:solidFill>
                            <a:srgbClr val="153246"/>
                          </a:solidFill>
                          <a:latin typeface="Arial"/>
                          <a:ea typeface="Arial"/>
                          <a:cs typeface="Arial"/>
                        </a:rPr>
                        <a:t>Scientific Reports, Figure 8</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Figure 8 aggregate slopes at 380.197353 GHz: VNA 0.033 ± 0.009 and TDS 0.027 ± 0.009</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Absorption slope in (dB/m)/(g/m³), compared with declared model states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Published aggregates only. No raw measurement series or VOC labels.</a:t>
                      </a:r>
                    </a:p>
                  </a:txBody>
                  <a:tcPr marL="114300" marR="114300" marT="57150" marB="57150" anchor="ctr">
                    <a:solidFill>
                      <a:srgbClr val="F0F5F7"/>
                    </a:solidFill>
                  </a:tcPr>
                </a:tc>
              </a:tr>
              <a:tr h="1346200">
                <a:tc>
                  <a:txBody>
                    <a:bodyPr/>
                    <a:lstStyle/>
                    <a:p>
                      <a:r>
                        <a:rPr sz="1950" b="0">
                          <a:solidFill>
                            <a:srgbClr val="153246"/>
                          </a:solidFill>
                          <a:latin typeface="Arial"/>
                          <a:ea typeface="Arial"/>
                          <a:cs typeface="Arial"/>
                        </a:rPr>
                        <a:t>Calcite THz-TDS</a:t>
                      </a:r>
                    </a:p>
                    <a:p>
                      <a:r>
                        <a:rPr sz="1950" b="0">
                          <a:solidFill>
                            <a:srgbClr val="153246"/>
                          </a:solidFill>
                          <a:latin typeface="Arial"/>
                          <a:ea typeface="Arial"/>
                          <a:cs typeface="Arial"/>
                        </a:rPr>
                        <a:t>DOI 10.57745/DLJEFW, v1.0</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8 sample and 4 blank recordings, 1 m path. Four native bins near 300, 325, 350 and 375 GHz.</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Native FFT transmission with before/after blanks. 64 transmission rows.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No mass concentration or size labels. Cannot calibrate PM mass extinction.</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671E780-BE44-4F51-824B-BA4C0A85E03B}"/>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Calcite observations</a:t>
            </a:r>
          </a:p>
        </p:txBody>
      </p:sp>
      <p:sp>
        <p:nvSpPr>
          <p:cNvPr id="5" name="">
            <a:extLst xmlns:a="http://schemas.openxmlformats.org/drawingml/2006/main">
              <a:ext uri="{FF2B5EF4-FFF2-40B4-BE49-F238E27FC236}">
                <a16:creationId xmlns:a16="http://schemas.microsoft.com/office/drawing/2014/main" id="{5B6490DB-DA4F-48C2-9229-82DE893CD90F}"/>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8 samples + 4 blanks</a:t>
            </a:r>
          </a:p>
        </p:txBody>
      </p:sp>
      <p:sp>
        <p:nvSpPr>
          <p:cNvPr id="6" name="">
            <a:extLst xmlns:a="http://schemas.openxmlformats.org/drawingml/2006/main">
              <a:ext uri="{FF2B5EF4-FFF2-40B4-BE49-F238E27FC236}">
                <a16:creationId xmlns:a16="http://schemas.microsoft.com/office/drawing/2014/main" id="{7CE7CB1D-5C86-458C-8F50-697D9BEAA79A}"/>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Native frequency resolution</a:t>
            </a:r>
          </a:p>
        </p:txBody>
      </p:sp>
      <p:sp>
        <p:nvSpPr>
          <p:cNvPr id="7" name="">
            <a:extLst xmlns:a="http://schemas.openxmlformats.org/drawingml/2006/main">
              <a:ext uri="{FF2B5EF4-FFF2-40B4-BE49-F238E27FC236}">
                <a16:creationId xmlns:a16="http://schemas.microsoft.com/office/drawing/2014/main" id="{F7E2DF8B-D356-460D-8A38-73B4B19199F8}"/>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About 25 GHz</a:t>
            </a:r>
          </a:p>
        </p:txBody>
      </p:sp>
      <p:sp>
        <p:nvSpPr>
          <p:cNvPr id="8" name="">
            <a:extLst xmlns:a="http://schemas.openxmlformats.org/drawingml/2006/main">
              <a:ext uri="{FF2B5EF4-FFF2-40B4-BE49-F238E27FC236}">
                <a16:creationId xmlns:a16="http://schemas.microsoft.com/office/drawing/2014/main" id="{DF9F54CE-EA5A-4C4E-8D0B-1C5E8D969F73}"/>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Paired PM mass truth</a:t>
            </a:r>
          </a:p>
        </p:txBody>
      </p:sp>
      <p:sp>
        <p:nvSpPr>
          <p:cNvPr id="9" name="">
            <a:extLst xmlns:a="http://schemas.openxmlformats.org/drawingml/2006/main">
              <a:ext uri="{FF2B5EF4-FFF2-40B4-BE49-F238E27FC236}">
                <a16:creationId xmlns:a16="http://schemas.microsoft.com/office/drawing/2014/main" id="{4E82DC8A-C820-472E-A69D-8B4DE9C66AC8}"/>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Unavailable</a:t>
            </a:r>
          </a:p>
        </p:txBody>
      </p:sp>
      <p:sp>
        <p:nvSpPr>
          <p:cNvPr id="10" name="">
            <a:extLst xmlns:a="http://schemas.openxmlformats.org/drawingml/2006/main">
              <a:ext uri="{FF2B5EF4-FFF2-40B4-BE49-F238E27FC236}">
                <a16:creationId xmlns:a16="http://schemas.microsoft.com/office/drawing/2014/main" id="{592A0D65-A353-4F8C-AED0-07A89BE9681B}"/>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Calcite reference RMS difference is 0.0472 dB. This is a separate laboratory diagnostic, not the current receiver’s calibration covariance.</a:t>
            </a:r>
          </a:p>
        </p:txBody>
      </p:sp>
      <p:sp>
        <p:nvSpPr>
          <p:cNvPr id="11" name="">
            <a:extLst xmlns:a="http://schemas.openxmlformats.org/drawingml/2006/main">
              <a:ext uri="{FF2B5EF4-FFF2-40B4-BE49-F238E27FC236}">
                <a16:creationId xmlns:a16="http://schemas.microsoft.com/office/drawing/2014/main" id="{82893369-5BDA-44E0-9E28-55D75D2BE38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42</a:t>
            </a:r>
          </a:p>
        </p:txBody>
      </p:sp>
    </p:spTree>
    <p:extLst>
      <p:ext uri="{BB962C8B-B14F-4D97-AF65-F5344CB8AC3E}">
        <p14:creationId xmlns:p14="http://schemas.microsoft.com/office/powerpoint/2010/main" val="104541691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CC2FAB-D20E-42A7-90F0-B5C79C27511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Datasets · Earlier Beijing benchmark and its filters</a:t>
            </a:r>
          </a:p>
        </p:txBody>
      </p:sp>
      <p:sp>
        <p:nvSpPr>
          <p:cNvPr id="2" name="">
            <a:extLst xmlns:a="http://schemas.openxmlformats.org/drawingml/2006/main">
              <a:ext uri="{FF2B5EF4-FFF2-40B4-BE49-F238E27FC236}">
                <a16:creationId xmlns:a16="http://schemas.microsoft.com/office/drawing/2014/main" id="{BE3229A8-840E-46BB-AD74-1218C7676EB9}"/>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Historical pollution inversion and ground sensor branches. These rows do not label the current five VOC recall experiments.</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3381375"/>
                <a:gridCol w="10487025"/>
              </a:tblGrid>
              <a:tr h="620486">
                <a:tc>
                  <a:txBody>
                    <a:bodyPr/>
                    <a:lstStyle/>
                    <a:p>
                      <a:r>
                        <a:rPr sz="1800" b="1">
                          <a:solidFill>
                            <a:srgbClr val="FFFFFF"/>
                          </a:solidFill>
                          <a:latin typeface="Arial"/>
                          <a:ea typeface="Arial"/>
                          <a:cs typeface="Arial"/>
                        </a:rPr>
                        <a:t>Stage</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Exact retained subset or procedure</a:t>
                      </a:r>
                    </a:p>
                  </a:txBody>
                  <a:tcPr marL="114300" marR="114300" marT="57150" marB="57150" anchor="ctr">
                    <a:solidFill>
                      <a:srgbClr val="153246"/>
                    </a:solidFill>
                  </a:tcPr>
                </a:tc>
              </a:tr>
              <a:tr h="620486">
                <a:tc>
                  <a:txBody>
                    <a:bodyPr/>
                    <a:lstStyle/>
                    <a:p>
                      <a:r>
                        <a:rPr sz="1800" b="0">
                          <a:solidFill>
                            <a:srgbClr val="153246"/>
                          </a:solidFill>
                          <a:latin typeface="Arial"/>
                          <a:ea typeface="Arial"/>
                          <a:cs typeface="Arial"/>
                        </a:rPr>
                        <a:t>UCI Beijing Multi Site Air Quality</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DOI 10.24432/C5RK5G. 12 sites, 1 March 2013 to 28 February 2017.</a:t>
                      </a:r>
                    </a:p>
                  </a:txBody>
                  <a:tcPr marL="114300" marR="114300" marT="57150" marB="57150" anchor="ctr">
                    <a:solidFill>
                      <a:srgbClr val="F0F5F7"/>
                    </a:solidFill>
                  </a:tcPr>
                </a:tc>
              </a:tr>
              <a:tr h="620486">
                <a:tc>
                  <a:txBody>
                    <a:bodyPr/>
                    <a:lstStyle/>
                    <a:p>
                      <a:r>
                        <a:rPr sz="1800" b="0">
                          <a:solidFill>
                            <a:srgbClr val="153246"/>
                          </a:solidFill>
                          <a:latin typeface="Arial"/>
                          <a:ea typeface="Arial"/>
                          <a:cs typeface="Arial"/>
                        </a:rPr>
                        <a:t>Raw measurements</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420,768 station hours. Six pollutants: CO, O₃, SO₂, NO₂, PM2.5 and PM10.</a:t>
                      </a:r>
                    </a:p>
                  </a:txBody>
                  <a:tcPr marL="114300" marR="114300" marT="57150" marB="57150" anchor="ctr">
                    <a:solidFill>
                      <a:srgbClr val="FFFFFF"/>
                    </a:solidFill>
                  </a:tcPr>
                </a:tc>
              </a:tr>
              <a:tr h="620486">
                <a:tc>
                  <a:txBody>
                    <a:bodyPr/>
                    <a:lstStyle/>
                    <a:p>
                      <a:r>
                        <a:rPr sz="1800" b="0">
                          <a:solidFill>
                            <a:srgbClr val="153246"/>
                          </a:solidFill>
                          <a:latin typeface="Arial"/>
                          <a:ea typeface="Arial"/>
                          <a:cs typeface="Arial"/>
                        </a:rPr>
                        <a:t>Complete case filter</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383,585 rows with required pollutants, temperature, pressure, dew point, rain and wind speed.</a:t>
                      </a:r>
                    </a:p>
                  </a:txBody>
                  <a:tcPr marL="114300" marR="114300" marT="57150" marB="57150" anchor="ctr">
                    <a:solidFill>
                      <a:srgbClr val="F0F5F7"/>
                    </a:solidFill>
                  </a:tcPr>
                </a:tc>
              </a:tr>
              <a:tr h="620486">
                <a:tc>
                  <a:txBody>
                    <a:bodyPr/>
                    <a:lstStyle/>
                    <a:p>
                      <a:r>
                        <a:rPr sz="1800" b="0">
                          <a:solidFill>
                            <a:srgbClr val="153246"/>
                          </a:solidFill>
                          <a:latin typeface="Arial"/>
                          <a:ea typeface="Arial"/>
                          <a:cs typeface="Arial"/>
                        </a:rPr>
                        <a:t>Particle consistency filter</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Removed 17,642 rows where PM10 &lt; PM2.5. Retained 365,943 physically ordered rows.</a:t>
                      </a:r>
                    </a:p>
                  </a:txBody>
                  <a:tcPr marL="114300" marR="114300" marT="57150" marB="57150" anchor="ctr">
                    <a:solidFill>
                      <a:srgbClr val="FFFFFF"/>
                    </a:solidFill>
                  </a:tcPr>
                </a:tc>
              </a:tr>
              <a:tr h="620486">
                <a:tc>
                  <a:txBody>
                    <a:bodyPr/>
                    <a:lstStyle/>
                    <a:p>
                      <a:r>
                        <a:rPr sz="1800" b="0">
                          <a:solidFill>
                            <a:srgbClr val="153246"/>
                          </a:solidFill>
                          <a:latin typeface="Arial"/>
                          <a:ea typeface="Arial"/>
                          <a:cs typeface="Arial"/>
                        </a:rPr>
                        <a:t>Modeling sample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Sort by timestamp and station. Select 20,000 deterministic evenly spaced rows.</a:t>
                      </a:r>
                    </a:p>
                  </a:txBody>
                  <a:tcPr marL="114300" marR="114300" marT="57150" marB="57150" anchor="ctr">
                    <a:solidFill>
                      <a:srgbClr val="F0F5F7"/>
                    </a:solidFill>
                  </a:tcPr>
                </a:tc>
              </a:tr>
              <a:tr h="620486">
                <a:tc>
                  <a:txBody>
                    <a:bodyPr/>
                    <a:lstStyle/>
                    <a:p>
                      <a:r>
                        <a:rPr sz="1800" b="0">
                          <a:solidFill>
                            <a:srgbClr val="153246"/>
                          </a:solidFill>
                          <a:latin typeface="Arial"/>
                          <a:ea typeface="Arial"/>
                          <a:cs typeface="Arial"/>
                        </a:rPr>
                        <a:t>Chronological evaluation</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12,000 train / 4,000 validation / 4,000 test. Normalize by the training Q95 − Q05 span.</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9DFFA1A-6327-4F4A-A5F3-351878631D31}"/>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Complete case retention</a:t>
            </a:r>
          </a:p>
        </p:txBody>
      </p:sp>
      <p:sp>
        <p:nvSpPr>
          <p:cNvPr id="5" name="">
            <a:extLst xmlns:a="http://schemas.openxmlformats.org/drawingml/2006/main">
              <a:ext uri="{FF2B5EF4-FFF2-40B4-BE49-F238E27FC236}">
                <a16:creationId xmlns:a16="http://schemas.microsoft.com/office/drawing/2014/main" id="{B3E8EFD4-FB9B-41DE-81A4-A2D829701D2B}"/>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91.163%</a:t>
            </a:r>
          </a:p>
        </p:txBody>
      </p:sp>
      <p:sp>
        <p:nvSpPr>
          <p:cNvPr id="6" name="">
            <a:extLst xmlns:a="http://schemas.openxmlformats.org/drawingml/2006/main">
              <a:ext uri="{FF2B5EF4-FFF2-40B4-BE49-F238E27FC236}">
                <a16:creationId xmlns:a16="http://schemas.microsoft.com/office/drawing/2014/main" id="{6492DA87-5330-4D4B-B15E-A62EA040CEA1}"/>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Physically ordered rows</a:t>
            </a:r>
          </a:p>
        </p:txBody>
      </p:sp>
      <p:sp>
        <p:nvSpPr>
          <p:cNvPr id="7" name="">
            <a:extLst xmlns:a="http://schemas.openxmlformats.org/drawingml/2006/main">
              <a:ext uri="{FF2B5EF4-FFF2-40B4-BE49-F238E27FC236}">
                <a16:creationId xmlns:a16="http://schemas.microsoft.com/office/drawing/2014/main" id="{87213A13-3D3F-4834-8925-5E0CC342E70C}"/>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365,943</a:t>
            </a:r>
          </a:p>
        </p:txBody>
      </p:sp>
      <p:sp>
        <p:nvSpPr>
          <p:cNvPr id="8" name="">
            <a:extLst xmlns:a="http://schemas.openxmlformats.org/drawingml/2006/main">
              <a:ext uri="{FF2B5EF4-FFF2-40B4-BE49-F238E27FC236}">
                <a16:creationId xmlns:a16="http://schemas.microsoft.com/office/drawing/2014/main" id="{A84802CB-C4C8-4BEF-8392-6B1CEB93E3DA}"/>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Scored modeling sample</a:t>
            </a:r>
          </a:p>
        </p:txBody>
      </p:sp>
      <p:sp>
        <p:nvSpPr>
          <p:cNvPr id="9" name="">
            <a:extLst xmlns:a="http://schemas.openxmlformats.org/drawingml/2006/main">
              <a:ext uri="{FF2B5EF4-FFF2-40B4-BE49-F238E27FC236}">
                <a16:creationId xmlns:a16="http://schemas.microsoft.com/office/drawing/2014/main" id="{5242900E-DEF9-439D-8D76-85639F938FDA}"/>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20,000</a:t>
            </a:r>
          </a:p>
        </p:txBody>
      </p:sp>
      <p:sp>
        <p:nvSpPr>
          <p:cNvPr id="10" name="">
            <a:extLst xmlns:a="http://schemas.openxmlformats.org/drawingml/2006/main">
              <a:ext uri="{FF2B5EF4-FFF2-40B4-BE49-F238E27FC236}">
                <a16:creationId xmlns:a16="http://schemas.microsoft.com/office/drawing/2014/main" id="{4A7CFCDB-50E5-408C-847F-370A3780F522}"/>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Beijing concentrations are measured. The atmospheric THz spectra generated from them are simulated; later work reused the known test period.</a:t>
            </a:r>
          </a:p>
        </p:txBody>
      </p:sp>
      <p:sp>
        <p:nvSpPr>
          <p:cNvPr id="11" name="">
            <a:extLst xmlns:a="http://schemas.openxmlformats.org/drawingml/2006/main">
              <a:ext uri="{FF2B5EF4-FFF2-40B4-BE49-F238E27FC236}">
                <a16:creationId xmlns:a16="http://schemas.microsoft.com/office/drawing/2014/main" id="{34F4B0B1-8C27-457C-B4AD-F8E93C92704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43</a:t>
            </a:r>
          </a:p>
        </p:txBody>
      </p:sp>
    </p:spTree>
    <p:extLst>
      <p:ext uri="{BB962C8B-B14F-4D97-AF65-F5344CB8AC3E}">
        <p14:creationId xmlns:p14="http://schemas.microsoft.com/office/powerpoint/2010/main" val="6045538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0BE6517-FC58-4A4A-8518-331966D577B0}"/>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Datasets · Other historical controls and unused sources</a:t>
            </a:r>
          </a:p>
        </p:txBody>
      </p:sp>
      <p:sp>
        <p:nvSpPr>
          <p:cNvPr id="2" name="">
            <a:extLst xmlns:a="http://schemas.openxmlformats.org/drawingml/2006/main">
              <a:ext uri="{FF2B5EF4-FFF2-40B4-BE49-F238E27FC236}">
                <a16:creationId xmlns:a16="http://schemas.microsoft.com/office/drawing/2014/main" id="{6EED4DB7-FC44-42F8-963B-B25F1C9B13DC}"/>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These sources support separate controls and historical studies, not a measured atmospheric VOC/PM receiver demonstration.</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3476625"/>
                <a:gridCol w="5191125"/>
                <a:gridCol w="5200650"/>
              </a:tblGrid>
              <a:tr h="868680">
                <a:tc>
                  <a:txBody>
                    <a:bodyPr/>
                    <a:lstStyle/>
                    <a:p>
                      <a:r>
                        <a:rPr sz="1800" b="1">
                          <a:solidFill>
                            <a:srgbClr val="FFFFFF"/>
                          </a:solidFill>
                          <a:latin typeface="Arial"/>
                          <a:ea typeface="Arial"/>
                          <a:cs typeface="Arial"/>
                        </a:rPr>
                        <a:t>Source / branch</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Part actually used</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Role and evidence boundary</a:t>
                      </a:r>
                    </a:p>
                  </a:txBody>
                  <a:tcPr marL="114300" marR="114300" marT="57150" marB="57150" anchor="ctr">
                    <a:solidFill>
                      <a:srgbClr val="153246"/>
                    </a:solidFill>
                  </a:tcPr>
                </a:tc>
              </a:tr>
              <a:tr h="868680">
                <a:tc>
                  <a:txBody>
                    <a:bodyPr/>
                    <a:lstStyle/>
                    <a:p>
                      <a:r>
                        <a:rPr sz="1800" b="0">
                          <a:solidFill>
                            <a:srgbClr val="153246"/>
                          </a:solidFill>
                          <a:latin typeface="Arial"/>
                          <a:ea typeface="Arial"/>
                          <a:cs typeface="Arial"/>
                        </a:rPr>
                        <a:t>ESA CCI CO and NO₂ columns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March–December 2013, ten paired monthly rows. Grid centre 39.5° N, 116.5° 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IASI/MOPITT CO total columns and OMI NO₂ tropospheric columns. Retrievals used for modeled feasibility.</a:t>
                      </a:r>
                    </a:p>
                  </a:txBody>
                  <a:tcPr marL="114300" marR="114300" marT="57150" marB="57150" anchor="ctr">
                    <a:solidFill>
                      <a:srgbClr val="F0F5F7"/>
                    </a:solidFill>
                  </a:tcPr>
                </a:tc>
              </a:tr>
              <a:tr h="868680">
                <a:tc>
                  <a:txBody>
                    <a:bodyPr/>
                    <a:lstStyle/>
                    <a:p>
                      <a:r>
                        <a:rPr sz="1800" b="0">
                          <a:solidFill>
                            <a:srgbClr val="153246"/>
                          </a:solidFill>
                          <a:latin typeface="Arial"/>
                          <a:ea typeface="Arial"/>
                          <a:cs typeface="Arial"/>
                        </a:rPr>
                        <a:t>Mendeley protein THz-TDS</a:t>
                      </a:r>
                    </a:p>
                    <a:p>
                      <a:r>
                        <a:rPr sz="1800" b="0">
                          <a:solidFill>
                            <a:srgbClr val="153246"/>
                          </a:solidFill>
                          <a:latin typeface="Arial"/>
                          <a:ea typeface="Arial"/>
                          <a:cs typeface="Arial"/>
                        </a:rPr>
                        <a:t>DOI 10.17632/dpw4svmdr8.1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Fig3.csv: 7 lysozyme levels. Fig4.csv: 6 ovalbumin levels. Five bins from 0.9 to 1.3 THz.</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Laboratory concentration control. Means and SDs only, with one concentration level held out at a time.</a:t>
                      </a:r>
                    </a:p>
                  </a:txBody>
                  <a:tcPr marL="114300" marR="114300" marT="57150" marB="57150" anchor="ctr">
                    <a:solidFill>
                      <a:srgbClr val="FFFFFF"/>
                    </a:solidFill>
                  </a:tcPr>
                </a:tc>
              </a:tr>
              <a:tr h="868680">
                <a:tc>
                  <a:txBody>
                    <a:bodyPr/>
                    <a:lstStyle/>
                    <a:p>
                      <a:r>
                        <a:rPr sz="1800" b="0">
                          <a:solidFill>
                            <a:srgbClr val="153246"/>
                          </a:solidFill>
                          <a:latin typeface="Arial"/>
                          <a:ea typeface="Arial"/>
                          <a:cs typeface="Arial"/>
                        </a:rPr>
                        <a:t>UCI Air Quality, Italy</a:t>
                      </a:r>
                    </a:p>
                    <a:p>
                      <a:r>
                        <a:rPr sz="1800" b="0">
                          <a:solidFill>
                            <a:srgbClr val="153246"/>
                          </a:solidFill>
                          <a:latin typeface="Arial"/>
                          <a:ea typeface="Arial"/>
                          <a:cs typeface="Arial"/>
                        </a:rPr>
                        <a:t>DOI 10.24432/C59K5F</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6,941 complete rows after removing −200 missing values. Split 4,164 / 1,388 / 1,389.</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Four analyzer targets, five metal oxide sensors and weather. Earlier field calibration task, not THz.</a:t>
                      </a:r>
                    </a:p>
                  </a:txBody>
                  <a:tcPr marL="114300" marR="114300" marT="57150" marB="57150" anchor="ctr">
                    <a:solidFill>
                      <a:srgbClr val="F0F5F7"/>
                    </a:solidFill>
                  </a:tcPr>
                </a:tc>
              </a:tr>
              <a:tr h="868680">
                <a:tc>
                  <a:txBody>
                    <a:bodyPr/>
                    <a:lstStyle/>
                    <a:p>
                      <a:r>
                        <a:rPr sz="1800" b="0">
                          <a:solidFill>
                            <a:srgbClr val="153246"/>
                          </a:solidFill>
                          <a:latin typeface="Arial"/>
                          <a:ea typeface="Arial"/>
                          <a:cs typeface="Arial"/>
                        </a:rPr>
                        <a:t>NASA Aura MLS</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Metadata resolved; no granules acquired or scored.</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Investigated option only. It must not be counted as an evaluated measurement dataset.</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A7D0CB1-CD80-453B-AFD4-8221871BAD06}"/>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ESA extract</a:t>
            </a:r>
          </a:p>
        </p:txBody>
      </p:sp>
      <p:sp>
        <p:nvSpPr>
          <p:cNvPr id="5" name="">
            <a:extLst xmlns:a="http://schemas.openxmlformats.org/drawingml/2006/main">
              <a:ext uri="{FF2B5EF4-FFF2-40B4-BE49-F238E27FC236}">
                <a16:creationId xmlns:a16="http://schemas.microsoft.com/office/drawing/2014/main" id="{A62AB6F4-0436-4206-B6A8-3E79977E2EB8}"/>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 months / 20 files</a:t>
            </a:r>
          </a:p>
        </p:txBody>
      </p:sp>
      <p:sp>
        <p:nvSpPr>
          <p:cNvPr id="6" name="">
            <a:extLst xmlns:a="http://schemas.openxmlformats.org/drawingml/2006/main">
              <a:ext uri="{FF2B5EF4-FFF2-40B4-BE49-F238E27FC236}">
                <a16:creationId xmlns:a16="http://schemas.microsoft.com/office/drawing/2014/main" id="{1EE29850-6334-4690-88B8-1B9CAAA28FBF}"/>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Protein files scored</a:t>
            </a:r>
          </a:p>
        </p:txBody>
      </p:sp>
      <p:sp>
        <p:nvSpPr>
          <p:cNvPr id="7" name="">
            <a:extLst xmlns:a="http://schemas.openxmlformats.org/drawingml/2006/main">
              <a:ext uri="{FF2B5EF4-FFF2-40B4-BE49-F238E27FC236}">
                <a16:creationId xmlns:a16="http://schemas.microsoft.com/office/drawing/2014/main" id="{04071E90-EE70-4EB5-AAE3-3B67E63660E8}"/>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 of 10 downloaded</a:t>
            </a:r>
          </a:p>
        </p:txBody>
      </p:sp>
      <p:sp>
        <p:nvSpPr>
          <p:cNvPr id="8" name="">
            <a:extLst xmlns:a="http://schemas.openxmlformats.org/drawingml/2006/main">
              <a:ext uri="{FF2B5EF4-FFF2-40B4-BE49-F238E27FC236}">
                <a16:creationId xmlns:a16="http://schemas.microsoft.com/office/drawing/2014/main" id="{E8ACC0B1-12D9-4C4A-88C6-26DAD738BBAC}"/>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paired radio / truth set</a:t>
            </a:r>
          </a:p>
        </p:txBody>
      </p:sp>
      <p:sp>
        <p:nvSpPr>
          <p:cNvPr id="9" name="">
            <a:extLst xmlns:a="http://schemas.openxmlformats.org/drawingml/2006/main">
              <a:ext uri="{FF2B5EF4-FFF2-40B4-BE49-F238E27FC236}">
                <a16:creationId xmlns:a16="http://schemas.microsoft.com/office/drawing/2014/main" id="{BF3F9ED5-0867-40D1-90A9-69F813A5DD6B}"/>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None</a:t>
            </a:r>
          </a:p>
        </p:txBody>
      </p:sp>
      <p:sp>
        <p:nvSpPr>
          <p:cNvPr id="10" name="">
            <a:extLst xmlns:a="http://schemas.openxmlformats.org/drawingml/2006/main">
              <a:ext uri="{FF2B5EF4-FFF2-40B4-BE49-F238E27FC236}">
                <a16:creationId xmlns:a16="http://schemas.microsoft.com/office/drawing/2014/main" id="{9C2E1190-1BAF-4B78-80CB-B9FEBE0461EB}"/>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Italian branch has a weaker reproduction record. WHO and ITU documents supply benchmarks or models, rather than observation datasets.</a:t>
            </a:r>
          </a:p>
        </p:txBody>
      </p:sp>
      <p:sp>
        <p:nvSpPr>
          <p:cNvPr id="11" name="">
            <a:extLst xmlns:a="http://schemas.openxmlformats.org/drawingml/2006/main">
              <a:ext uri="{FF2B5EF4-FFF2-40B4-BE49-F238E27FC236}">
                <a16:creationId xmlns:a16="http://schemas.microsoft.com/office/drawing/2014/main" id="{18616EDA-AB27-4224-8463-43F9228FDD3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44</a:t>
            </a:r>
          </a:p>
        </p:txBody>
      </p:sp>
    </p:spTree>
    <p:extLst>
      <p:ext uri="{BB962C8B-B14F-4D97-AF65-F5344CB8AC3E}">
        <p14:creationId xmlns:p14="http://schemas.microsoft.com/office/powerpoint/2010/main" val="19637728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2026-09-27T16:49:42.2970000Z</dcterms:created>
  <dcterms:modified xsi:type="dcterms:W3CDTF">2026-09-27T16:49:42.2970000Z</dcterms:modified>
</coreProperties>
</file>